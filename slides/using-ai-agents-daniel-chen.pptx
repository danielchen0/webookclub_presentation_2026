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81e527d8f542cd" /><Relationship Type="http://schemas.openxmlformats.org/officeDocument/2006/relationships/extended-properties" Target="/docProps/app.xml" Id="R0a285d544e084150" /><Relationship Type="http://schemas.openxmlformats.org/officeDocument/2006/relationships/officeDocument" Target="/ppt/presentation.xml" Id="Rf422e454b74c42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a514f7d2924192"/>
  </p:sldMasterIdLst>
  <p:notesMasterIdLst>
    <p:notesMasterId xmlns:r="http://schemas.openxmlformats.org/officeDocument/2006/relationships" r:id="R599ba7d3930d4f0b"/>
  </p:notesMasterIdLst>
  <p:sldIdLst>
    <p:sldId xmlns:r="http://schemas.openxmlformats.org/officeDocument/2006/relationships" id="256" r:id="Rb2bcb81548464c3a"/>
    <p:sldId xmlns:r="http://schemas.openxmlformats.org/officeDocument/2006/relationships" id="257" r:id="R8f9bb2796559453b"/>
    <p:sldId xmlns:r="http://schemas.openxmlformats.org/officeDocument/2006/relationships" id="258" r:id="R73ef5c21f2864478"/>
    <p:sldId xmlns:r="http://schemas.openxmlformats.org/officeDocument/2006/relationships" id="259" r:id="R306a97e79b0a4a1b"/>
    <p:sldId xmlns:r="http://schemas.openxmlformats.org/officeDocument/2006/relationships" id="260" r:id="R85cd7671c3944d84"/>
    <p:sldId xmlns:r="http://schemas.openxmlformats.org/officeDocument/2006/relationships" id="261" r:id="R4d23db1f3b134fa4"/>
    <p:sldId xmlns:r="http://schemas.openxmlformats.org/officeDocument/2006/relationships" id="262" r:id="Rdcaadd3b2eed45f3"/>
    <p:sldId xmlns:r="http://schemas.openxmlformats.org/officeDocument/2006/relationships" id="263" r:id="Rf090621e681e405b"/>
    <p:sldId xmlns:r="http://schemas.openxmlformats.org/officeDocument/2006/relationships" id="264" r:id="Rd4f5183f78394db4"/>
    <p:sldId xmlns:r="http://schemas.openxmlformats.org/officeDocument/2006/relationships" id="265" r:id="Rd356318262f14b00"/>
    <p:sldId xmlns:r="http://schemas.openxmlformats.org/officeDocument/2006/relationships" id="266" r:id="R96f8720aa5a54cc5"/>
    <p:sldId xmlns:r="http://schemas.openxmlformats.org/officeDocument/2006/relationships" id="267" r:id="Ra193fabb114f4f6a"/>
    <p:sldId xmlns:r="http://schemas.openxmlformats.org/officeDocument/2006/relationships" id="268" r:id="R997f1901979f447e"/>
    <p:sldId xmlns:r="http://schemas.openxmlformats.org/officeDocument/2006/relationships" id="269" r:id="R204b84dc07c14ab4"/>
    <p:sldId xmlns:r="http://schemas.openxmlformats.org/officeDocument/2006/relationships" id="270" r:id="R609b074f55864825"/>
    <p:sldId xmlns:r="http://schemas.openxmlformats.org/officeDocument/2006/relationships" id="271" r:id="Rdc9a98daebbd4eb8"/>
    <p:sldId xmlns:r="http://schemas.openxmlformats.org/officeDocument/2006/relationships" id="272" r:id="Ra8779e3474f44329"/>
    <p:sldId xmlns:r="http://schemas.openxmlformats.org/officeDocument/2006/relationships" id="273" r:id="R8eb9367b81b84aba"/>
    <p:sldId xmlns:r="http://schemas.openxmlformats.org/officeDocument/2006/relationships" id="274" r:id="Rfa34e9c666784eb3"/>
    <p:sldId xmlns:r="http://schemas.openxmlformats.org/officeDocument/2006/relationships" id="275" r:id="Re3c9947e69e94abb"/>
    <p:sldId xmlns:r="http://schemas.openxmlformats.org/officeDocument/2006/relationships" id="276" r:id="Ra55d3b0428244dae"/>
    <p:sldId xmlns:r="http://schemas.openxmlformats.org/officeDocument/2006/relationships" id="277" r:id="R1d8a9e7bbdb34897"/>
    <p:sldId xmlns:r="http://schemas.openxmlformats.org/officeDocument/2006/relationships" id="278" r:id="R7b2cdcec6f814e0f"/>
    <p:sldId xmlns:r="http://schemas.openxmlformats.org/officeDocument/2006/relationships" id="279" r:id="Re79b944299f24c60"/>
    <p:sldId xmlns:r="http://schemas.openxmlformats.org/officeDocument/2006/relationships" id="280" r:id="R90b3dd22f4db43fd"/>
    <p:sldId xmlns:r="http://schemas.openxmlformats.org/officeDocument/2006/relationships" id="281" r:id="Rbead74c8d7ca4425"/>
    <p:sldId xmlns:r="http://schemas.openxmlformats.org/officeDocument/2006/relationships" id="282" r:id="Rea59da35b0ee42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947087530344e4" /><Relationship Type="http://schemas.openxmlformats.org/officeDocument/2006/relationships/slideMaster" Target="/ppt/slideMasters/slideMaster1.xml" Id="R8ba514f7d2924192" /><Relationship Type="http://schemas.openxmlformats.org/officeDocument/2006/relationships/notesMaster" Target="/ppt/notesMasters/notesMaster1.xml" Id="R599ba7d3930d4f0b" /><Relationship Type="http://schemas.openxmlformats.org/officeDocument/2006/relationships/presProps" Target="/ppt/presProps.xml" Id="R2cad95f63b954512" /><Relationship Type="http://schemas.openxmlformats.org/officeDocument/2006/relationships/tableStyles" Target="/ppt/tableStyles.xml" Id="R2692a53aedf5432a" /><Relationship Type="http://schemas.openxmlformats.org/officeDocument/2006/relationships/slide" Target="/ppt/slides/slide1.xml" Id="Rb2bcb81548464c3a" /><Relationship Type="http://schemas.openxmlformats.org/officeDocument/2006/relationships/slide" Target="/ppt/slides/slide2.xml" Id="R8f9bb2796559453b" /><Relationship Type="http://schemas.openxmlformats.org/officeDocument/2006/relationships/slide" Target="/ppt/slides/slide3.xml" Id="R73ef5c21f2864478" /><Relationship Type="http://schemas.openxmlformats.org/officeDocument/2006/relationships/slide" Target="/ppt/slides/slide4.xml" Id="R306a97e79b0a4a1b" /><Relationship Type="http://schemas.openxmlformats.org/officeDocument/2006/relationships/slide" Target="/ppt/slides/slide5.xml" Id="R85cd7671c3944d84" /><Relationship Type="http://schemas.openxmlformats.org/officeDocument/2006/relationships/slide" Target="/ppt/slides/slide6.xml" Id="R4d23db1f3b134fa4" /><Relationship Type="http://schemas.openxmlformats.org/officeDocument/2006/relationships/slide" Target="/ppt/slides/slide7.xml" Id="Rdcaadd3b2eed45f3" /><Relationship Type="http://schemas.openxmlformats.org/officeDocument/2006/relationships/slide" Target="/ppt/slides/slide8.xml" Id="Rf090621e681e405b" /><Relationship Type="http://schemas.openxmlformats.org/officeDocument/2006/relationships/slide" Target="/ppt/slides/slide9.xml" Id="Rd4f5183f78394db4" /><Relationship Type="http://schemas.openxmlformats.org/officeDocument/2006/relationships/slide" Target="/ppt/slides/slide10.xml" Id="Rd356318262f14b00" /><Relationship Type="http://schemas.openxmlformats.org/officeDocument/2006/relationships/slide" Target="/ppt/slides/slide11.xml" Id="R96f8720aa5a54cc5" /><Relationship Type="http://schemas.openxmlformats.org/officeDocument/2006/relationships/slide" Target="/ppt/slides/slide12.xml" Id="Ra193fabb114f4f6a" /><Relationship Type="http://schemas.openxmlformats.org/officeDocument/2006/relationships/slide" Target="/ppt/slides/slide13.xml" Id="R997f1901979f447e" /><Relationship Type="http://schemas.openxmlformats.org/officeDocument/2006/relationships/slide" Target="/ppt/slides/slide14.xml" Id="R204b84dc07c14ab4" /><Relationship Type="http://schemas.openxmlformats.org/officeDocument/2006/relationships/slide" Target="/ppt/slides/slide15.xml" Id="R609b074f55864825" /><Relationship Type="http://schemas.openxmlformats.org/officeDocument/2006/relationships/slide" Target="/ppt/slides/slide16.xml" Id="Rdc9a98daebbd4eb8" /><Relationship Type="http://schemas.openxmlformats.org/officeDocument/2006/relationships/slide" Target="/ppt/slides/slide17.xml" Id="Ra8779e3474f44329" /><Relationship Type="http://schemas.openxmlformats.org/officeDocument/2006/relationships/slide" Target="/ppt/slides/slide18.xml" Id="R8eb9367b81b84aba" /><Relationship Type="http://schemas.openxmlformats.org/officeDocument/2006/relationships/slide" Target="/ppt/slides/slide19.xml" Id="Rfa34e9c666784eb3" /><Relationship Type="http://schemas.openxmlformats.org/officeDocument/2006/relationships/slide" Target="/ppt/slides/slide20.xml" Id="Re3c9947e69e94abb" /><Relationship Type="http://schemas.openxmlformats.org/officeDocument/2006/relationships/slide" Target="/ppt/slides/slide21.xml" Id="Ra55d3b0428244dae" /><Relationship Type="http://schemas.openxmlformats.org/officeDocument/2006/relationships/slide" Target="/ppt/slides/slide22.xml" Id="R1d8a9e7bbdb34897" /><Relationship Type="http://schemas.openxmlformats.org/officeDocument/2006/relationships/slide" Target="/ppt/slides/slide23.xml" Id="R7b2cdcec6f814e0f" /><Relationship Type="http://schemas.openxmlformats.org/officeDocument/2006/relationships/slide" Target="/ppt/slides/slide24.xml" Id="Re79b944299f24c60" /><Relationship Type="http://schemas.openxmlformats.org/officeDocument/2006/relationships/slide" Target="/ppt/slides/slide25.xml" Id="R90b3dd22f4db43fd" /><Relationship Type="http://schemas.openxmlformats.org/officeDocument/2006/relationships/slide" Target="/ppt/slides/slide26.xml" Id="Rbead74c8d7ca4425" /><Relationship Type="http://schemas.openxmlformats.org/officeDocument/2006/relationships/slide" Target="/ppt/slides/slide27.xml" Id="Rea59da35b0ee42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f11ce42de14e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1e070e2994b1e" /><Relationship Type="http://schemas.openxmlformats.org/officeDocument/2006/relationships/notesMaster" Target="/ppt/notesMasters/notesMaster1.xml" Id="R18b5db6db4a94f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e53d7e2dce4fb5" /><Relationship Type="http://schemas.openxmlformats.org/officeDocument/2006/relationships/notesMaster" Target="/ppt/notesMasters/notesMaster1.xml" Id="Rffad44bbdab843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90321681b8421e" /><Relationship Type="http://schemas.openxmlformats.org/officeDocument/2006/relationships/notesMaster" Target="/ppt/notesMasters/notesMaster1.xml" Id="R61fd21f0b0b74a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918a17fd22470e" /><Relationship Type="http://schemas.openxmlformats.org/officeDocument/2006/relationships/notesMaster" Target="/ppt/notesMasters/notesMaster1.xml" Id="R5c7cfb038e734a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c9eb3f8d3541af" /><Relationship Type="http://schemas.openxmlformats.org/officeDocument/2006/relationships/notesMaster" Target="/ppt/notesMasters/notesMaster1.xml" Id="Rb7243e0638b644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f09945ca144745" /><Relationship Type="http://schemas.openxmlformats.org/officeDocument/2006/relationships/notesMaster" Target="/ppt/notesMasters/notesMaster1.xml" Id="R8ee1b4e5ee5342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366bf7b77d4282" /><Relationship Type="http://schemas.openxmlformats.org/officeDocument/2006/relationships/notesMaster" Target="/ppt/notesMasters/notesMaster1.xml" Id="R670ae671003840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f1dda3eb7f419e" /><Relationship Type="http://schemas.openxmlformats.org/officeDocument/2006/relationships/notesMaster" Target="/ppt/notesMasters/notesMaster1.xml" Id="R20f1ba56a80e4d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a7bee0be794c8e" /><Relationship Type="http://schemas.openxmlformats.org/officeDocument/2006/relationships/notesMaster" Target="/ppt/notesMasters/notesMaster1.xml" Id="Rb512ea6cd64f43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e4444ec5b64b19" /><Relationship Type="http://schemas.openxmlformats.org/officeDocument/2006/relationships/notesMaster" Target="/ppt/notesMasters/notesMaster1.xml" Id="R8ced8e3f4f9d4a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bbbc6075884095" /><Relationship Type="http://schemas.openxmlformats.org/officeDocument/2006/relationships/notesMaster" Target="/ppt/notesMasters/notesMaster1.xml" Id="Ra81d50608dff4c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d8319b52124ff5" /><Relationship Type="http://schemas.openxmlformats.org/officeDocument/2006/relationships/notesMaster" Target="/ppt/notesMasters/notesMaster1.xml" Id="R89d8e504db7e43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5aa6b04d3d4f0b" /><Relationship Type="http://schemas.openxmlformats.org/officeDocument/2006/relationships/notesMaster" Target="/ppt/notesMasters/notesMaster1.xml" Id="R13fe074edc044c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985f4a52de4d05" /><Relationship Type="http://schemas.openxmlformats.org/officeDocument/2006/relationships/notesMaster" Target="/ppt/notesMasters/notesMaster1.xml" Id="R935f554da6fe48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c85d15faa541f9" /><Relationship Type="http://schemas.openxmlformats.org/officeDocument/2006/relationships/notesMaster" Target="/ppt/notesMasters/notesMaster1.xml" Id="Rc40cd59d5e5942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f011a053a5437e" /><Relationship Type="http://schemas.openxmlformats.org/officeDocument/2006/relationships/notesMaster" Target="/ppt/notesMasters/notesMaster1.xml" Id="R0a3612904fd940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4f27f18db94e3c" /><Relationship Type="http://schemas.openxmlformats.org/officeDocument/2006/relationships/notesMaster" Target="/ppt/notesMasters/notesMaster1.xml" Id="R25e5f869412349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45d1a81b3842b6" /><Relationship Type="http://schemas.openxmlformats.org/officeDocument/2006/relationships/notesMaster" Target="/ppt/notesMasters/notesMaster1.xml" Id="R39d7b089b2fc4d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67cd692e8904c48" /><Relationship Type="http://schemas.openxmlformats.org/officeDocument/2006/relationships/notesMaster" Target="/ppt/notesMasters/notesMaster1.xml" Id="R8e23dce8b3d740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a0f044e3df491f" /><Relationship Type="http://schemas.openxmlformats.org/officeDocument/2006/relationships/notesMaster" Target="/ppt/notesMasters/notesMaster1.xml" Id="R2c31038f25f44da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fb4eb9b9ebd4d79" /><Relationship Type="http://schemas.openxmlformats.org/officeDocument/2006/relationships/notesMaster" Target="/ppt/notesMasters/notesMaster1.xml" Id="Ra23593fd1d7f48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dd60ee1912a4991" /><Relationship Type="http://schemas.openxmlformats.org/officeDocument/2006/relationships/notesMaster" Target="/ppt/notesMasters/notesMaster1.xml" Id="Ra9dcd9a30fc04c6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a54d6a95e9a4b17" /><Relationship Type="http://schemas.openxmlformats.org/officeDocument/2006/relationships/notesMaster" Target="/ppt/notesMasters/notesMaster1.xml" Id="Re199bdc2e6cd4fa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5f81dd8351a4c3c" /><Relationship Type="http://schemas.openxmlformats.org/officeDocument/2006/relationships/notesMaster" Target="/ppt/notesMasters/notesMaster1.xml" Id="R50f46347fc7d424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a64d1d295b54da8" /><Relationship Type="http://schemas.openxmlformats.org/officeDocument/2006/relationships/notesMaster" Target="/ppt/notesMasters/notesMaster1.xml" Id="R86170623085c4ad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a9616e47f8a4da0" /><Relationship Type="http://schemas.openxmlformats.org/officeDocument/2006/relationships/notesMaster" Target="/ppt/notesMasters/notesMaster1.xml" Id="R81db9c57238144f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59dd9130f7e44c2" /><Relationship Type="http://schemas.openxmlformats.org/officeDocument/2006/relationships/notesMaster" Target="/ppt/notesMasters/notesMaster1.xml" Id="R391b634482e640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369a1082d405d" /></Relationships>
</file>

<file path=ppt/slideLayouts/slideLayout1.xml><?xml version="1.0" encoding="utf-8"?>
<p:sldLayout xmlns:p="http://schemas.openxmlformats.org/presentationml/2006/main" showMasterSp="1" showMasterPhAnim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A45DBAF-C5B1-4043-B780-5EE1F42665A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c56e47e37e4604" /><Relationship Type="http://schemas.openxmlformats.org/officeDocument/2006/relationships/slideLayout" Target="/ppt/slideLayouts/slideLayout1.xml" Id="Re0d6440b3fea488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9954FAA0-8F8E-45F4-80AA-6F4D64409A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2074"/>
            <a:ext cx="10972800" cy="150812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272F7BEF-B454-4D2B-9314-3B8704D67B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0"/>
            <a:ext cx="10972800" cy="5257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  <a:r>
              <a:t>Body Level One</a:t>
            </a:r>
          </a:p>
          <a:p xmlns:a="http://schemas.openxmlformats.org/drawingml/2006/main">
            <a:pPr>
              <a:buNone/>
            </a:pPr>
            <a:r>
              <a:t>Body Level Two</a:t>
            </a:r>
          </a:p>
          <a:p xmlns:a="http://schemas.openxmlformats.org/drawingml/2006/main">
            <a:pPr>
              <a:buNone/>
            </a:pPr>
            <a:r>
              <a:t>Body Level Three</a:t>
            </a:r>
          </a:p>
          <a:p xmlns:a="http://schemas.openxmlformats.org/drawingml/2006/main">
            <a:pPr>
              <a:buNone/>
            </a:pPr>
            <a:r>
              <a:t>Body Level Four</a:t>
            </a:r>
          </a:p>
          <a:p xmlns:a="http://schemas.openxmlformats.org/drawingml/2006/main">
            <a:pPr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ECF1DEE-93F9-4E08-9209-A7C45DFFF11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463950" y="6221731"/>
            <a:ext cx="273652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8" tIns="45718" rIns="45718" bIns="45718" anchor="ctr">
            <a:spAutoFit/>
          </a:bodyPr>
          <a:lstStyle xmlns:a="http://schemas.openxmlformats.org/drawingml/2006/main">
            <a:lvl1pPr algn="r">
              <a:buNone/>
              <a:defRPr sz="1200"/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d6440b3fea4886"/>
  </p:sldLayoutIdLst>
  <p:txStyles>
    <p:titleStyle>
      <a:lvl1pPr xmlns:a="http://schemas.openxmlformats.org/drawingml/2006/main"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723900" indent="-2667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1234438" indent="-320038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17272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1844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416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0988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560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132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indent="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indent="4572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indent="9144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indent="13716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indent="18288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22860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27432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32004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36576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2e3b30b7f45a6" /><Relationship Type="http://schemas.openxmlformats.org/officeDocument/2006/relationships/image" Target="/ppt/media/image.png" Id="R1b80dea9b0c443c2" /><Relationship Type="http://schemas.openxmlformats.org/officeDocument/2006/relationships/notesSlide" Target="/ppt/notesSlides/notesSlide1.xml" Id="R4694c6d96a9543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9c1e3255842e4" /><Relationship Type="http://schemas.openxmlformats.org/officeDocument/2006/relationships/image" Target="/ppt/media/image2.png" Id="R15c389f56b974a58" /><Relationship Type="http://schemas.openxmlformats.org/officeDocument/2006/relationships/notesSlide" Target="/ppt/notesSlides/notesSlide2.xml" Id="R86b1b950b6ad40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694b5b3034d2e" /><Relationship Type="http://schemas.openxmlformats.org/officeDocument/2006/relationships/notesSlide" Target="/ppt/notesSlides/notesSlide3.xml" Id="R03e005ccbfef4b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2e4dd26cf47b4" /><Relationship Type="http://schemas.openxmlformats.org/officeDocument/2006/relationships/image" Target="/ppt/media/image3.png" Id="R8a5dc514257e4dde" /><Relationship Type="http://schemas.openxmlformats.org/officeDocument/2006/relationships/image" Target="/ppt/media/image4.png" Id="R21e484f70e8d4443" /><Relationship Type="http://schemas.openxmlformats.org/officeDocument/2006/relationships/image" Target="/ppt/media/image5.png" Id="R842a0b74135a4519" /><Relationship Type="http://schemas.openxmlformats.org/officeDocument/2006/relationships/notesSlide" Target="/ppt/notesSlides/notesSlide4.xml" Id="Race8e9a2a0af45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8372c328140b6" /><Relationship Type="http://schemas.openxmlformats.org/officeDocument/2006/relationships/image" Target="/ppt/media/image6.png" Id="R29038eaefbdb494f" /><Relationship Type="http://schemas.openxmlformats.org/officeDocument/2006/relationships/notesSlide" Target="/ppt/notesSlides/notesSlide5.xml" Id="R8e4b4959458b43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50cda5b904460" /><Relationship Type="http://schemas.openxmlformats.org/officeDocument/2006/relationships/image" Target="/ppt/media/image7.png" Id="R7d3d7fdc77134d6d" /><Relationship Type="http://schemas.openxmlformats.org/officeDocument/2006/relationships/image" Target="/ppt/media/image8.png" Id="Rd2e644293c1f4274" /><Relationship Type="http://schemas.openxmlformats.org/officeDocument/2006/relationships/image" Target="/ppt/media/image9.png" Id="Rf00a91e6886e4aef" /><Relationship Type="http://schemas.openxmlformats.org/officeDocument/2006/relationships/notesSlide" Target="/ppt/notesSlides/notesSlide6.xml" Id="Rf5993ee75b6649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42ac76f9846f3" /><Relationship Type="http://schemas.openxmlformats.org/officeDocument/2006/relationships/image" Target="/ppt/media/image10.png" Id="Ra4d5dec456434d41" /><Relationship Type="http://schemas.openxmlformats.org/officeDocument/2006/relationships/image" Target="/ppt/media/image11.png" Id="Rfc6c27d4d58b4e02" /><Relationship Type="http://schemas.openxmlformats.org/officeDocument/2006/relationships/notesSlide" Target="/ppt/notesSlides/notesSlide7.xml" Id="R131028ed399245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98365f1444fb2" /><Relationship Type="http://schemas.openxmlformats.org/officeDocument/2006/relationships/image" Target="/ppt/media/image12.png" Id="R094a8e4bebc3481c" /><Relationship Type="http://schemas.openxmlformats.org/officeDocument/2006/relationships/image" Target="/ppt/media/image13.png" Id="R2afc0be6f9ee4a8a" /><Relationship Type="http://schemas.openxmlformats.org/officeDocument/2006/relationships/notesSlide" Target="/ppt/notesSlides/notesSlide8.xml" Id="Re7fb82ea810243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c20fbfc474c68" /><Relationship Type="http://schemas.openxmlformats.org/officeDocument/2006/relationships/image" Target="/ppt/media/image.jpeg" Id="Rc0420bc9f3994681" /><Relationship Type="http://schemas.openxmlformats.org/officeDocument/2006/relationships/image" Target="/ppt/media/image2.jpeg" Id="R9f5e16f36ce34bbc" /><Relationship Type="http://schemas.openxmlformats.org/officeDocument/2006/relationships/image" Target="/ppt/media/image3.jpeg" Id="Rc0f935295d6c42e3" /><Relationship Type="http://schemas.openxmlformats.org/officeDocument/2006/relationships/image" Target="/ppt/media/image4.jpeg" Id="Ra9032f74213646bc" /><Relationship Type="http://schemas.openxmlformats.org/officeDocument/2006/relationships/image" Target="/ppt/media/image5.jpeg" Id="Refbc48ff55ea439a" /><Relationship Type="http://schemas.openxmlformats.org/officeDocument/2006/relationships/image" Target="/ppt/media/image6.jpeg" Id="R90dc3d4c8b794c64" /><Relationship Type="http://schemas.openxmlformats.org/officeDocument/2006/relationships/image" Target="/ppt/media/image7.jpeg" Id="R83e8308c15124a1d" /><Relationship Type="http://schemas.openxmlformats.org/officeDocument/2006/relationships/image" Target="/ppt/media/image8.jpeg" Id="Rc837410086d74b6a" /><Relationship Type="http://schemas.openxmlformats.org/officeDocument/2006/relationships/notesSlide" Target="/ppt/notesSlides/notesSlide9.xml" Id="Rbb792ac1b4f94b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26a583aec4042" /><Relationship Type="http://schemas.openxmlformats.org/officeDocument/2006/relationships/image" Target="/ppt/media/image9.jpeg" Id="Rc5b20f2f08314a12" /><Relationship Type="http://schemas.openxmlformats.org/officeDocument/2006/relationships/image" Target="/ppt/media/image10.jpeg" Id="R724bbf5b3a194d47" /><Relationship Type="http://schemas.openxmlformats.org/officeDocument/2006/relationships/image" Target="/ppt/media/image3.jpeg" Id="R97358fd7440d42a1" /><Relationship Type="http://schemas.openxmlformats.org/officeDocument/2006/relationships/image" Target="/ppt/media/image4.jpeg" Id="Rbd606996842d4d23" /><Relationship Type="http://schemas.openxmlformats.org/officeDocument/2006/relationships/image" Target="/ppt/media/image11.jpeg" Id="R7ff42cfa29d34b3b" /><Relationship Type="http://schemas.openxmlformats.org/officeDocument/2006/relationships/image" Target="/ppt/media/image12.jpeg" Id="R12a8580478fe400f" /><Relationship Type="http://schemas.openxmlformats.org/officeDocument/2006/relationships/image" Target="/ppt/media/image13.jpeg" Id="Rc13cad18faa84d1d" /><Relationship Type="http://schemas.openxmlformats.org/officeDocument/2006/relationships/image" Target="/ppt/media/image14.jpeg" Id="Rff1a51ca3b974c13" /><Relationship Type="http://schemas.openxmlformats.org/officeDocument/2006/relationships/notesSlide" Target="/ppt/notesSlides/notesSlide10.xml" Id="R499d452a11ca46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6dc3c470045b5" /><Relationship Type="http://schemas.openxmlformats.org/officeDocument/2006/relationships/image" Target="/ppt/media/image2.jpeg" Id="Rafcc8390db9e4657" /><Relationship Type="http://schemas.openxmlformats.org/officeDocument/2006/relationships/image" Target="/ppt/media/image15.jpeg" Id="R259cb393cbb34d5b" /><Relationship Type="http://schemas.openxmlformats.org/officeDocument/2006/relationships/image" Target="/ppt/media/image16.jpeg" Id="R4d35d4b83f704f63" /><Relationship Type="http://schemas.openxmlformats.org/officeDocument/2006/relationships/image" Target="/ppt/media/image17.jpeg" Id="R2d3e319e2e5e4d74" /><Relationship Type="http://schemas.openxmlformats.org/officeDocument/2006/relationships/image" Target="/ppt/media/image18.jpeg" Id="R9d321f4aa8f44a42" /><Relationship Type="http://schemas.openxmlformats.org/officeDocument/2006/relationships/image" Target="/ppt/media/image19.jpeg" Id="Rea34afcad1d1425e" /><Relationship Type="http://schemas.openxmlformats.org/officeDocument/2006/relationships/image" Target="/ppt/media/image20.jpeg" Id="R836fa78d459248c7" /><Relationship Type="http://schemas.openxmlformats.org/officeDocument/2006/relationships/image" Target="/ppt/media/image21.jpeg" Id="R5a26f1b3c7d5468d" /><Relationship Type="http://schemas.openxmlformats.org/officeDocument/2006/relationships/notesSlide" Target="/ppt/notesSlides/notesSlide11.xml" Id="R534db08b586847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3b6ba132a4d37" /><Relationship Type="http://schemas.openxmlformats.org/officeDocument/2006/relationships/image" Target="/ppt/media/image2.jpeg" Id="R2e5b1105dffd4a96" /><Relationship Type="http://schemas.openxmlformats.org/officeDocument/2006/relationships/image" Target="/ppt/media/image22.jpeg" Id="R4f0bc996fc2049ed" /><Relationship Type="http://schemas.openxmlformats.org/officeDocument/2006/relationships/image" Target="/ppt/media/image23.jpeg" Id="Rab4f56ea5e8f4bf4" /><Relationship Type="http://schemas.openxmlformats.org/officeDocument/2006/relationships/image" Target="/ppt/media/image4.jpeg" Id="R4b463c7010614e6c" /><Relationship Type="http://schemas.openxmlformats.org/officeDocument/2006/relationships/image" Target="/ppt/media/image17.jpeg" Id="Re9ef2013eb3b4ab3" /><Relationship Type="http://schemas.openxmlformats.org/officeDocument/2006/relationships/image" Target="/ppt/media/image3.jpeg" Id="Ra8720b1c9d0a42cc" /><Relationship Type="http://schemas.openxmlformats.org/officeDocument/2006/relationships/notesSlide" Target="/ppt/notesSlides/notesSlide12.xml" Id="Rcaa1e718ff5c4a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cd4c1dfff4a13" /><Relationship Type="http://schemas.openxmlformats.org/officeDocument/2006/relationships/image" Target="/ppt/media/image.jpeg" Id="Reac6c30a48474fc6" /><Relationship Type="http://schemas.openxmlformats.org/officeDocument/2006/relationships/image" Target="/ppt/media/image16.jpeg" Id="R407e1d4660714fc5" /><Relationship Type="http://schemas.openxmlformats.org/officeDocument/2006/relationships/image" Target="/ppt/media/image23.jpeg" Id="Rfe7122bfaa6349b1" /><Relationship Type="http://schemas.openxmlformats.org/officeDocument/2006/relationships/image" Target="/ppt/media/image17.jpeg" Id="R5665d6f20334431a" /><Relationship Type="http://schemas.openxmlformats.org/officeDocument/2006/relationships/image" Target="/ppt/media/image24.jpeg" Id="R86e629586d6b42f1" /><Relationship Type="http://schemas.openxmlformats.org/officeDocument/2006/relationships/image" Target="/ppt/media/image25.jpeg" Id="R932972495850453e" /><Relationship Type="http://schemas.openxmlformats.org/officeDocument/2006/relationships/image" Target="/ppt/media/image26.jpeg" Id="R8d034576a3454279" /><Relationship Type="http://schemas.openxmlformats.org/officeDocument/2006/relationships/image" Target="/ppt/media/image27.jpeg" Id="Rc2ad5e9d8c2f4e0b" /><Relationship Type="http://schemas.openxmlformats.org/officeDocument/2006/relationships/notesSlide" Target="/ppt/notesSlides/notesSlide13.xml" Id="Rbf3bb6396e8a4d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6430d4acd48bc" /><Relationship Type="http://schemas.openxmlformats.org/officeDocument/2006/relationships/image" Target="/ppt/media/image9.jpeg" Id="R02b0a34aa2574186" /><Relationship Type="http://schemas.openxmlformats.org/officeDocument/2006/relationships/image" Target="/ppt/media/image28.jpeg" Id="Ra435b0314a24439a" /><Relationship Type="http://schemas.openxmlformats.org/officeDocument/2006/relationships/image" Target="/ppt/media/image4.jpeg" Id="Ra42f9f55d8254f12" /><Relationship Type="http://schemas.openxmlformats.org/officeDocument/2006/relationships/image" Target="/ppt/media/image22.jpeg" Id="R516be11f446944cb" /><Relationship Type="http://schemas.openxmlformats.org/officeDocument/2006/relationships/image" Target="/ppt/media/image3.jpeg" Id="R39fb06358d9e42cf" /><Relationship Type="http://schemas.openxmlformats.org/officeDocument/2006/relationships/image" Target="/ppt/media/image.jpeg" Id="R9151c65415954090" /><Relationship Type="http://schemas.openxmlformats.org/officeDocument/2006/relationships/notesSlide" Target="/ppt/notesSlides/notesSlide14.xml" Id="R6eb84e9ac6f143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1bc4325cd46d8" /><Relationship Type="http://schemas.openxmlformats.org/officeDocument/2006/relationships/image" Target="/ppt/media/image9.jpeg" Id="R28ba007e9249400c" /><Relationship Type="http://schemas.openxmlformats.org/officeDocument/2006/relationships/image" Target="/ppt/media/image4.jpeg" Id="R32ba952228f648b4" /><Relationship Type="http://schemas.openxmlformats.org/officeDocument/2006/relationships/image" Target="/ppt/media/image28.jpeg" Id="R31245b20fbde47ac" /><Relationship Type="http://schemas.openxmlformats.org/officeDocument/2006/relationships/image" Target="/ppt/media/image3.jpeg" Id="R77d147655fcb4e0e" /><Relationship Type="http://schemas.openxmlformats.org/officeDocument/2006/relationships/image" Target="/ppt/media/image29.jpeg" Id="R38e781a5843e4a1f" /><Relationship Type="http://schemas.openxmlformats.org/officeDocument/2006/relationships/image" Target="/ppt/media/image30.jpeg" Id="Rb276769b28f24262" /><Relationship Type="http://schemas.openxmlformats.org/officeDocument/2006/relationships/image" Target="/ppt/media/image31.jpeg" Id="Re7313d914c4c4b93" /><Relationship Type="http://schemas.openxmlformats.org/officeDocument/2006/relationships/image" Target="/ppt/media/image32.jpeg" Id="R44b7e4f3b0134de1" /><Relationship Type="http://schemas.openxmlformats.org/officeDocument/2006/relationships/notesSlide" Target="/ppt/notesSlides/notesSlide15.xml" Id="R64e99a6cfd024b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9bc7d93f44ad3" /><Relationship Type="http://schemas.openxmlformats.org/officeDocument/2006/relationships/notesSlide" Target="/ppt/notesSlides/notesSlide16.xml" Id="Rcbffabdd34da43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30e1fafb34cd2" /><Relationship Type="http://schemas.openxmlformats.org/officeDocument/2006/relationships/image" Target="/ppt/media/image8.png" Id="Rdb31ef03da114948" /><Relationship Type="http://schemas.openxmlformats.org/officeDocument/2006/relationships/image" Target="/ppt/media/image14.png" Id="Rc6235a95f6a04fa4" /><Relationship Type="http://schemas.openxmlformats.org/officeDocument/2006/relationships/notesSlide" Target="/ppt/notesSlides/notesSlide17.xml" Id="Re6c63345375c45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3c4dd2fad4da7" /><Relationship Type="http://schemas.openxmlformats.org/officeDocument/2006/relationships/image" Target="/ppt/media/image15.png" Id="R5aad264fd0224284" /><Relationship Type="http://schemas.openxmlformats.org/officeDocument/2006/relationships/image" Target="/ppt/media/image.png" Id="R13089599a447455c" /><Relationship Type="http://schemas.openxmlformats.org/officeDocument/2006/relationships/notesSlide" Target="/ppt/notesSlides/notesSlide18.xml" Id="R6bb294e009a3499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49a046a2948e9" /><Relationship Type="http://schemas.openxmlformats.org/officeDocument/2006/relationships/image" Target="/ppt/media/image16.png" Id="R052495c7f331422a" /><Relationship Type="http://schemas.openxmlformats.org/officeDocument/2006/relationships/notesSlide" Target="/ppt/notesSlides/notesSlide19.xml" Id="R74bcdd4e85e1429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7d68ee1c946dc" /><Relationship Type="http://schemas.openxmlformats.org/officeDocument/2006/relationships/image" Target="/ppt/media/image.png" Id="R615b98731b6b4428" /><Relationship Type="http://schemas.openxmlformats.org/officeDocument/2006/relationships/image" Target="/ppt/media/image15.png" Id="R80418111e8654e50" /><Relationship Type="http://schemas.openxmlformats.org/officeDocument/2006/relationships/notesSlide" Target="/ppt/notesSlides/notesSlide20.xml" Id="Rf0c341a1c22543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768322134405e" /><Relationship Type="http://schemas.openxmlformats.org/officeDocument/2006/relationships/notesSlide" Target="/ppt/notesSlides/notesSlide21.xml" Id="R166442ec18cf4e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ae25db6104c14" /><Relationship Type="http://schemas.openxmlformats.org/officeDocument/2006/relationships/image" Target="/ppt/media/image17.png" Id="Rb843658edce3493c" /><Relationship Type="http://schemas.openxmlformats.org/officeDocument/2006/relationships/image" Target="/ppt/media/image18.png" Id="Rf2bb3621a525455f" /><Relationship Type="http://schemas.openxmlformats.org/officeDocument/2006/relationships/image" Target="/ppt/media/image19.png" Id="Re3076ebd7e034212" /><Relationship Type="http://schemas.openxmlformats.org/officeDocument/2006/relationships/image" Target="/ppt/media/image20.png" Id="Rec1458ff38c8450e" /><Relationship Type="http://schemas.openxmlformats.org/officeDocument/2006/relationships/notesSlide" Target="/ppt/notesSlides/notesSlide22.xml" Id="R23713bf12b584b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0261728624adb" /><Relationship Type="http://schemas.openxmlformats.org/officeDocument/2006/relationships/notesSlide" Target="/ppt/notesSlides/notesSlide23.xml" Id="Rfbbf1787d0b24a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062bf2e1d46e3" /><Relationship Type="http://schemas.openxmlformats.org/officeDocument/2006/relationships/notesSlide" Target="/ppt/notesSlides/notesSlide24.xml" Id="R053cb30b15524ab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a00f672124e0b" /><Relationship Type="http://schemas.openxmlformats.org/officeDocument/2006/relationships/image" Target="/ppt/media/image21.png" Id="R4299257ccdf44f2c" /><Relationship Type="http://schemas.openxmlformats.org/officeDocument/2006/relationships/notesSlide" Target="/ppt/notesSlides/notesSlide25.xml" Id="R373508a976f84f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c275b320e4448" /><Relationship Type="http://schemas.openxmlformats.org/officeDocument/2006/relationships/image" Target="/ppt/media/image22.png" Id="Rd7892d2c9dcc40b5" /><Relationship Type="http://schemas.openxmlformats.org/officeDocument/2006/relationships/notesSlide" Target="/ppt/notesSlides/notesSlide26.xml" Id="R44225dbd4dab440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b0b1aa8b143cf" /><Relationship Type="http://schemas.openxmlformats.org/officeDocument/2006/relationships/notesSlide" Target="/ppt/notesSlides/notesSlide27.xml" Id="R66acb4bc928e4868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0dea9b0c443c2"/>
          <a:srcRect xmlns:a="http://schemas.openxmlformats.org/drawingml/2006/main" l="30458" t="0" r="304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599" y="0"/>
            <a:ext cx="5105402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1" name="Rectangle">
            <a:extLst xmlns:a="http://schemas.openxmlformats.org/drawingml/2006/main">
              <a:ext uri="{FF2B5EF4-FFF2-40B4-BE49-F238E27FC236}">
                <a16:creationId xmlns:a16="http://schemas.microsoft.com/office/drawing/2014/main" id="{664B5CA9-DC8B-4DF4-98B1-FDFA132E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86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Rectangle">
            <a:extLst xmlns:a="http://schemas.openxmlformats.org/drawingml/2006/main">
              <a:ext uri="{FF2B5EF4-FFF2-40B4-BE49-F238E27FC236}">
                <a16:creationId xmlns:a16="http://schemas.microsoft.com/office/drawing/2014/main" id="{109B4079-3761-4BA2-9937-1FF1C023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5DA327F4-005B-4F98-BBF6-8939C5FB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1428750"/>
            <a:ext cx="6099818" cy="866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51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24" name="How to use them in practical, everyday work">
            <a:extLst xmlns:a="http://schemas.openxmlformats.org/drawingml/2006/main">
              <a:ext uri="{FF2B5EF4-FFF2-40B4-BE49-F238E27FC236}">
                <a16:creationId xmlns:a16="http://schemas.microsoft.com/office/drawing/2014/main" id="{DD32A160-A514-41CA-BCF4-398D1CF7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3124200"/>
            <a:ext cx="5814068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How to use them in practical, everyday work</a:t>
            </a:r>
          </a:p>
        </p:txBody>
      </p:sp>
      <p:sp>
        <p:nvSpPr>
          <p:cNvPr id="25" name="Daniel Chen">
            <a:extLst xmlns:a="http://schemas.openxmlformats.org/drawingml/2006/main">
              <a:ext uri="{FF2B5EF4-FFF2-40B4-BE49-F238E27FC236}">
                <a16:creationId xmlns:a16="http://schemas.microsoft.com/office/drawing/2014/main" id="{82AEC6D1-68FF-4C0A-A762-161CA361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5010151"/>
            <a:ext cx="3337568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Daniel Chen</a:t>
            </a:r>
          </a:p>
        </p:txBody>
      </p:sp>
      <p:sp>
        <p:nvSpPr>
          <p:cNvPr id="26" name="Chief Scientist, Fabricate">
            <a:extLst xmlns:a="http://schemas.openxmlformats.org/drawingml/2006/main">
              <a:ext uri="{FF2B5EF4-FFF2-40B4-BE49-F238E27FC236}">
                <a16:creationId xmlns:a16="http://schemas.microsoft.com/office/drawing/2014/main" id="{20AF83D0-4127-4F88-B2A8-3ADB6F23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5410201"/>
            <a:ext cx="3909068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Chief Scientist, Fabricate</a:t>
            </a:r>
          </a:p>
        </p:txBody>
      </p:sp>
      <p:sp>
        <p:nvSpPr>
          <p:cNvPr id="27" name="danielchen0.github.io">
            <a:extLst xmlns:a="http://schemas.openxmlformats.org/drawingml/2006/main">
              <a:ext uri="{FF2B5EF4-FFF2-40B4-BE49-F238E27FC236}">
                <a16:creationId xmlns:a16="http://schemas.microsoft.com/office/drawing/2014/main" id="{08407773-6A37-4F18-8A0C-33FFA446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5734051"/>
            <a:ext cx="3337568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danielchen0.github.io</a:t>
            </a:r>
          </a:p>
        </p:txBody>
      </p:sp>
      <p:sp>
        <p:nvSpPr>
          <p:cNvPr id="28" name="01">
            <a:extLst xmlns:a="http://schemas.openxmlformats.org/drawingml/2006/main">
              <a:ext uri="{FF2B5EF4-FFF2-40B4-BE49-F238E27FC236}">
                <a16:creationId xmlns:a16="http://schemas.microsoft.com/office/drawing/2014/main" id="{A859BEF4-66FC-4C64-B669-089A9A1C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29" name="Screenshot: developers.openai.com/codex; presenter site: danielchen0.github.io">
            <a:extLst xmlns:a="http://schemas.openxmlformats.org/drawingml/2006/main">
              <a:ext uri="{FF2B5EF4-FFF2-40B4-BE49-F238E27FC236}">
                <a16:creationId xmlns:a16="http://schemas.microsoft.com/office/drawing/2014/main" id="{182DBFEA-3C5B-46B4-B6B1-D945FD3B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Screenshot: developers.openai.com/codex; presenter site: danielchen0.github.io</a:t>
            </a:r>
          </a:p>
        </p:txBody>
      </p:sp>
    </p:spTree>
    <p:extLst>
      <p:ext uri="{BB962C8B-B14F-4D97-AF65-F5344CB8AC3E}">
        <p14:creationId xmlns:p14="http://schemas.microsoft.com/office/powerpoint/2010/main" val="52182900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An AI agent made this deck!!">
            <a:extLst xmlns:a="http://schemas.openxmlformats.org/drawingml/2006/main">
              <a:ext uri="{FF2B5EF4-FFF2-40B4-BE49-F238E27FC236}">
                <a16:creationId xmlns:a16="http://schemas.microsoft.com/office/drawing/2014/main" id="{7B9E2EAC-A2FF-45B2-A2AD-85ADA25E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An AI agent made this deck!!</a:t>
            </a:r>
          </a:p>
        </p:txBody>
      </p:sp>
      <p:sp>
        <p:nvSpPr>
          <p:cNvPr id="32" name="Here is the thing in action: an agent helped assemble these slides.">
            <a:extLst xmlns:a="http://schemas.openxmlformats.org/drawingml/2006/main">
              <a:ext uri="{FF2B5EF4-FFF2-40B4-BE49-F238E27FC236}">
                <a16:creationId xmlns:a16="http://schemas.microsoft.com/office/drawing/2014/main" id="{7C1591EC-CE56-4A53-9B58-AFDC429A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Here is the thing in action: an agent helped assemble these slides.</a:t>
            </a:r>
          </a:p>
        </p:txBody>
      </p:sp>
      <p:sp>
        <p:nvSpPr>
          <p:cNvPr id="33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EC554988-07D3-42CF-9EAA-20FF0298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34" name="02">
            <a:extLst xmlns:a="http://schemas.openxmlformats.org/drawingml/2006/main">
              <a:ext uri="{FF2B5EF4-FFF2-40B4-BE49-F238E27FC236}">
                <a16:creationId xmlns:a16="http://schemas.microsoft.com/office/drawing/2014/main" id="{AB894352-3DE6-4B05-804A-B31EBA42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pic>
        <p:nvPicPr>
          <p:cNvPr id="51" name="image2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389f56b974a58"/>
          <a:srcRect xmlns:a="http://schemas.openxmlformats.org/drawingml/2006/main" l="0" t="17280" r="0" b="17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52600"/>
            <a:ext cx="6305550" cy="37528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6" name="Rectangle">
            <a:extLst xmlns:a="http://schemas.openxmlformats.org/drawingml/2006/main">
              <a:ext uri="{FF2B5EF4-FFF2-40B4-BE49-F238E27FC236}">
                <a16:creationId xmlns:a16="http://schemas.microsoft.com/office/drawing/2014/main" id="{B79E2F54-40F6-4773-96E3-563A46EC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3390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Prompt">
            <a:extLst xmlns:a="http://schemas.openxmlformats.org/drawingml/2006/main">
              <a:ext uri="{FF2B5EF4-FFF2-40B4-BE49-F238E27FC236}">
                <a16:creationId xmlns:a16="http://schemas.microsoft.com/office/drawing/2014/main" id="{A57874DA-478D-4234-A1B3-E66CBFE0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2286000"/>
            <a:ext cx="105156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Prompt</a:t>
            </a:r>
          </a:p>
        </p:txBody>
      </p:sp>
      <p:sp>
        <p:nvSpPr>
          <p:cNvPr id="38" name="Make a slide deck about agents">
            <a:extLst xmlns:a="http://schemas.openxmlformats.org/drawingml/2006/main">
              <a:ext uri="{FF2B5EF4-FFF2-40B4-BE49-F238E27FC236}">
                <a16:creationId xmlns:a16="http://schemas.microsoft.com/office/drawing/2014/main" id="{A98F29C0-5C07-4797-8494-0767E6AB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2609850"/>
            <a:ext cx="2385064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Make a slide deck about agents</a:t>
            </a:r>
          </a:p>
        </p:txBody>
      </p:sp>
      <p:sp>
        <p:nvSpPr>
          <p:cNvPr id="39" name="Rectangle">
            <a:extLst xmlns:a="http://schemas.openxmlformats.org/drawingml/2006/main">
              <a:ext uri="{FF2B5EF4-FFF2-40B4-BE49-F238E27FC236}">
                <a16:creationId xmlns:a16="http://schemas.microsoft.com/office/drawing/2014/main" id="{D400F500-742D-407C-AE00-9F83D89C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3390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Agent">
            <a:extLst xmlns:a="http://schemas.openxmlformats.org/drawingml/2006/main">
              <a:ext uri="{FF2B5EF4-FFF2-40B4-BE49-F238E27FC236}">
                <a16:creationId xmlns:a16="http://schemas.microsoft.com/office/drawing/2014/main" id="{EE3159A2-870B-4A42-B8FD-6F80981F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3429001"/>
            <a:ext cx="105156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</a:t>
            </a:r>
          </a:p>
        </p:txBody>
      </p:sp>
      <p:sp>
        <p:nvSpPr>
          <p:cNvPr id="41" name="Finds examples, edits slides, checks output">
            <a:extLst xmlns:a="http://schemas.openxmlformats.org/drawingml/2006/main">
              <a:ext uri="{FF2B5EF4-FFF2-40B4-BE49-F238E27FC236}">
                <a16:creationId xmlns:a16="http://schemas.microsoft.com/office/drawing/2014/main" id="{C92807AE-0669-4345-8166-90E2B089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3752851"/>
            <a:ext cx="2556514" cy="447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Finds examples, edits slides, checks output</a:t>
            </a:r>
          </a:p>
        </p:txBody>
      </p:sp>
      <p:sp>
        <p:nvSpPr>
          <p:cNvPr id="42" name="Rectangle">
            <a:extLst xmlns:a="http://schemas.openxmlformats.org/drawingml/2006/main">
              <a:ext uri="{FF2B5EF4-FFF2-40B4-BE49-F238E27FC236}">
                <a16:creationId xmlns:a16="http://schemas.microsoft.com/office/drawing/2014/main" id="{E00FC1C9-8DEF-42D5-AC78-9F82C3AC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62450"/>
            <a:ext cx="3390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Result">
            <a:extLst xmlns:a="http://schemas.openxmlformats.org/drawingml/2006/main">
              <a:ext uri="{FF2B5EF4-FFF2-40B4-BE49-F238E27FC236}">
                <a16:creationId xmlns:a16="http://schemas.microsoft.com/office/drawing/2014/main" id="{4784825C-AA3D-49A5-BB29-A6E68347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4572001"/>
            <a:ext cx="105156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Result</a:t>
            </a:r>
          </a:p>
        </p:txBody>
      </p:sp>
      <p:sp>
        <p:nvSpPr>
          <p:cNvPr id="44" name="A real presentation you can give">
            <a:extLst xmlns:a="http://schemas.openxmlformats.org/drawingml/2006/main">
              <a:ext uri="{FF2B5EF4-FFF2-40B4-BE49-F238E27FC236}">
                <a16:creationId xmlns:a16="http://schemas.microsoft.com/office/drawing/2014/main" id="{2C7BA79A-6265-4C41-A184-B2ACE2A5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4895851"/>
            <a:ext cx="2385064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 real presentation you can give</a:t>
            </a:r>
          </a:p>
        </p:txBody>
      </p:sp>
      <p:sp>
        <p:nvSpPr>
          <p:cNvPr id="45" name="Screenshot: Conductor workspace for this slide deck.">
            <a:extLst xmlns:a="http://schemas.openxmlformats.org/drawingml/2006/main">
              <a:ext uri="{FF2B5EF4-FFF2-40B4-BE49-F238E27FC236}">
                <a16:creationId xmlns:a16="http://schemas.microsoft.com/office/drawing/2014/main" id="{F81CEDF5-AAFC-4D69-860D-DA97807D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Screenshot: Conductor workspace for this slide deck.</a:t>
            </a:r>
          </a:p>
        </p:txBody>
      </p:sp>
    </p:spTree>
    <p:extLst>
      <p:ext uri="{BB962C8B-B14F-4D97-AF65-F5344CB8AC3E}">
        <p14:creationId xmlns:p14="http://schemas.microsoft.com/office/powerpoint/2010/main" val="1458787778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What is an AI agent?">
            <a:extLst xmlns:a="http://schemas.openxmlformats.org/drawingml/2006/main">
              <a:ext uri="{FF2B5EF4-FFF2-40B4-BE49-F238E27FC236}">
                <a16:creationId xmlns:a16="http://schemas.microsoft.com/office/drawing/2014/main" id="{E009179C-B236-414C-8D8B-F8CCA95E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is an AI agent?</a:t>
            </a:r>
          </a:p>
        </p:txBody>
      </p:sp>
      <p:sp>
        <p:nvSpPr>
          <p:cNvPr id="48" name="Think of it as an intelligent, living-like entity that acts on the world from your prompt.">
            <a:extLst xmlns:a="http://schemas.openxmlformats.org/drawingml/2006/main">
              <a:ext uri="{FF2B5EF4-FFF2-40B4-BE49-F238E27FC236}">
                <a16:creationId xmlns:a16="http://schemas.microsoft.com/office/drawing/2014/main" id="{CA64FBDE-6DC1-4912-8400-3C34D611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Think of it as an intelligent, living-like entity that acts on the world from your prompt.</a:t>
            </a:r>
          </a:p>
        </p:txBody>
      </p:sp>
      <p:sp>
        <p:nvSpPr>
          <p:cNvPr id="49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B932BB17-5952-446D-8571-3727117A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50" name="03">
            <a:extLst xmlns:a="http://schemas.openxmlformats.org/drawingml/2006/main">
              <a:ext uri="{FF2B5EF4-FFF2-40B4-BE49-F238E27FC236}">
                <a16:creationId xmlns:a16="http://schemas.microsoft.com/office/drawing/2014/main" id="{9EF43FDA-68C6-48E3-8FB0-600A2B6D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51" name="Rectangle">
            <a:extLst xmlns:a="http://schemas.openxmlformats.org/drawingml/2006/main">
              <a:ext uri="{FF2B5EF4-FFF2-40B4-BE49-F238E27FC236}">
                <a16:creationId xmlns:a16="http://schemas.microsoft.com/office/drawing/2014/main" id="{988F0297-B9C8-47CD-A598-C316B869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686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Chat AI">
            <a:extLst xmlns:a="http://schemas.openxmlformats.org/drawingml/2006/main">
              <a:ext uri="{FF2B5EF4-FFF2-40B4-BE49-F238E27FC236}">
                <a16:creationId xmlns:a16="http://schemas.microsoft.com/office/drawing/2014/main" id="{0617B678-44F2-4B55-AE6D-79E77BE2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" y="2705100"/>
            <a:ext cx="2023112" cy="459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4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Chat AI</a:t>
            </a:r>
          </a:p>
        </p:txBody>
      </p:sp>
      <p:sp>
        <p:nvSpPr>
          <p:cNvPr id="53" name="understands the request">
            <a:extLst xmlns:a="http://schemas.openxmlformats.org/drawingml/2006/main">
              <a:ext uri="{FF2B5EF4-FFF2-40B4-BE49-F238E27FC236}">
                <a16:creationId xmlns:a16="http://schemas.microsoft.com/office/drawing/2014/main" id="{F91F2171-8CF5-4038-BF5E-EE7F7E61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" y="3257551"/>
            <a:ext cx="2023112" cy="294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3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understands the request</a:t>
            </a:r>
          </a:p>
        </p:txBody>
      </p:sp>
      <p:sp>
        <p:nvSpPr>
          <p:cNvPr id="54" name="+">
            <a:extLst xmlns:a="http://schemas.openxmlformats.org/drawingml/2006/main">
              <a:ext uri="{FF2B5EF4-FFF2-40B4-BE49-F238E27FC236}">
                <a16:creationId xmlns:a16="http://schemas.microsoft.com/office/drawing/2014/main" id="{646FD663-8D43-4F79-B687-5254AF2C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718" y="2781300"/>
            <a:ext cx="480062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+</a:t>
            </a:r>
          </a:p>
        </p:txBody>
      </p:sp>
      <p:sp>
        <p:nvSpPr>
          <p:cNvPr id="55" name="Rectangle">
            <a:extLst xmlns:a="http://schemas.openxmlformats.org/drawingml/2006/main">
              <a:ext uri="{FF2B5EF4-FFF2-40B4-BE49-F238E27FC236}">
                <a16:creationId xmlns:a16="http://schemas.microsoft.com/office/drawing/2014/main" id="{0723865B-85BD-41B6-998F-1EA1A7DF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686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Tools">
            <a:extLst xmlns:a="http://schemas.openxmlformats.org/drawingml/2006/main">
              <a:ext uri="{FF2B5EF4-FFF2-40B4-BE49-F238E27FC236}">
                <a16:creationId xmlns:a16="http://schemas.microsoft.com/office/drawing/2014/main" id="{61DA9D22-B811-4BED-85FC-062E9FD4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68" y="2705100"/>
            <a:ext cx="2023114" cy="459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4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Tools</a:t>
            </a:r>
          </a:p>
        </p:txBody>
      </p:sp>
      <p:sp>
        <p:nvSpPr>
          <p:cNvPr id="57" name="connected apps and services">
            <a:extLst xmlns:a="http://schemas.openxmlformats.org/drawingml/2006/main">
              <a:ext uri="{FF2B5EF4-FFF2-40B4-BE49-F238E27FC236}">
                <a16:creationId xmlns:a16="http://schemas.microsoft.com/office/drawing/2014/main" id="{A60ADB78-4DEA-46B6-A79F-55EF9A5C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68" y="3257551"/>
            <a:ext cx="2023114" cy="497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3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connected apps and services</a:t>
            </a:r>
          </a:p>
        </p:txBody>
      </p:sp>
      <p:sp>
        <p:nvSpPr>
          <p:cNvPr id="58" name="=">
            <a:extLst xmlns:a="http://schemas.openxmlformats.org/drawingml/2006/main">
              <a:ext uri="{FF2B5EF4-FFF2-40B4-BE49-F238E27FC236}">
                <a16:creationId xmlns:a16="http://schemas.microsoft.com/office/drawing/2014/main" id="{5A053231-D0DA-46B3-8F7C-CEEFAEFF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68" y="2781300"/>
            <a:ext cx="480062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=</a:t>
            </a:r>
          </a:p>
        </p:txBody>
      </p:sp>
      <p:sp>
        <p:nvSpPr>
          <p:cNvPr id="59" name="Rectangle">
            <a:extLst xmlns:a="http://schemas.openxmlformats.org/drawingml/2006/main">
              <a:ext uri="{FF2B5EF4-FFF2-40B4-BE49-F238E27FC236}">
                <a16:creationId xmlns:a16="http://schemas.microsoft.com/office/drawing/2014/main" id="{D0CCAC67-4E1D-45F0-BD64-9532E5AC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2686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Agent">
            <a:extLst xmlns:a="http://schemas.openxmlformats.org/drawingml/2006/main">
              <a:ext uri="{FF2B5EF4-FFF2-40B4-BE49-F238E27FC236}">
                <a16:creationId xmlns:a16="http://schemas.microsoft.com/office/drawing/2014/main" id="{7276254A-7DE8-46D2-890C-9A398322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018" y="2705100"/>
            <a:ext cx="2023114" cy="459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400"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</a:t>
            </a:r>
          </a:p>
        </p:txBody>
      </p:sp>
      <p:sp>
        <p:nvSpPr>
          <p:cNvPr id="61" name="acts on the world">
            <a:extLst xmlns:a="http://schemas.openxmlformats.org/drawingml/2006/main">
              <a:ext uri="{FF2B5EF4-FFF2-40B4-BE49-F238E27FC236}">
                <a16:creationId xmlns:a16="http://schemas.microsoft.com/office/drawing/2014/main" id="{DBCE1800-05EB-4468-9D24-6698A160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018" y="3257551"/>
            <a:ext cx="2023114" cy="294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3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acts on the world</a:t>
            </a:r>
          </a:p>
        </p:txBody>
      </p:sp>
      <p:sp>
        <p:nvSpPr>
          <p:cNvPr id="62" name="Rectangle">
            <a:extLst xmlns:a="http://schemas.openxmlformats.org/drawingml/2006/main">
              <a:ext uri="{FF2B5EF4-FFF2-40B4-BE49-F238E27FC236}">
                <a16:creationId xmlns:a16="http://schemas.microsoft.com/office/drawing/2014/main" id="{D73AAFF5-CCED-4744-9CEC-522D1FA2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" name="A tool is how the agent reaches into the world: search, email, calendar, files, shopping, code, or support.">
            <a:extLst xmlns:a="http://schemas.openxmlformats.org/drawingml/2006/main">
              <a:ext uri="{FF2B5EF4-FFF2-40B4-BE49-F238E27FC236}">
                <a16:creationId xmlns:a16="http://schemas.microsoft.com/office/drawing/2014/main" id="{D1EA2458-EECE-4B0D-A13A-830C391A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568" y="5124451"/>
            <a:ext cx="8404864" cy="523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4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 tool is how the agent reaches into the world: search, email, calendar, files, shopping, code, or support.</a:t>
            </a:r>
          </a:p>
        </p:txBody>
      </p:sp>
      <p:sp>
        <p:nvSpPr>
          <p:cNvPr id="64" name="References: Arc XP “Exploring AI Agents”; AWS Builder Center Agentic AI Series.">
            <a:extLst xmlns:a="http://schemas.openxmlformats.org/drawingml/2006/main">
              <a:ext uri="{FF2B5EF4-FFF2-40B4-BE49-F238E27FC236}">
                <a16:creationId xmlns:a16="http://schemas.microsoft.com/office/drawing/2014/main" id="{3F85847B-4332-4DFB-9539-FA01E3FB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References: Arc XP “Exploring AI Agents”; AWS Builder Center Agentic AI Series.</a:t>
            </a:r>
          </a:p>
        </p:txBody>
      </p:sp>
    </p:spTree>
    <p:extLst>
      <p:ext uri="{BB962C8B-B14F-4D97-AF65-F5344CB8AC3E}">
        <p14:creationId xmlns:p14="http://schemas.microsoft.com/office/powerpoint/2010/main" val="107341479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Chatbots talk. Agents do.">
            <a:extLst xmlns:a="http://schemas.openxmlformats.org/drawingml/2006/main">
              <a:ext uri="{FF2B5EF4-FFF2-40B4-BE49-F238E27FC236}">
                <a16:creationId xmlns:a16="http://schemas.microsoft.com/office/drawing/2014/main" id="{698983EB-5E58-462F-9ABE-3956F2E4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Chatbots talk. Agents do.</a:t>
            </a:r>
          </a:p>
        </p:txBody>
      </p:sp>
      <p:sp>
        <p:nvSpPr>
          <p:cNvPr id="67" name="The easiest way to explain agents is by comparing outcomes.">
            <a:extLst xmlns:a="http://schemas.openxmlformats.org/drawingml/2006/main">
              <a:ext uri="{FF2B5EF4-FFF2-40B4-BE49-F238E27FC236}">
                <a16:creationId xmlns:a16="http://schemas.microsoft.com/office/drawing/2014/main" id="{D9EB88C1-9BF6-42FF-A3AB-BB90FF26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easiest way to explain agents is by comparing outcomes.</a:t>
            </a:r>
          </a:p>
        </p:txBody>
      </p:sp>
      <p:sp>
        <p:nvSpPr>
          <p:cNvPr id="68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982B62F3-D184-4F51-88E4-0D616714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69" name="04">
            <a:extLst xmlns:a="http://schemas.openxmlformats.org/drawingml/2006/main">
              <a:ext uri="{FF2B5EF4-FFF2-40B4-BE49-F238E27FC236}">
                <a16:creationId xmlns:a16="http://schemas.microsoft.com/office/drawing/2014/main" id="{29D1514B-632A-46DC-862D-83C31914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70" name="Rectangle">
            <a:extLst xmlns:a="http://schemas.openxmlformats.org/drawingml/2006/main">
              <a:ext uri="{FF2B5EF4-FFF2-40B4-BE49-F238E27FC236}">
                <a16:creationId xmlns:a16="http://schemas.microsoft.com/office/drawing/2014/main" id="{9AF67F32-9759-4B1E-83FE-38336A22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4057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" name="Chatbot">
            <a:extLst xmlns:a="http://schemas.openxmlformats.org/drawingml/2006/main">
              <a:ext uri="{FF2B5EF4-FFF2-40B4-BE49-F238E27FC236}">
                <a16:creationId xmlns:a16="http://schemas.microsoft.com/office/drawing/2014/main" id="{B865C901-8FED-4442-BB58-39022F7F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9" y="2305050"/>
            <a:ext cx="1432562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2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Chatbot</a:t>
            </a:r>
          </a:p>
        </p:txBody>
      </p:sp>
      <p:sp>
        <p:nvSpPr>
          <p:cNvPr id="72" name="suggests steps">
            <a:extLst xmlns:a="http://schemas.openxmlformats.org/drawingml/2006/main">
              <a:ext uri="{FF2B5EF4-FFF2-40B4-BE49-F238E27FC236}">
                <a16:creationId xmlns:a16="http://schemas.microsoft.com/office/drawing/2014/main" id="{181F7704-59E7-4D6C-9C4B-8309F990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66" y="2343150"/>
            <a:ext cx="1432565" cy="574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suggests steps</a:t>
            </a:r>
          </a:p>
        </p:txBody>
      </p:sp>
      <p:sp>
        <p:nvSpPr>
          <p:cNvPr id="73" name="Rectangle">
            <a:extLst xmlns:a="http://schemas.openxmlformats.org/drawingml/2006/main">
              <a:ext uri="{FF2B5EF4-FFF2-40B4-BE49-F238E27FC236}">
                <a16:creationId xmlns:a16="http://schemas.microsoft.com/office/drawing/2014/main" id="{8A82806C-35D9-452C-8C97-2AA14C8E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4057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CDE8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Agent">
            <a:extLst xmlns:a="http://schemas.openxmlformats.org/drawingml/2006/main">
              <a:ext uri="{FF2B5EF4-FFF2-40B4-BE49-F238E27FC236}">
                <a16:creationId xmlns:a16="http://schemas.microsoft.com/office/drawing/2014/main" id="{DE741661-8B9F-4607-8A92-FB895A8E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9" y="3771901"/>
            <a:ext cx="1432562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2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</a:t>
            </a:r>
          </a:p>
        </p:txBody>
      </p:sp>
      <p:sp>
        <p:nvSpPr>
          <p:cNvPr id="75" name="takes steps">
            <a:extLst xmlns:a="http://schemas.openxmlformats.org/drawingml/2006/main">
              <a:ext uri="{FF2B5EF4-FFF2-40B4-BE49-F238E27FC236}">
                <a16:creationId xmlns:a16="http://schemas.microsoft.com/office/drawing/2014/main" id="{A2B7E3C2-DF3F-43DA-BEDC-DEC55F25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66" y="3810001"/>
            <a:ext cx="1432565" cy="332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takes steps</a:t>
            </a:r>
          </a:p>
        </p:txBody>
      </p:sp>
      <p:pic>
        <p:nvPicPr>
          <p:cNvPr id="107" name="image3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dc514257e4dde"/>
          <a:srcRect xmlns:a="http://schemas.openxmlformats.org/drawingml/2006/main" l="8636" t="0" r="86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48" y="2362200"/>
            <a:ext cx="5334007" cy="1905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77" name="Rectangle">
            <a:extLst xmlns:a="http://schemas.openxmlformats.org/drawingml/2006/main">
              <a:ext uri="{FF2B5EF4-FFF2-40B4-BE49-F238E27FC236}">
                <a16:creationId xmlns:a16="http://schemas.microsoft.com/office/drawing/2014/main" id="{553E5A44-9400-43BC-937F-C04C1B8C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" name="A tool is just a connection that lets the AI do something outside the chat box.">
            <a:extLst xmlns:a="http://schemas.openxmlformats.org/drawingml/2006/main">
              <a:ext uri="{FF2B5EF4-FFF2-40B4-BE49-F238E27FC236}">
                <a16:creationId xmlns:a16="http://schemas.microsoft.com/office/drawing/2014/main" id="{7BC5025C-56D1-4A12-B36B-16D9E168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568" y="5695951"/>
            <a:ext cx="8404864" cy="294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3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 tool is just a connection that lets the AI do something outside the chat box.</a:t>
            </a:r>
          </a:p>
        </p:txBody>
      </p:sp>
      <p:sp>
        <p:nvSpPr>
          <p:cNvPr id="79" name="Visual source: AWS Builder Center’s chatbot vs. agent comparison.">
            <a:extLst xmlns:a="http://schemas.openxmlformats.org/drawingml/2006/main">
              <a:ext uri="{FF2B5EF4-FFF2-40B4-BE49-F238E27FC236}">
                <a16:creationId xmlns:a16="http://schemas.microsoft.com/office/drawing/2014/main" id="{E208B068-A5AD-49E3-AA0B-443C7320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Visual source: AWS Builder Center’s chatbot vs. agent comparison.</a:t>
            </a:r>
          </a:p>
        </p:txBody>
      </p:sp>
      <p:sp>
        <p:nvSpPr>
          <p:cNvPr id="80" name="Rectangle">
            <a:extLst xmlns:a="http://schemas.openxmlformats.org/drawingml/2006/main">
              <a:ext uri="{FF2B5EF4-FFF2-40B4-BE49-F238E27FC236}">
                <a16:creationId xmlns:a16="http://schemas.microsoft.com/office/drawing/2014/main" id="{D3A6B843-8D0F-4A02-97D9-E597B06D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ChatGPT can be both">
            <a:extLst xmlns:a="http://schemas.openxmlformats.org/drawingml/2006/main">
              <a:ext uri="{FF2B5EF4-FFF2-40B4-BE49-F238E27FC236}">
                <a16:creationId xmlns:a16="http://schemas.microsoft.com/office/drawing/2014/main" id="{21B6E450-FF3D-43BF-913E-74C60393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342899"/>
            <a:ext cx="7719060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ChatGPT can be both</a:t>
            </a:r>
          </a:p>
        </p:txBody>
      </p:sp>
      <p:sp>
        <p:nvSpPr>
          <p:cNvPr id="82" name="Same product, different mode: answering a question vs. using a tool to get something done.">
            <a:extLst xmlns:a="http://schemas.openxmlformats.org/drawingml/2006/main">
              <a:ext uri="{FF2B5EF4-FFF2-40B4-BE49-F238E27FC236}">
                <a16:creationId xmlns:a16="http://schemas.microsoft.com/office/drawing/2014/main" id="{05C26B75-C3AD-488C-B8D9-3371559C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1162050"/>
            <a:ext cx="9243061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Same product, different mode: answering a question vs. using a tool to get something done.</a:t>
            </a:r>
          </a:p>
        </p:txBody>
      </p:sp>
      <p:sp>
        <p:nvSpPr>
          <p:cNvPr id="83" name="Rectangle">
            <a:extLst xmlns:a="http://schemas.openxmlformats.org/drawingml/2006/main">
              <a:ext uri="{FF2B5EF4-FFF2-40B4-BE49-F238E27FC236}">
                <a16:creationId xmlns:a16="http://schemas.microsoft.com/office/drawing/2014/main" id="{4C7533FF-7FD0-40CC-9CBB-BF6A8968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0957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Rectangle">
            <a:extLst xmlns:a="http://schemas.openxmlformats.org/drawingml/2006/main">
              <a:ext uri="{FF2B5EF4-FFF2-40B4-BE49-F238E27FC236}">
                <a16:creationId xmlns:a16="http://schemas.microsoft.com/office/drawing/2014/main" id="{0846E896-21F0-46C5-8CDB-C2830648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68389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16" name="image4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484f70e8d4443"/>
          <a:srcRect xmlns:a="http://schemas.openxmlformats.org/drawingml/2006/main" l="53" t="0" r="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46" y="1790700"/>
            <a:ext cx="4095756" cy="34480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17" name="image5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a0b74135a4519"/>
          <a:srcRect xmlns:a="http://schemas.openxmlformats.org/drawingml/2006/main" l="21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790700"/>
            <a:ext cx="6838951" cy="3505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87" name="Rectangle">
            <a:extLst xmlns:a="http://schemas.openxmlformats.org/drawingml/2006/main">
              <a:ext uri="{FF2B5EF4-FFF2-40B4-BE49-F238E27FC236}">
                <a16:creationId xmlns:a16="http://schemas.microsoft.com/office/drawing/2014/main" id="{7E7EE745-7A4D-4D28-B942-80F4E12B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Rectangle">
            <a:extLst xmlns:a="http://schemas.openxmlformats.org/drawingml/2006/main">
              <a:ext uri="{FF2B5EF4-FFF2-40B4-BE49-F238E27FC236}">
                <a16:creationId xmlns:a16="http://schemas.microsoft.com/office/drawing/2014/main" id="{4148B272-96EA-4290-BCDB-51E4874B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6838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Chatbot: answers in words.">
            <a:extLst xmlns:a="http://schemas.openxmlformats.org/drawingml/2006/main">
              <a:ext uri="{FF2B5EF4-FFF2-40B4-BE49-F238E27FC236}">
                <a16:creationId xmlns:a16="http://schemas.microsoft.com/office/drawing/2014/main" id="{A034D30F-440F-4913-A69C-3554B15D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7" y="5543551"/>
            <a:ext cx="3623316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Chatbot: answers in words.</a:t>
            </a:r>
          </a:p>
        </p:txBody>
      </p:sp>
      <p:sp>
        <p:nvSpPr>
          <p:cNvPr id="90" name="Agent: uses a tool, then answers.">
            <a:extLst xmlns:a="http://schemas.openxmlformats.org/drawingml/2006/main">
              <a:ext uri="{FF2B5EF4-FFF2-40B4-BE49-F238E27FC236}">
                <a16:creationId xmlns:a16="http://schemas.microsoft.com/office/drawing/2014/main" id="{FE17A06B-53BA-417B-9C97-632BFA5F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370" y="5543551"/>
            <a:ext cx="6252213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Agent: uses a tool, then answers.</a:t>
            </a:r>
          </a:p>
        </p:txBody>
      </p:sp>
      <p:sp>
        <p:nvSpPr>
          <p:cNvPr id="91" name="Screenshots: attached ChatGPT examples.">
            <a:extLst xmlns:a="http://schemas.openxmlformats.org/drawingml/2006/main">
              <a:ext uri="{FF2B5EF4-FFF2-40B4-BE49-F238E27FC236}">
                <a16:creationId xmlns:a16="http://schemas.microsoft.com/office/drawing/2014/main" id="{A60D92E5-FC80-4983-9365-BEDB9215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057901"/>
            <a:ext cx="771906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Screenshots: attached ChatGPT examples.</a:t>
            </a:r>
          </a:p>
        </p:txBody>
      </p:sp>
      <p:sp>
        <p:nvSpPr>
          <p:cNvPr id="92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10EDC03E-376B-41D9-B07F-74D30632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7" y="6343651"/>
            <a:ext cx="3909066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93" name="04">
            <a:extLst xmlns:a="http://schemas.openxmlformats.org/drawingml/2006/main">
              <a:ext uri="{FF2B5EF4-FFF2-40B4-BE49-F238E27FC236}">
                <a16:creationId xmlns:a16="http://schemas.microsoft.com/office/drawing/2014/main" id="{6D132A91-DB39-4E74-948A-49870DDF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4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9860061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ChatGPT vs. AI agents">
            <a:extLst xmlns:a="http://schemas.openxmlformats.org/drawingml/2006/main">
              <a:ext uri="{FF2B5EF4-FFF2-40B4-BE49-F238E27FC236}">
                <a16:creationId xmlns:a16="http://schemas.microsoft.com/office/drawing/2014/main" id="{A5D008BB-74D0-4820-AFD1-827855F8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ChatGPT vs. AI agents</a:t>
            </a:r>
          </a:p>
        </p:txBody>
      </p:sp>
      <p:sp>
        <p:nvSpPr>
          <p:cNvPr id="96" name="ChatGPT is converging toward a fully fledged agent: less just answering, more doing.">
            <a:extLst xmlns:a="http://schemas.openxmlformats.org/drawingml/2006/main">
              <a:ext uri="{FF2B5EF4-FFF2-40B4-BE49-F238E27FC236}">
                <a16:creationId xmlns:a16="http://schemas.microsoft.com/office/drawing/2014/main" id="{7E71F5BC-2A1C-4D13-8327-EEB14E99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ChatGPT is converging toward a fully fledged agent: less just answering, more doing.</a:t>
            </a:r>
          </a:p>
        </p:txBody>
      </p:sp>
      <p:sp>
        <p:nvSpPr>
          <p:cNvPr id="97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E0367FFF-8605-4490-9B80-6E2B409A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98" name="05">
            <a:extLst xmlns:a="http://schemas.openxmlformats.org/drawingml/2006/main">
              <a:ext uri="{FF2B5EF4-FFF2-40B4-BE49-F238E27FC236}">
                <a16:creationId xmlns:a16="http://schemas.microsoft.com/office/drawing/2014/main" id="{B02FD336-0FB8-4E2F-81E3-BF0E9AAE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05</a:t>
            </a:r>
          </a:p>
        </p:txBody>
      </p:sp>
      <p:sp>
        <p:nvSpPr>
          <p:cNvPr id="99" name="Rectangle">
            <a:extLst xmlns:a="http://schemas.openxmlformats.org/drawingml/2006/main">
              <a:ext uri="{FF2B5EF4-FFF2-40B4-BE49-F238E27FC236}">
                <a16:creationId xmlns:a16="http://schemas.microsoft.com/office/drawing/2014/main" id="{784C819D-8D82-47BA-88AF-10470257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4229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0" name="Old days: 2024">
            <a:extLst xmlns:a="http://schemas.openxmlformats.org/drawingml/2006/main">
              <a:ext uri="{FF2B5EF4-FFF2-40B4-BE49-F238E27FC236}">
                <a16:creationId xmlns:a16="http://schemas.microsoft.com/office/drawing/2014/main" id="{37C3A155-E194-49CF-AE6D-FD476C67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69" y="2209800"/>
            <a:ext cx="2194562" cy="396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0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Old days: 2024</a:t>
            </a:r>
          </a:p>
        </p:txBody>
      </p:sp>
      <p:sp>
        <p:nvSpPr>
          <p:cNvPr id="101" name="Mostly a chatbot: answer, explain, draft.">
            <a:extLst xmlns:a="http://schemas.openxmlformats.org/drawingml/2006/main">
              <a:ext uri="{FF2B5EF4-FFF2-40B4-BE49-F238E27FC236}">
                <a16:creationId xmlns:a16="http://schemas.microsoft.com/office/drawing/2014/main" id="{9DB72414-9D00-40DF-B65A-329EFAB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69" y="2628900"/>
            <a:ext cx="3051812" cy="523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4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Mostly a chatbot: answer, explain, draft.</a:t>
            </a:r>
          </a:p>
        </p:txBody>
      </p:sp>
      <p:sp>
        <p:nvSpPr>
          <p:cNvPr id="102" name="Rectangle">
            <a:extLst xmlns:a="http://schemas.openxmlformats.org/drawingml/2006/main">
              <a:ext uri="{FF2B5EF4-FFF2-40B4-BE49-F238E27FC236}">
                <a16:creationId xmlns:a16="http://schemas.microsoft.com/office/drawing/2014/main" id="{5E8F72F3-9B43-4095-BA2D-47A0BD09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4229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CDE8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3" name="Now">
            <a:extLst xmlns:a="http://schemas.openxmlformats.org/drawingml/2006/main">
              <a:ext uri="{FF2B5EF4-FFF2-40B4-BE49-F238E27FC236}">
                <a16:creationId xmlns:a16="http://schemas.microsoft.com/office/drawing/2014/main" id="{7197C826-B61E-406B-ACB2-5C4B91C5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69" y="3771901"/>
            <a:ext cx="1432562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2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Now</a:t>
            </a:r>
          </a:p>
        </p:txBody>
      </p:sp>
      <p:sp>
        <p:nvSpPr>
          <p:cNvPr id="104" name="Search the web, make slides, write and run code, use apps.">
            <a:extLst xmlns:a="http://schemas.openxmlformats.org/drawingml/2006/main">
              <a:ext uri="{FF2B5EF4-FFF2-40B4-BE49-F238E27FC236}">
                <a16:creationId xmlns:a16="http://schemas.microsoft.com/office/drawing/2014/main" id="{BF3E050E-B1AD-4E90-A32D-52167946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69" y="4229101"/>
            <a:ext cx="3147062" cy="548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Search the web, make slides, write and run code, use apps.</a:t>
            </a:r>
          </a:p>
        </p:txBody>
      </p:sp>
      <p:pic>
        <p:nvPicPr>
          <p:cNvPr id="126" name="image4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38eaefbdb494f"/>
          <a:srcRect xmlns:a="http://schemas.openxmlformats.org/drawingml/2006/main" l="0" t="9690" r="0" b="96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850" y="1809748"/>
            <a:ext cx="5410200" cy="302895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06" name="Rectangle">
            <a:extLst xmlns:a="http://schemas.openxmlformats.org/drawingml/2006/main">
              <a:ext uri="{FF2B5EF4-FFF2-40B4-BE49-F238E27FC236}">
                <a16:creationId xmlns:a16="http://schemas.microsoft.com/office/drawing/2014/main" id="{AB23B4D0-C487-41AF-8DF2-A95AC6C3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7" name="Use your computer">
            <a:extLst xmlns:a="http://schemas.openxmlformats.org/drawingml/2006/main">
              <a:ext uri="{FF2B5EF4-FFF2-40B4-BE49-F238E27FC236}">
                <a16:creationId xmlns:a16="http://schemas.microsoft.com/office/drawing/2014/main" id="{83ED2449-6893-4BA3-836A-964061D8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5524501"/>
            <a:ext cx="1889762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Use your computer</a:t>
            </a:r>
          </a:p>
        </p:txBody>
      </p:sp>
      <p:sp>
        <p:nvSpPr>
          <p:cNvPr id="108" name="Rectangle">
            <a:extLst xmlns:a="http://schemas.openxmlformats.org/drawingml/2006/main">
              <a:ext uri="{FF2B5EF4-FFF2-40B4-BE49-F238E27FC236}">
                <a16:creationId xmlns:a16="http://schemas.microsoft.com/office/drawing/2014/main" id="{26789AD2-45C9-4F47-8CF6-CDD994DA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10200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9" name="Browse the web">
            <a:extLst xmlns:a="http://schemas.openxmlformats.org/drawingml/2006/main">
              <a:ext uri="{FF2B5EF4-FFF2-40B4-BE49-F238E27FC236}">
                <a16:creationId xmlns:a16="http://schemas.microsoft.com/office/drawing/2014/main" id="{22ABDBA6-7DDA-4975-B6C0-BCF58166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18" y="5524501"/>
            <a:ext cx="1889764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Browse the web</a:t>
            </a:r>
          </a:p>
        </p:txBody>
      </p:sp>
      <p:sp>
        <p:nvSpPr>
          <p:cNvPr id="110" name="Rectangle">
            <a:extLst xmlns:a="http://schemas.openxmlformats.org/drawingml/2006/main">
              <a:ext uri="{FF2B5EF4-FFF2-40B4-BE49-F238E27FC236}">
                <a16:creationId xmlns:a16="http://schemas.microsoft.com/office/drawing/2014/main" id="{BFA41389-13E5-4955-BAAA-46F5CB05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10200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Send emails">
            <a:extLst xmlns:a="http://schemas.openxmlformats.org/drawingml/2006/main">
              <a:ext uri="{FF2B5EF4-FFF2-40B4-BE49-F238E27FC236}">
                <a16:creationId xmlns:a16="http://schemas.microsoft.com/office/drawing/2014/main" id="{236322D1-A743-4A09-A21D-BB7110EA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18" y="5524501"/>
            <a:ext cx="1889764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Send emails</a:t>
            </a:r>
          </a:p>
        </p:txBody>
      </p:sp>
      <p:sp>
        <p:nvSpPr>
          <p:cNvPr id="112" name="Rectangle">
            <a:extLst xmlns:a="http://schemas.openxmlformats.org/drawingml/2006/main">
              <a:ext uri="{FF2B5EF4-FFF2-40B4-BE49-F238E27FC236}">
                <a16:creationId xmlns:a16="http://schemas.microsoft.com/office/drawing/2014/main" id="{415BEC8C-76D5-4E4E-8101-5EE87917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10200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3" name="Log into websites">
            <a:extLst xmlns:a="http://schemas.openxmlformats.org/drawingml/2006/main">
              <a:ext uri="{FF2B5EF4-FFF2-40B4-BE49-F238E27FC236}">
                <a16:creationId xmlns:a16="http://schemas.microsoft.com/office/drawing/2014/main" id="{D97CC60C-613E-4335-A8A0-E5BE07E3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18" y="5524501"/>
            <a:ext cx="1889764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Log into websites</a:t>
            </a:r>
          </a:p>
        </p:txBody>
      </p:sp>
      <p:sp>
        <p:nvSpPr>
          <p:cNvPr id="114" name="Screenshot: clawd-bot.com; reference: openclaw.ai.">
            <a:extLst xmlns:a="http://schemas.openxmlformats.org/drawingml/2006/main">
              <a:ext uri="{FF2B5EF4-FFF2-40B4-BE49-F238E27FC236}">
                <a16:creationId xmlns:a16="http://schemas.microsoft.com/office/drawing/2014/main" id="{FF3114F8-6A01-48A7-A1E3-0001E0BD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Screenshot: clawd-bot.com; reference: openclaw.ai.</a:t>
            </a:r>
          </a:p>
        </p:txBody>
      </p:sp>
    </p:spTree>
    <p:extLst>
      <p:ext uri="{BB962C8B-B14F-4D97-AF65-F5344CB8AC3E}">
        <p14:creationId xmlns:p14="http://schemas.microsoft.com/office/powerpoint/2010/main" val="1265825380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Where agents pay off">
            <a:extLst xmlns:a="http://schemas.openxmlformats.org/drawingml/2006/main">
              <a:ext uri="{FF2B5EF4-FFF2-40B4-BE49-F238E27FC236}">
                <a16:creationId xmlns:a16="http://schemas.microsoft.com/office/drawing/2014/main" id="{27CF8EF9-F669-438F-99FC-783EC98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Where agents pay off</a:t>
            </a:r>
          </a:p>
        </p:txBody>
      </p:sp>
      <p:sp>
        <p:nvSpPr>
          <p:cNvPr id="117" name="They help when a request needs more than one step or more than one app.">
            <a:extLst xmlns:a="http://schemas.openxmlformats.org/drawingml/2006/main">
              <a:ext uri="{FF2B5EF4-FFF2-40B4-BE49-F238E27FC236}">
                <a16:creationId xmlns:a16="http://schemas.microsoft.com/office/drawing/2014/main" id="{609FFCCB-D58C-4092-9F42-29598083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They help when a request needs more than one step or more than one app.</a:t>
            </a:r>
          </a:p>
        </p:txBody>
      </p:sp>
      <p:sp>
        <p:nvSpPr>
          <p:cNvPr id="118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A8A2425D-781C-4CCA-8DCA-85D421A7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119" name="06">
            <a:extLst xmlns:a="http://schemas.openxmlformats.org/drawingml/2006/main">
              <a:ext uri="{FF2B5EF4-FFF2-40B4-BE49-F238E27FC236}">
                <a16:creationId xmlns:a16="http://schemas.microsoft.com/office/drawing/2014/main" id="{0930DBE5-3AD9-4889-BF81-1AB09609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06</a:t>
            </a:r>
          </a:p>
        </p:txBody>
      </p:sp>
      <p:pic>
        <p:nvPicPr>
          <p:cNvPr id="138" name="image5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d7fdc77134d6d"/>
          <a:srcRect xmlns:a="http://schemas.openxmlformats.org/drawingml/2006/main" l="3608" t="0" r="36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48" y="2019300"/>
            <a:ext cx="5353054" cy="30289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39" name="image6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644293c1f4274"/>
          <a:srcRect xmlns:a="http://schemas.openxmlformats.org/drawingml/2006/main" l="0" t="10824" r="0" b="10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2019298"/>
            <a:ext cx="5353050" cy="302895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22" name="Rectangle">
            <a:extLst xmlns:a="http://schemas.openxmlformats.org/drawingml/2006/main">
              <a:ext uri="{FF2B5EF4-FFF2-40B4-BE49-F238E27FC236}">
                <a16:creationId xmlns:a16="http://schemas.microsoft.com/office/drawing/2014/main" id="{12B29434-9C12-4267-934E-CD7FDEFE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35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Rectangle">
            <a:extLst xmlns:a="http://schemas.openxmlformats.org/drawingml/2006/main">
              <a:ext uri="{FF2B5EF4-FFF2-40B4-BE49-F238E27FC236}">
                <a16:creationId xmlns:a16="http://schemas.microsoft.com/office/drawing/2014/main" id="{97E451C0-C764-4893-8E43-A6692A78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81600"/>
            <a:ext cx="535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Anything.com: describe what you want, then build it">
            <a:extLst xmlns:a="http://schemas.openxmlformats.org/drawingml/2006/main">
              <a:ext uri="{FF2B5EF4-FFF2-40B4-BE49-F238E27FC236}">
                <a16:creationId xmlns:a16="http://schemas.microsoft.com/office/drawing/2014/main" id="{DC05F89F-E545-461D-97C8-8A18DA7D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66" y="5391151"/>
            <a:ext cx="4709168" cy="548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Anything.com: describe what you want, then build it</a:t>
            </a:r>
          </a:p>
        </p:txBody>
      </p:sp>
      <p:sp>
        <p:nvSpPr>
          <p:cNvPr id="125" name="Fabricate.to: describe a product, then source it">
            <a:extLst xmlns:a="http://schemas.openxmlformats.org/drawingml/2006/main">
              <a:ext uri="{FF2B5EF4-FFF2-40B4-BE49-F238E27FC236}">
                <a16:creationId xmlns:a16="http://schemas.microsoft.com/office/drawing/2014/main" id="{03824444-F6AC-4EE7-B66A-EBF1C0C8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18" y="5391151"/>
            <a:ext cx="4709167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Fabricate.to: describe a product, then source it</a:t>
            </a:r>
          </a:p>
        </p:txBody>
      </p:sp>
      <p:sp>
        <p:nvSpPr>
          <p:cNvPr id="126" name="Screenshots: anything.com/app and fabricate.to/sku/meeting-recorder.">
            <a:extLst xmlns:a="http://schemas.openxmlformats.org/drawingml/2006/main">
              <a:ext uri="{FF2B5EF4-FFF2-40B4-BE49-F238E27FC236}">
                <a16:creationId xmlns:a16="http://schemas.microsoft.com/office/drawing/2014/main" id="{E59062C0-53E8-424B-88F3-6998421B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Screenshots: anything.com/app and fabricate.to/sku/meeting-recorder.</a:t>
            </a:r>
          </a:p>
        </p:txBody>
      </p:sp>
      <p:sp>
        <p:nvSpPr>
          <p:cNvPr id="127" name="Rectangle">
            <a:extLst xmlns:a="http://schemas.openxmlformats.org/drawingml/2006/main">
              <a:ext uri="{FF2B5EF4-FFF2-40B4-BE49-F238E27FC236}">
                <a16:creationId xmlns:a16="http://schemas.microsoft.com/office/drawing/2014/main" id="{78C80635-99B0-40A6-B5C9-0346AD76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5353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46" name="image9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a91e6886e4aef"/>
          <a:srcRect xmlns:a="http://schemas.openxmlformats.org/drawingml/2006/main" l="7355" t="0" r="73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898" y="2019300"/>
            <a:ext cx="5353054" cy="304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29" name="Rectangle">
            <a:extLst xmlns:a="http://schemas.openxmlformats.org/drawingml/2006/main">
              <a:ext uri="{FF2B5EF4-FFF2-40B4-BE49-F238E27FC236}">
                <a16:creationId xmlns:a16="http://schemas.microsoft.com/office/drawing/2014/main" id="{06C085E1-5879-4045-B1DC-93A5DBB1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817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Screenshots: anything.com/app and attached Fabricate homepage.">
            <a:extLst xmlns:a="http://schemas.openxmlformats.org/drawingml/2006/main">
              <a:ext uri="{FF2B5EF4-FFF2-40B4-BE49-F238E27FC236}">
                <a16:creationId xmlns:a16="http://schemas.microsoft.com/office/drawing/2014/main" id="{D6C17BA7-E52B-4BCB-8C75-4F6A31EB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18" y="6096001"/>
            <a:ext cx="4861564" cy="1803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6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Screenshots: anything.com/app and attached Fabricate homepage.</a:t>
            </a:r>
          </a:p>
        </p:txBody>
      </p:sp>
    </p:spTree>
    <p:extLst>
      <p:ext uri="{BB962C8B-B14F-4D97-AF65-F5344CB8AC3E}">
        <p14:creationId xmlns:p14="http://schemas.microsoft.com/office/powerpoint/2010/main" val="1427889347"/>
      </p:ext>
    </p:extLst>
  </p:cSld>
</p:sld>
</file>

<file path=ppt/slides/slide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Example: ChineseArena">
            <a:extLst xmlns:a="http://schemas.openxmlformats.org/drawingml/2006/main">
              <a:ext uri="{FF2B5EF4-FFF2-40B4-BE49-F238E27FC236}">
                <a16:creationId xmlns:a16="http://schemas.microsoft.com/office/drawing/2014/main" id="{2B722337-F7D7-4968-9D9E-38A996CE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Example: ChineseArena</a:t>
            </a:r>
          </a:p>
        </p:txBody>
      </p:sp>
      <p:sp>
        <p:nvSpPr>
          <p:cNvPr id="133" name="A real website made with Anything.com: games, practice, stats, and account flows.">
            <a:extLst xmlns:a="http://schemas.openxmlformats.org/drawingml/2006/main">
              <a:ext uri="{FF2B5EF4-FFF2-40B4-BE49-F238E27FC236}">
                <a16:creationId xmlns:a16="http://schemas.microsoft.com/office/drawing/2014/main" id="{A28221DE-1429-40E4-A3A6-2F1A0CCF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 real website made with Anything.com: games, practice, stats, and account flows.</a:t>
            </a:r>
          </a:p>
        </p:txBody>
      </p:sp>
      <p:sp>
        <p:nvSpPr>
          <p:cNvPr id="134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8273D38C-20B8-49E6-9B4E-F015118C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135" name="07">
            <a:extLst xmlns:a="http://schemas.openxmlformats.org/drawingml/2006/main">
              <a:ext uri="{FF2B5EF4-FFF2-40B4-BE49-F238E27FC236}">
                <a16:creationId xmlns:a16="http://schemas.microsoft.com/office/drawing/2014/main" id="{DB8DCC89-2111-4468-902E-BAAEA43F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07</a:t>
            </a:r>
          </a:p>
        </p:txBody>
      </p:sp>
      <p:pic>
        <p:nvPicPr>
          <p:cNvPr id="149" name="image7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5dec456434d41"/>
          <a:srcRect xmlns:a="http://schemas.openxmlformats.org/drawingml/2006/main" l="0" t="1228" r="0" b="12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790700"/>
            <a:ext cx="5467350" cy="32766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50" name="image8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c27d4d58b4e02"/>
          <a:srcRect xmlns:a="http://schemas.openxmlformats.org/drawingml/2006/main" l="0" t="17634" r="0" b="176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790700"/>
            <a:ext cx="5448300" cy="327660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38" name="Rectangle">
            <a:extLst xmlns:a="http://schemas.openxmlformats.org/drawingml/2006/main">
              <a:ext uri="{FF2B5EF4-FFF2-40B4-BE49-F238E27FC236}">
                <a16:creationId xmlns:a16="http://schemas.microsoft.com/office/drawing/2014/main" id="{B8201CC0-DD5C-4CA6-91B2-0ABB1708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46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Rectangle">
            <a:extLst xmlns:a="http://schemas.openxmlformats.org/drawingml/2006/main">
              <a:ext uri="{FF2B5EF4-FFF2-40B4-BE49-F238E27FC236}">
                <a16:creationId xmlns:a16="http://schemas.microsoft.com/office/drawing/2014/main" id="{90C50659-9C81-4164-9619-3687845C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19700"/>
            <a:ext cx="544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Finished site: chinesearena.com">
            <a:extLst xmlns:a="http://schemas.openxmlformats.org/drawingml/2006/main">
              <a:ext uri="{FF2B5EF4-FFF2-40B4-BE49-F238E27FC236}">
                <a16:creationId xmlns:a16="http://schemas.microsoft.com/office/drawing/2014/main" id="{C88B7E05-3DAF-4BC7-906B-1658C83A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66" y="5391151"/>
            <a:ext cx="4861568" cy="3073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Finished site: chinesearena.com</a:t>
            </a:r>
          </a:p>
        </p:txBody>
      </p:sp>
      <p:sp>
        <p:nvSpPr>
          <p:cNvPr id="141" name="Interactive practice: learn by doing">
            <a:extLst xmlns:a="http://schemas.openxmlformats.org/drawingml/2006/main">
              <a:ext uri="{FF2B5EF4-FFF2-40B4-BE49-F238E27FC236}">
                <a16:creationId xmlns:a16="http://schemas.microsoft.com/office/drawing/2014/main" id="{1559096D-0DCA-46F4-9B11-A62B8FDD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968" y="5391151"/>
            <a:ext cx="4671067" cy="3073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Interactive practice: learn by doing</a:t>
            </a:r>
          </a:p>
        </p:txBody>
      </p:sp>
      <p:sp>
        <p:nvSpPr>
          <p:cNvPr id="142" name="Screenshots: chinesearena.com; attached ChineseArena examples.">
            <a:extLst xmlns:a="http://schemas.openxmlformats.org/drawingml/2006/main">
              <a:ext uri="{FF2B5EF4-FFF2-40B4-BE49-F238E27FC236}">
                <a16:creationId xmlns:a16="http://schemas.microsoft.com/office/drawing/2014/main" id="{FEB433F3-E074-45BA-814B-73933A0E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Screenshots: chinesearena.com; attached ChineseArena examples.</a:t>
            </a:r>
          </a:p>
        </p:txBody>
      </p:sp>
    </p:spTree>
    <p:extLst>
      <p:ext uri="{BB962C8B-B14F-4D97-AF65-F5344CB8AC3E}">
        <p14:creationId xmlns:p14="http://schemas.microsoft.com/office/powerpoint/2010/main" val="100287287"/>
      </p:ext>
    </p:extLst>
  </p:cSld>
</p:sld>
</file>

<file path=ppt/slides/slide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Agents all the way down">
            <a:extLst xmlns:a="http://schemas.openxmlformats.org/drawingml/2006/main">
              <a:ext uri="{FF2B5EF4-FFF2-40B4-BE49-F238E27FC236}">
                <a16:creationId xmlns:a16="http://schemas.microsoft.com/office/drawing/2014/main" id="{BADEE05D-CEF6-4870-9F57-B41752D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Agents all the way down</a:t>
            </a:r>
          </a:p>
        </p:txBody>
      </p:sp>
      <p:sp>
        <p:nvSpPr>
          <p:cNvPr id="145" name="Codex helps build Codex; Anything's agent helps build ChineseArena.">
            <a:extLst xmlns:a="http://schemas.openxmlformats.org/drawingml/2006/main">
              <a:ext uri="{FF2B5EF4-FFF2-40B4-BE49-F238E27FC236}">
                <a16:creationId xmlns:a16="http://schemas.microsoft.com/office/drawing/2014/main" id="{653E21B7-CB28-45F5-BFE4-BEE4C3C5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Codex helps build Codex; Anything's agent helps build ChineseArena.</a:t>
            </a:r>
          </a:p>
        </p:txBody>
      </p:sp>
      <p:sp>
        <p:nvSpPr>
          <p:cNvPr id="146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DDF9F919-006C-44AC-B6A9-966B9F8B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147" name="08">
            <a:extLst xmlns:a="http://schemas.openxmlformats.org/drawingml/2006/main">
              <a:ext uri="{FF2B5EF4-FFF2-40B4-BE49-F238E27FC236}">
                <a16:creationId xmlns:a16="http://schemas.microsoft.com/office/drawing/2014/main" id="{4E4D7C82-FEF6-40C6-AF29-BA13744A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08</a:t>
            </a:r>
          </a:p>
        </p:txBody>
      </p:sp>
      <p:pic>
        <p:nvPicPr>
          <p:cNvPr id="161" name="image9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a8e4bebc3481c"/>
          <a:srcRect xmlns:a="http://schemas.openxmlformats.org/drawingml/2006/main" l="8228" t="0" r="82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48" y="1943100"/>
            <a:ext cx="5334004" cy="3105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62" name="image10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c0be6f9ee4a8a"/>
          <a:srcRect xmlns:a="http://schemas.openxmlformats.org/drawingml/2006/main" l="0" t="4722" r="0" b="47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1943100"/>
            <a:ext cx="5334000" cy="3105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50" name="Rectangle">
            <a:extLst xmlns:a="http://schemas.openxmlformats.org/drawingml/2006/main">
              <a:ext uri="{FF2B5EF4-FFF2-40B4-BE49-F238E27FC236}">
                <a16:creationId xmlns:a16="http://schemas.microsoft.com/office/drawing/2014/main" id="{AD85621A-5218-44A9-8177-4A545579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1" name="Rectangle">
            <a:extLst xmlns:a="http://schemas.openxmlformats.org/drawingml/2006/main">
              <a:ext uri="{FF2B5EF4-FFF2-40B4-BE49-F238E27FC236}">
                <a16:creationId xmlns:a16="http://schemas.microsoft.com/office/drawing/2014/main" id="{0B4F3862-96D1-4A7D-B9B6-CA7FED7F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2" name="Anything: agents help build the product your users see.">
            <a:extLst xmlns:a="http://schemas.openxmlformats.org/drawingml/2006/main">
              <a:ext uri="{FF2B5EF4-FFF2-40B4-BE49-F238E27FC236}">
                <a16:creationId xmlns:a16="http://schemas.microsoft.com/office/drawing/2014/main" id="{606A62BF-7917-446D-87DC-72EF46A5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66" y="5362576"/>
            <a:ext cx="4785368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Anything: agents help build the product your users see.</a:t>
            </a:r>
          </a:p>
        </p:txBody>
      </p:sp>
      <p:sp>
        <p:nvSpPr>
          <p:cNvPr id="153" name="OpenAI: Codex is used to build Codex itself.">
            <a:extLst xmlns:a="http://schemas.openxmlformats.org/drawingml/2006/main">
              <a:ext uri="{FF2B5EF4-FFF2-40B4-BE49-F238E27FC236}">
                <a16:creationId xmlns:a16="http://schemas.microsoft.com/office/drawing/2014/main" id="{A76EA773-BA11-4C2E-8F46-DFB4C0F9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268" y="5362576"/>
            <a:ext cx="4785367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OpenAI: Codex is used to build Codex itself.</a:t>
            </a:r>
          </a:p>
        </p:txBody>
      </p:sp>
      <p:sp>
        <p:nvSpPr>
          <p:cNvPr id="154" name="Screenshots: Anything builder editing ChineseArena; attached OpenAI Codex-at-work example.">
            <a:extLst xmlns:a="http://schemas.openxmlformats.org/drawingml/2006/main">
              <a:ext uri="{FF2B5EF4-FFF2-40B4-BE49-F238E27FC236}">
                <a16:creationId xmlns:a16="http://schemas.microsoft.com/office/drawing/2014/main" id="{831B9E87-E7D1-4790-91F5-B55A9184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Screenshots: Anything builder editing ChineseArena; attached OpenAI Codex-at-work example.</a:t>
            </a:r>
          </a:p>
        </p:txBody>
      </p:sp>
    </p:spTree>
    <p:extLst>
      <p:ext uri="{BB962C8B-B14F-4D97-AF65-F5344CB8AC3E}">
        <p14:creationId xmlns:p14="http://schemas.microsoft.com/office/powerpoint/2010/main" val="448677012"/>
      </p:ext>
    </p:extLst>
  </p:cSld>
</p:sld>
</file>

<file path=ppt/slides/slide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How an agent gets work done">
            <a:extLst xmlns:a="http://schemas.openxmlformats.org/drawingml/2006/main">
              <a:ext uri="{FF2B5EF4-FFF2-40B4-BE49-F238E27FC236}">
                <a16:creationId xmlns:a16="http://schemas.microsoft.com/office/drawing/2014/main" id="{B9CF1FEC-C63F-47AB-B78E-F8B99D04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How an agent gets work done</a:t>
            </a:r>
          </a:p>
        </p:txBody>
      </p:sp>
      <p:sp>
        <p:nvSpPr>
          <p:cNvPr id="157" name="You give the goal; it uses connected tools and brings back progress.">
            <a:extLst xmlns:a="http://schemas.openxmlformats.org/drawingml/2006/main">
              <a:ext uri="{FF2B5EF4-FFF2-40B4-BE49-F238E27FC236}">
                <a16:creationId xmlns:a16="http://schemas.microsoft.com/office/drawing/2014/main" id="{11795DF3-FA4A-4B2C-AC45-8BDD5DE6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You give the goal; it uses connected tools and brings back progress.</a:t>
            </a:r>
          </a:p>
        </p:txBody>
      </p:sp>
      <p:sp>
        <p:nvSpPr>
          <p:cNvPr id="158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B78E7549-0BBD-4F8A-89AA-43FB056F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159" name="09">
            <a:extLst xmlns:a="http://schemas.openxmlformats.org/drawingml/2006/main">
              <a:ext uri="{FF2B5EF4-FFF2-40B4-BE49-F238E27FC236}">
                <a16:creationId xmlns:a16="http://schemas.microsoft.com/office/drawing/2014/main" id="{E031BF7E-C8D8-458F-9902-43FFF38A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09</a:t>
            </a:r>
          </a:p>
        </p:txBody>
      </p:sp>
      <p:sp>
        <p:nvSpPr>
          <p:cNvPr id="160" name="Rectangle">
            <a:extLst xmlns:a="http://schemas.openxmlformats.org/drawingml/2006/main">
              <a:ext uri="{FF2B5EF4-FFF2-40B4-BE49-F238E27FC236}">
                <a16:creationId xmlns:a16="http://schemas.microsoft.com/office/drawing/2014/main" id="{3456D464-DEE2-433E-8F8E-06B0AE87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190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1" name="1">
            <a:extLst xmlns:a="http://schemas.openxmlformats.org/drawingml/2006/main">
              <a:ext uri="{FF2B5EF4-FFF2-40B4-BE49-F238E27FC236}">
                <a16:creationId xmlns:a16="http://schemas.microsoft.com/office/drawing/2014/main" id="{518C5980-ED65-401F-BDE3-2490298F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19" y="2686050"/>
            <a:ext cx="308617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  <p:sp>
        <p:nvSpPr>
          <p:cNvPr id="162" name="Ask">
            <a:extLst xmlns:a="http://schemas.openxmlformats.org/drawingml/2006/main">
              <a:ext uri="{FF2B5EF4-FFF2-40B4-BE49-F238E27FC236}">
                <a16:creationId xmlns:a16="http://schemas.microsoft.com/office/drawing/2014/main" id="{25104B18-0E48-4ACA-BD4D-D0544199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19" y="2686050"/>
            <a:ext cx="1032512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2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Ask</a:t>
            </a:r>
          </a:p>
        </p:txBody>
      </p:sp>
      <p:sp>
        <p:nvSpPr>
          <p:cNvPr id="163" name="What do you want done?">
            <a:extLst xmlns:a="http://schemas.openxmlformats.org/drawingml/2006/main">
              <a:ext uri="{FF2B5EF4-FFF2-40B4-BE49-F238E27FC236}">
                <a16:creationId xmlns:a16="http://schemas.microsoft.com/office/drawing/2014/main" id="{2BFA2917-F89A-47E8-956E-EC510A40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19" y="3333751"/>
            <a:ext cx="1584962" cy="497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3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do you want done?</a:t>
            </a:r>
          </a:p>
        </p:txBody>
      </p:sp>
      <p:sp>
        <p:nvSpPr>
          <p:cNvPr id="164" name="-&gt;">
            <a:extLst xmlns:a="http://schemas.openxmlformats.org/drawingml/2006/main">
              <a:ext uri="{FF2B5EF4-FFF2-40B4-BE49-F238E27FC236}">
                <a16:creationId xmlns:a16="http://schemas.microsoft.com/office/drawing/2014/main" id="{E0E65723-016B-42A5-AC73-ACE61435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16" y="3000375"/>
            <a:ext cx="251467" cy="701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000" b="1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-&gt;</a:t>
            </a:r>
          </a:p>
        </p:txBody>
      </p:sp>
      <p:sp>
        <p:nvSpPr>
          <p:cNvPr id="165" name="Rectangle">
            <a:extLst xmlns:a="http://schemas.openxmlformats.org/drawingml/2006/main">
              <a:ext uri="{FF2B5EF4-FFF2-40B4-BE49-F238E27FC236}">
                <a16:creationId xmlns:a16="http://schemas.microsoft.com/office/drawing/2014/main" id="{16BC2C12-D7D9-4462-A86D-51E4CD52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2190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6" name="2">
            <a:extLst xmlns:a="http://schemas.openxmlformats.org/drawingml/2006/main">
              <a:ext uri="{FF2B5EF4-FFF2-40B4-BE49-F238E27FC236}">
                <a16:creationId xmlns:a16="http://schemas.microsoft.com/office/drawing/2014/main" id="{3282BC7E-9743-4C0D-BBD8-A4C385B6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718" y="2686050"/>
            <a:ext cx="308617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167" name="Look">
            <a:extLst xmlns:a="http://schemas.openxmlformats.org/drawingml/2006/main">
              <a:ext uri="{FF2B5EF4-FFF2-40B4-BE49-F238E27FC236}">
                <a16:creationId xmlns:a16="http://schemas.microsoft.com/office/drawing/2014/main" id="{5A27E45D-4AF7-4D26-985C-DF49416B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18" y="2686050"/>
            <a:ext cx="1032517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2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Look</a:t>
            </a:r>
          </a:p>
        </p:txBody>
      </p:sp>
      <p:sp>
        <p:nvSpPr>
          <p:cNvPr id="168" name="What information is needed?">
            <a:extLst xmlns:a="http://schemas.openxmlformats.org/drawingml/2006/main">
              <a:ext uri="{FF2B5EF4-FFF2-40B4-BE49-F238E27FC236}">
                <a16:creationId xmlns:a16="http://schemas.microsoft.com/office/drawing/2014/main" id="{DCC95AE9-D7D8-41E8-9AAA-E63CA42F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718" y="3333751"/>
            <a:ext cx="1584967" cy="497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3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information is needed?</a:t>
            </a:r>
          </a:p>
        </p:txBody>
      </p:sp>
      <p:sp>
        <p:nvSpPr>
          <p:cNvPr id="169" name="-&gt;">
            <a:extLst xmlns:a="http://schemas.openxmlformats.org/drawingml/2006/main">
              <a:ext uri="{FF2B5EF4-FFF2-40B4-BE49-F238E27FC236}">
                <a16:creationId xmlns:a16="http://schemas.microsoft.com/office/drawing/2014/main" id="{0301F696-E3C5-43EF-9926-11F55373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18" y="3000375"/>
            <a:ext cx="251467" cy="701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000" b="1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-&gt;</a:t>
            </a:r>
          </a:p>
        </p:txBody>
      </p:sp>
      <p:sp>
        <p:nvSpPr>
          <p:cNvPr id="170" name="Rectangle">
            <a:extLst xmlns:a="http://schemas.openxmlformats.org/drawingml/2006/main">
              <a:ext uri="{FF2B5EF4-FFF2-40B4-BE49-F238E27FC236}">
                <a16:creationId xmlns:a16="http://schemas.microsoft.com/office/drawing/2014/main" id="{FB1DD8BD-7E10-4123-933D-AE574F07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2190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1" name="3">
            <a:extLst xmlns:a="http://schemas.openxmlformats.org/drawingml/2006/main">
              <a:ext uri="{FF2B5EF4-FFF2-40B4-BE49-F238E27FC236}">
                <a16:creationId xmlns:a16="http://schemas.microsoft.com/office/drawing/2014/main" id="{8A896013-FFD8-4D1F-8BBC-A30FD15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18" y="2686050"/>
            <a:ext cx="308617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3</a:t>
            </a:r>
          </a:p>
        </p:txBody>
      </p:sp>
      <p:sp>
        <p:nvSpPr>
          <p:cNvPr id="172" name="Do">
            <a:extLst xmlns:a="http://schemas.openxmlformats.org/drawingml/2006/main">
              <a:ext uri="{FF2B5EF4-FFF2-40B4-BE49-F238E27FC236}">
                <a16:creationId xmlns:a16="http://schemas.microsoft.com/office/drawing/2014/main" id="{B5672474-D60C-4357-8EE8-F0840A83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418" y="2686050"/>
            <a:ext cx="1032517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2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Do</a:t>
            </a:r>
          </a:p>
        </p:txBody>
      </p:sp>
      <p:sp>
        <p:nvSpPr>
          <p:cNvPr id="173" name="Which app or service helps?">
            <a:extLst xmlns:a="http://schemas.openxmlformats.org/drawingml/2006/main">
              <a:ext uri="{FF2B5EF4-FFF2-40B4-BE49-F238E27FC236}">
                <a16:creationId xmlns:a16="http://schemas.microsoft.com/office/drawing/2014/main" id="{27E79F34-E0E7-46B2-BD65-4740E3F6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18" y="3333751"/>
            <a:ext cx="1584967" cy="497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3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Which app or service helps?</a:t>
            </a:r>
          </a:p>
        </p:txBody>
      </p:sp>
      <p:sp>
        <p:nvSpPr>
          <p:cNvPr id="174" name="-&gt;">
            <a:extLst xmlns:a="http://schemas.openxmlformats.org/drawingml/2006/main">
              <a:ext uri="{FF2B5EF4-FFF2-40B4-BE49-F238E27FC236}">
                <a16:creationId xmlns:a16="http://schemas.microsoft.com/office/drawing/2014/main" id="{AFF773C8-4C59-45E4-B4D6-D0BEB6DD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418" y="3000375"/>
            <a:ext cx="251467" cy="701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000" b="1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-&gt;</a:t>
            </a:r>
          </a:p>
        </p:txBody>
      </p:sp>
      <p:sp>
        <p:nvSpPr>
          <p:cNvPr id="175" name="Rectangle">
            <a:extLst xmlns:a="http://schemas.openxmlformats.org/drawingml/2006/main">
              <a:ext uri="{FF2B5EF4-FFF2-40B4-BE49-F238E27FC236}">
                <a16:creationId xmlns:a16="http://schemas.microsoft.com/office/drawing/2014/main" id="{EBB47847-682A-498F-9C16-BF3CC8AE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2190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6" name="4">
            <a:extLst xmlns:a="http://schemas.openxmlformats.org/drawingml/2006/main">
              <a:ext uri="{FF2B5EF4-FFF2-40B4-BE49-F238E27FC236}">
                <a16:creationId xmlns:a16="http://schemas.microsoft.com/office/drawing/2014/main" id="{3C95719F-C58F-4A83-B7A5-6D8A4D8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18" y="2686050"/>
            <a:ext cx="308617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6E56C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4</a:t>
            </a:r>
          </a:p>
        </p:txBody>
      </p:sp>
      <p:sp>
        <p:nvSpPr>
          <p:cNvPr id="177" name="Report">
            <a:extLst xmlns:a="http://schemas.openxmlformats.org/drawingml/2006/main">
              <a:ext uri="{FF2B5EF4-FFF2-40B4-BE49-F238E27FC236}">
                <a16:creationId xmlns:a16="http://schemas.microsoft.com/office/drawing/2014/main" id="{B8A78518-DA84-448E-8308-8299FFD7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718" y="2686050"/>
            <a:ext cx="1032517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2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Report</a:t>
            </a:r>
          </a:p>
        </p:txBody>
      </p:sp>
      <p:sp>
        <p:nvSpPr>
          <p:cNvPr id="178" name="What changed?">
            <a:extLst xmlns:a="http://schemas.openxmlformats.org/drawingml/2006/main">
              <a:ext uri="{FF2B5EF4-FFF2-40B4-BE49-F238E27FC236}">
                <a16:creationId xmlns:a16="http://schemas.microsoft.com/office/drawing/2014/main" id="{7569B565-9058-492B-96CE-425A3B39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18" y="3333751"/>
            <a:ext cx="1584967" cy="294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3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changed?</a:t>
            </a:r>
          </a:p>
        </p:txBody>
      </p:sp>
      <p:sp>
        <p:nvSpPr>
          <p:cNvPr id="179" name="The important shift: the AI can move from advice into action.">
            <a:extLst xmlns:a="http://schemas.openxmlformats.org/drawingml/2006/main">
              <a:ext uri="{FF2B5EF4-FFF2-40B4-BE49-F238E27FC236}">
                <a16:creationId xmlns:a16="http://schemas.microsoft.com/office/drawing/2014/main" id="{5C1A2960-F61A-4870-8A64-FAD6C7A8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18" y="5219701"/>
            <a:ext cx="8747764" cy="396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0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important shift: the AI can move from advice into action.</a:t>
            </a:r>
          </a:p>
        </p:txBody>
      </p:sp>
      <p:sp>
        <p:nvSpPr>
          <p:cNvPr id="180" name="Rectangle">
            <a:extLst xmlns:a="http://schemas.openxmlformats.org/drawingml/2006/main">
              <a:ext uri="{FF2B5EF4-FFF2-40B4-BE49-F238E27FC236}">
                <a16:creationId xmlns:a16="http://schemas.microsoft.com/office/drawing/2014/main" id="{4E4760C0-346C-4526-832C-0A1C8215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1" name="How an agent gets work done">
            <a:extLst xmlns:a="http://schemas.openxmlformats.org/drawingml/2006/main">
              <a:ext uri="{FF2B5EF4-FFF2-40B4-BE49-F238E27FC236}">
                <a16:creationId xmlns:a16="http://schemas.microsoft.com/office/drawing/2014/main" id="{ED251926-ACFF-46D9-B3EE-4134C114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" y="400050"/>
            <a:ext cx="12100561" cy="599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33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How an agent gets work done</a:t>
            </a:r>
          </a:p>
        </p:txBody>
      </p:sp>
      <p:sp>
        <p:nvSpPr>
          <p:cNvPr id="182" name="You give the goal; it uses connected tools and brings back progress.">
            <a:extLst xmlns:a="http://schemas.openxmlformats.org/drawingml/2006/main">
              <a:ext uri="{FF2B5EF4-FFF2-40B4-BE49-F238E27FC236}">
                <a16:creationId xmlns:a16="http://schemas.microsoft.com/office/drawing/2014/main" id="{53BDA933-0390-4292-841D-D299C1EA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" y="1219200"/>
            <a:ext cx="8671560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You give the goal; it uses connected tools and brings back progress.</a:t>
            </a:r>
          </a:p>
        </p:txBody>
      </p:sp>
      <p:sp>
        <p:nvSpPr>
          <p:cNvPr id="183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752EC95E-5223-42ED-A685-6DEF23F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343650"/>
            <a:ext cx="39090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184" name="09">
            <a:extLst xmlns:a="http://schemas.openxmlformats.org/drawingml/2006/main">
              <a:ext uri="{FF2B5EF4-FFF2-40B4-BE49-F238E27FC236}">
                <a16:creationId xmlns:a16="http://schemas.microsoft.com/office/drawing/2014/main" id="{52A3799F-CC57-40AA-A21F-8992DA31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9" y="6343650"/>
            <a:ext cx="38481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09</a:t>
            </a:r>
          </a:p>
        </p:txBody>
      </p:sp>
      <p:pic>
        <p:nvPicPr>
          <p:cNvPr id="281" name="image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20bc9f3994681"/>
          <a:srcRect xmlns:a="http://schemas.openxmlformats.org/drawingml/2006/main" l="14954" t="0" r="14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49" y="1943100"/>
            <a:ext cx="2362202" cy="22479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86" name="Rectangle">
            <a:extLst xmlns:a="http://schemas.openxmlformats.org/drawingml/2006/main">
              <a:ext uri="{FF2B5EF4-FFF2-40B4-BE49-F238E27FC236}">
                <a16:creationId xmlns:a16="http://schemas.microsoft.com/office/drawing/2014/main" id="{B2615BD1-E7E4-4445-8846-05C7563C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7" name="1. Ask">
            <a:extLst xmlns:a="http://schemas.openxmlformats.org/drawingml/2006/main">
              <a:ext uri="{FF2B5EF4-FFF2-40B4-BE49-F238E27FC236}">
                <a16:creationId xmlns:a16="http://schemas.microsoft.com/office/drawing/2014/main" id="{E86F403D-A081-4D43-8FC9-BDE02682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19" y="3905250"/>
            <a:ext cx="2004062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1. Ask</a:t>
            </a:r>
          </a:p>
        </p:txBody>
      </p:sp>
      <p:sp>
        <p:nvSpPr>
          <p:cNvPr id="188" name="Rectangle">
            <a:extLst xmlns:a="http://schemas.openxmlformats.org/drawingml/2006/main">
              <a:ext uri="{FF2B5EF4-FFF2-40B4-BE49-F238E27FC236}">
                <a16:creationId xmlns:a16="http://schemas.microsoft.com/office/drawing/2014/main" id="{EFC8E1EA-065E-4CA1-81B7-E31B23C5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9" name="What do you want done?">
            <a:extLst xmlns:a="http://schemas.openxmlformats.org/drawingml/2006/main">
              <a:ext uri="{FF2B5EF4-FFF2-40B4-BE49-F238E27FC236}">
                <a16:creationId xmlns:a16="http://schemas.microsoft.com/office/drawing/2014/main" id="{C089B27E-2176-4349-9E12-824DB9BE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4400550"/>
            <a:ext cx="2042162" cy="269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do you want done?</a:t>
            </a:r>
          </a:p>
        </p:txBody>
      </p:sp>
      <p:sp>
        <p:nvSpPr>
          <p:cNvPr id="190" name="-&gt;">
            <a:extLst xmlns:a="http://schemas.openxmlformats.org/drawingml/2006/main">
              <a:ext uri="{FF2B5EF4-FFF2-40B4-BE49-F238E27FC236}">
                <a16:creationId xmlns:a16="http://schemas.microsoft.com/office/drawing/2014/main" id="{7510FB37-353B-456C-86E3-34763058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857500"/>
            <a:ext cx="327661" cy="383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900" b="1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-&gt;</a:t>
            </a:r>
          </a:p>
        </p:txBody>
      </p:sp>
      <p:pic>
        <p:nvPicPr>
          <p:cNvPr id="287" name="image2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e16f36ce34bbc"/>
          <a:srcRect xmlns:a="http://schemas.openxmlformats.org/drawingml/2006/main" l="20419" t="0" r="204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6149" y="1943100"/>
            <a:ext cx="2362202" cy="22479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92" name="Rectangle">
            <a:extLst xmlns:a="http://schemas.openxmlformats.org/drawingml/2006/main">
              <a:ext uri="{FF2B5EF4-FFF2-40B4-BE49-F238E27FC236}">
                <a16:creationId xmlns:a16="http://schemas.microsoft.com/office/drawing/2014/main" id="{73521729-BC76-4AB5-A290-24B49BD0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909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3" name="2. Look">
            <a:extLst xmlns:a="http://schemas.openxmlformats.org/drawingml/2006/main">
              <a:ext uri="{FF2B5EF4-FFF2-40B4-BE49-F238E27FC236}">
                <a16:creationId xmlns:a16="http://schemas.microsoft.com/office/drawing/2014/main" id="{49372359-26E2-4AF9-BB23-180A274D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220" y="3905250"/>
            <a:ext cx="2004061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2. Look</a:t>
            </a:r>
          </a:p>
        </p:txBody>
      </p:sp>
      <p:sp>
        <p:nvSpPr>
          <p:cNvPr id="194" name="Rectangle">
            <a:extLst xmlns:a="http://schemas.openxmlformats.org/drawingml/2006/main">
              <a:ext uri="{FF2B5EF4-FFF2-40B4-BE49-F238E27FC236}">
                <a16:creationId xmlns:a16="http://schemas.microsoft.com/office/drawing/2014/main" id="{08AB5400-E9B4-46E9-BC12-382A0745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431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5" name="Find the needed context.">
            <a:extLst xmlns:a="http://schemas.openxmlformats.org/drawingml/2006/main">
              <a:ext uri="{FF2B5EF4-FFF2-40B4-BE49-F238E27FC236}">
                <a16:creationId xmlns:a16="http://schemas.microsoft.com/office/drawing/2014/main" id="{DE3DA595-0E96-4763-80F3-F69F7001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170" y="4400550"/>
            <a:ext cx="2042161" cy="269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Find the needed context.</a:t>
            </a:r>
          </a:p>
        </p:txBody>
      </p:sp>
      <p:sp>
        <p:nvSpPr>
          <p:cNvPr id="196" name="-&gt;">
            <a:extLst xmlns:a="http://schemas.openxmlformats.org/drawingml/2006/main">
              <a:ext uri="{FF2B5EF4-FFF2-40B4-BE49-F238E27FC236}">
                <a16:creationId xmlns:a16="http://schemas.microsoft.com/office/drawing/2014/main" id="{AAB6F62A-2A4A-4599-96BA-A8FAF0F4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170" y="2857500"/>
            <a:ext cx="327661" cy="383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900" b="1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-&gt;</a:t>
            </a:r>
          </a:p>
        </p:txBody>
      </p:sp>
      <p:pic>
        <p:nvPicPr>
          <p:cNvPr id="293" name="image3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935295d6c42e3"/>
          <a:srcRect xmlns:a="http://schemas.openxmlformats.org/drawingml/2006/main" l="14954" t="0" r="14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49" y="1943100"/>
            <a:ext cx="2362202" cy="22479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98" name="Rectangle">
            <a:extLst xmlns:a="http://schemas.openxmlformats.org/drawingml/2006/main">
              <a:ext uri="{FF2B5EF4-FFF2-40B4-BE49-F238E27FC236}">
                <a16:creationId xmlns:a16="http://schemas.microsoft.com/office/drawing/2014/main" id="{C4817514-E754-4AE1-8D50-DA652B72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9" name="3. Do">
            <a:extLst xmlns:a="http://schemas.openxmlformats.org/drawingml/2006/main">
              <a:ext uri="{FF2B5EF4-FFF2-40B4-BE49-F238E27FC236}">
                <a16:creationId xmlns:a16="http://schemas.microsoft.com/office/drawing/2014/main" id="{FA6B3A5B-F4D1-4F14-8269-D1651524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819" y="3905250"/>
            <a:ext cx="2004061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3. Do</a:t>
            </a:r>
          </a:p>
        </p:txBody>
      </p:sp>
      <p:sp>
        <p:nvSpPr>
          <p:cNvPr id="200" name="Rectangle">
            <a:extLst xmlns:a="http://schemas.openxmlformats.org/drawingml/2006/main">
              <a:ext uri="{FF2B5EF4-FFF2-40B4-BE49-F238E27FC236}">
                <a16:creationId xmlns:a16="http://schemas.microsoft.com/office/drawing/2014/main" id="{75BFDAC0-5493-4566-A635-C654A97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1" name="Use the right app.">
            <a:extLst xmlns:a="http://schemas.openxmlformats.org/drawingml/2006/main">
              <a:ext uri="{FF2B5EF4-FFF2-40B4-BE49-F238E27FC236}">
                <a16:creationId xmlns:a16="http://schemas.microsoft.com/office/drawing/2014/main" id="{119D6BCB-FC02-4681-9EDE-54610788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69" y="4400550"/>
            <a:ext cx="2042161" cy="269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Use the right app.</a:t>
            </a:r>
          </a:p>
        </p:txBody>
      </p:sp>
      <p:sp>
        <p:nvSpPr>
          <p:cNvPr id="202" name="-&gt;">
            <a:extLst xmlns:a="http://schemas.openxmlformats.org/drawingml/2006/main">
              <a:ext uri="{FF2B5EF4-FFF2-40B4-BE49-F238E27FC236}">
                <a16:creationId xmlns:a16="http://schemas.microsoft.com/office/drawing/2014/main" id="{6BCA6436-4303-41FE-8D3D-6DB69A75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769" y="2857500"/>
            <a:ext cx="327661" cy="383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900" b="1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-&gt;</a:t>
            </a:r>
          </a:p>
        </p:txBody>
      </p:sp>
      <p:pic>
        <p:nvPicPr>
          <p:cNvPr id="299" name="image4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32f74213646bc"/>
          <a:srcRect xmlns:a="http://schemas.openxmlformats.org/drawingml/2006/main" l="14954" t="0" r="14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1943100"/>
            <a:ext cx="2362201" cy="22479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04" name="Rectangle">
            <a:extLst xmlns:a="http://schemas.openxmlformats.org/drawingml/2006/main">
              <a:ext uri="{FF2B5EF4-FFF2-40B4-BE49-F238E27FC236}">
                <a16:creationId xmlns:a16="http://schemas.microsoft.com/office/drawing/2014/main" id="{9D91531D-E3CA-452B-AEDF-CD3A73D2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5" name="4. Report">
            <a:extLst xmlns:a="http://schemas.openxmlformats.org/drawingml/2006/main">
              <a:ext uri="{FF2B5EF4-FFF2-40B4-BE49-F238E27FC236}">
                <a16:creationId xmlns:a16="http://schemas.microsoft.com/office/drawing/2014/main" id="{B92F6E20-D443-445F-86DD-0F7948BF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19" y="3905250"/>
            <a:ext cx="2004061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4. Report</a:t>
            </a:r>
          </a:p>
        </p:txBody>
      </p:sp>
      <p:sp>
        <p:nvSpPr>
          <p:cNvPr id="206" name="Rectangle">
            <a:extLst xmlns:a="http://schemas.openxmlformats.org/drawingml/2006/main">
              <a:ext uri="{FF2B5EF4-FFF2-40B4-BE49-F238E27FC236}">
                <a16:creationId xmlns:a16="http://schemas.microsoft.com/office/drawing/2014/main" id="{4917DF18-F557-43B7-88AC-CAF575FB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7" name="Bring back the result.">
            <a:extLst xmlns:a="http://schemas.openxmlformats.org/drawingml/2006/main">
              <a:ext uri="{FF2B5EF4-FFF2-40B4-BE49-F238E27FC236}">
                <a16:creationId xmlns:a16="http://schemas.microsoft.com/office/drawing/2014/main" id="{2840AB52-FB05-4237-9CE6-16527FB2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69" y="4400550"/>
            <a:ext cx="2042161" cy="269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Bring back the result.</a:t>
            </a:r>
          </a:p>
        </p:txBody>
      </p:sp>
      <p:sp>
        <p:nvSpPr>
          <p:cNvPr id="208" name="The important shift: the AI can move from advice into action.">
            <a:extLst xmlns:a="http://schemas.openxmlformats.org/drawingml/2006/main">
              <a:ext uri="{FF2B5EF4-FFF2-40B4-BE49-F238E27FC236}">
                <a16:creationId xmlns:a16="http://schemas.microsoft.com/office/drawing/2014/main" id="{C82A1407-8A52-449C-986E-B3953D5E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" y="5467350"/>
            <a:ext cx="8100060" cy="370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important shift: the AI can move from advice into action.</a:t>
            </a:r>
          </a:p>
        </p:txBody>
      </p:sp>
      <p:sp>
        <p:nvSpPr>
          <p:cNvPr id="209" name="Stock photos: Unsplash.">
            <a:extLst xmlns:a="http://schemas.openxmlformats.org/drawingml/2006/main">
              <a:ext uri="{FF2B5EF4-FFF2-40B4-BE49-F238E27FC236}">
                <a16:creationId xmlns:a16="http://schemas.microsoft.com/office/drawing/2014/main" id="{BF28E2ED-7968-43C7-AA1E-4DE93C89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057900"/>
            <a:ext cx="3337561" cy="193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Stock photos: Unsplash.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EBBB9A6-867B-4498-BF3F-6FFDD0DA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169E16C-C175-4F60-B4BA-1E871826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0D0D0D"/>
                </a:solidFill>
              </a:defRPr>
            </a:pPr>
            <a:r>
              <a:rPr sz="3300" b="0">
                <a:solidFill>
                  <a:srgbClr val="0D0D0D"/>
                </a:solidFill>
              </a:rPr>
              <a:t>How an agent gets work done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3863B04-6406-43EE-B9DF-D3824074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192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You give the goal; it uses connected tools and brings back progress.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57F997A-B19B-48FE-924E-8100E292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Using AI Agents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166516E-5F76-4AEF-9A80-84721390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  <p:pic>
        <p:nvPicPr>
          <p:cNvPr id="3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c48ff55ea439a"/>
          <a:srcRect xmlns:a="http://schemas.openxmlformats.org/drawingml/2006/main" l="14954" t="0" r="149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943100"/>
            <a:ext cx="2362200" cy="2247900"/>
          </a:xfrm>
          <a:prstGeom xmlns:a="http://schemas.openxmlformats.org/drawingml/2006/main" prst="rect">
            <a:avLst/>
          </a:prstGeom>
        </p:spPr>
      </p:pic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F8EE413-E1C0-47C4-8D18-7784B33D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48B49F5-B94C-4A83-9324-06D65CF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67D8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C502787-A8EE-4DEE-9DC0-5A8E6D3D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204"/>
            <a:ext cx="247650" cy="136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967D8"/>
                </a:solidFill>
              </a:defRPr>
            </a:pPr>
            <a:r>
              <a:rPr sz="825" b="1">
                <a:solidFill>
                  <a:srgbClr val="4967D8"/>
                </a:solidFill>
              </a:rPr>
              <a:t>?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5FC5B5F-5295-446A-9557-04203B09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1. Ask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EFCF11D-C7B3-4E0E-8396-AB56E48B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11B326B-DDBE-4B35-AA71-2BB7CA0F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What do you want done?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7BB3CED-BE70-4EDB-B1FC-DDC327EB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-&gt;</a:t>
            </a:r>
          </a:p>
        </p:txBody>
      </p:sp>
      <p:pic>
        <p:nvPicPr>
          <p:cNvPr id="3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c3d4c8b794c64"/>
          <a:srcRect xmlns:a="http://schemas.openxmlformats.org/drawingml/2006/main" l="10593" t="0" r="105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6150" y="1943100"/>
            <a:ext cx="2362200" cy="2247900"/>
          </a:xfrm>
          <a:prstGeom xmlns:a="http://schemas.openxmlformats.org/drawingml/2006/main" prst="rect">
            <a:avLst/>
          </a:prstGeom>
        </p:spPr>
      </p:pic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DF8B97D-67CE-43D0-97BB-169007D5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909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26CE54D-FD3E-476E-93CC-C20472F6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67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0D87B3E-5163-4235-8E4C-C13C51CA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14204"/>
            <a:ext cx="247650" cy="136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6B35"/>
                </a:solidFill>
              </a:defRPr>
            </a:pPr>
            <a:r>
              <a:rPr sz="825" b="1">
                <a:solidFill>
                  <a:srgbClr val="FF6B35"/>
                </a:solidFill>
              </a:rPr>
              <a:t>⌕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DD1381B-9FBC-4763-B4FF-0314A9C7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052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2. Look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24701D1-AB1E-4598-B2CE-4DC82F41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431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0634F52-D7AF-452B-8B91-4DA54648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Find the needed context.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8989551-2FED-4E58-BB27-3085DEA7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-&gt;</a:t>
            </a:r>
          </a:p>
        </p:txBody>
      </p:sp>
      <p:pic>
        <p:nvPicPr>
          <p:cNvPr id="3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8308c15124a1d"/>
          <a:srcRect xmlns:a="http://schemas.openxmlformats.org/drawingml/2006/main" l="15059" t="0" r="150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943100"/>
            <a:ext cx="2362200" cy="2247900"/>
          </a:xfrm>
          <a:prstGeom xmlns:a="http://schemas.openxmlformats.org/drawingml/2006/main" prst="rect">
            <a:avLst/>
          </a:prstGeom>
        </p:spPr>
      </p:pic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6F592B1-EF5C-40F1-9B77-E383F1EB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2AD9620-EBB0-4040-AAF3-33EDB941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A5B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989642D-0FB7-4294-956E-A24688EB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14204"/>
            <a:ext cx="247650" cy="136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7A5B"/>
                </a:solidFill>
              </a:defRPr>
            </a:pPr>
            <a:r>
              <a:rPr sz="825" b="1">
                <a:solidFill>
                  <a:srgbClr val="167A5B"/>
                </a:solidFill>
              </a:rPr>
              <a:t>↗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D722A3B-334F-4123-88F5-8C041071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3. Do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16BCE80-DF38-45D5-A8E7-C014141C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9AE87CB-6429-45F5-8F5B-FCA597B4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Use the right app.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BD2E70E9-0138-4968-B202-303EE78B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-&gt;</a:t>
            </a:r>
          </a:p>
        </p:txBody>
      </p:sp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7410086d74b6a"/>
          <a:srcRect xmlns:a="http://schemas.openxmlformats.org/drawingml/2006/main" l="14954" t="0" r="149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1943100"/>
            <a:ext cx="2362200" cy="2247900"/>
          </a:xfrm>
          <a:prstGeom xmlns:a="http://schemas.openxmlformats.org/drawingml/2006/main" prst="rect">
            <a:avLst/>
          </a:prstGeom>
        </p:spPr>
      </p:pic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D0364539-085A-44A3-B78F-EFF6C912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C9FC74A-5CA3-4764-BBCF-BCB39AAB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67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56CF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B78FC7E-88E5-4788-8847-B331B5DB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14204"/>
            <a:ext cx="247650" cy="136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56CF"/>
                </a:solidFill>
              </a:defRPr>
            </a:pPr>
            <a:r>
              <a:rPr sz="825" b="1">
                <a:solidFill>
                  <a:srgbClr val="6E56CF"/>
                </a:solidFill>
              </a:rPr>
              <a:t>✓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3FB646E-C0C9-4FA5-B5DB-6BC00264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052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4. Report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D6A6A56C-BA15-4380-949C-A6992E20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489310D-7304-45F9-A6A8-7C5EFAEC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00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Bring back the result.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FA22BD5-2569-4F2B-8A49-0ECFD84E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673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0D0D"/>
                </a:solidFill>
              </a:defRPr>
            </a:pPr>
            <a:r>
              <a:rPr sz="1800" b="1">
                <a:solidFill>
                  <a:srgbClr val="0D0D0D"/>
                </a:solidFill>
              </a:rPr>
              <a:t>The important shift: the AI can move from advice into action.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BAA3F88-A0AC-428C-9226-3716779F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Stock photos: Unsplash.</a:t>
            </a:r>
          </a:p>
        </p:txBody>
      </p:sp>
    </p:spTree>
    <p:extLst>
      <p:ext uri="{BB962C8B-B14F-4D97-AF65-F5344CB8AC3E}">
        <p14:creationId xmlns:p14="http://schemas.microsoft.com/office/powerpoint/2010/main" val="1664767224"/>
      </p:ext>
    </p:extLst>
  </p:cSld>
</p:sld>
</file>

<file path=ppt/slides/slide1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" name="How to ask an agent">
            <a:extLst xmlns:a="http://schemas.openxmlformats.org/drawingml/2006/main">
              <a:ext uri="{FF2B5EF4-FFF2-40B4-BE49-F238E27FC236}">
                <a16:creationId xmlns:a16="http://schemas.microsoft.com/office/drawing/2014/main" id="{551F5D12-6CF4-4276-AFFC-CB2B6FF6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How to ask an agent</a:t>
            </a:r>
          </a:p>
        </p:txBody>
      </p:sp>
      <p:sp>
        <p:nvSpPr>
          <p:cNvPr id="212" name="Treat it like delegating to a helpful teammate.">
            <a:extLst xmlns:a="http://schemas.openxmlformats.org/drawingml/2006/main">
              <a:ext uri="{FF2B5EF4-FFF2-40B4-BE49-F238E27FC236}">
                <a16:creationId xmlns:a16="http://schemas.microsoft.com/office/drawing/2014/main" id="{9EAEA999-A411-40AB-8CC6-F9F2DF52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Treat it like delegating to a helpful teammate.</a:t>
            </a:r>
          </a:p>
        </p:txBody>
      </p:sp>
      <p:sp>
        <p:nvSpPr>
          <p:cNvPr id="213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ED2554F0-3110-42C8-A41E-55840C9B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214" name="10">
            <a:extLst xmlns:a="http://schemas.openxmlformats.org/drawingml/2006/main">
              <a:ext uri="{FF2B5EF4-FFF2-40B4-BE49-F238E27FC236}">
                <a16:creationId xmlns:a16="http://schemas.microsoft.com/office/drawing/2014/main" id="{A562210C-A1C6-470F-8B1A-F6856641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10</a:t>
            </a:r>
          </a:p>
        </p:txBody>
      </p:sp>
      <p:sp>
        <p:nvSpPr>
          <p:cNvPr id="215" name="Rectangle">
            <a:extLst xmlns:a="http://schemas.openxmlformats.org/drawingml/2006/main">
              <a:ext uri="{FF2B5EF4-FFF2-40B4-BE49-F238E27FC236}">
                <a16:creationId xmlns:a16="http://schemas.microsoft.com/office/drawing/2014/main" id="{52740C04-7DD6-4991-94BA-758DB3BD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552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Goal">
            <a:extLst xmlns:a="http://schemas.openxmlformats.org/drawingml/2006/main">
              <a:ext uri="{FF2B5EF4-FFF2-40B4-BE49-F238E27FC236}">
                <a16:creationId xmlns:a16="http://schemas.microsoft.com/office/drawing/2014/main" id="{70D038DB-D250-44F1-9DE5-0365B151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2324100"/>
            <a:ext cx="1527812" cy="497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Goal</a:t>
            </a:r>
          </a:p>
        </p:txBody>
      </p:sp>
      <p:sp>
        <p:nvSpPr>
          <p:cNvPr id="217" name="What should be true at the end?">
            <a:extLst xmlns:a="http://schemas.openxmlformats.org/drawingml/2006/main">
              <a:ext uri="{FF2B5EF4-FFF2-40B4-BE49-F238E27FC236}">
                <a16:creationId xmlns:a16="http://schemas.microsoft.com/office/drawing/2014/main" id="{825DE7DA-FC31-411D-8B14-6D0E11BA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366" y="2457450"/>
            <a:ext cx="2766068" cy="574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should be true at the end?</a:t>
            </a:r>
          </a:p>
        </p:txBody>
      </p:sp>
      <p:sp>
        <p:nvSpPr>
          <p:cNvPr id="218" name="Rectangle">
            <a:extLst xmlns:a="http://schemas.openxmlformats.org/drawingml/2006/main">
              <a:ext uri="{FF2B5EF4-FFF2-40B4-BE49-F238E27FC236}">
                <a16:creationId xmlns:a16="http://schemas.microsoft.com/office/drawing/2014/main" id="{8390605E-5B7C-41DD-A483-E934D134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52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9" name="Context">
            <a:extLst xmlns:a="http://schemas.openxmlformats.org/drawingml/2006/main">
              <a:ext uri="{FF2B5EF4-FFF2-40B4-BE49-F238E27FC236}">
                <a16:creationId xmlns:a16="http://schemas.microsoft.com/office/drawing/2014/main" id="{BCEC2AB6-160D-4B89-B8B8-E58159FD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918" y="2324100"/>
            <a:ext cx="1527817" cy="497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Context</a:t>
            </a:r>
          </a:p>
        </p:txBody>
      </p:sp>
      <p:sp>
        <p:nvSpPr>
          <p:cNvPr id="220" name="What should it know first?">
            <a:extLst xmlns:a="http://schemas.openxmlformats.org/drawingml/2006/main">
              <a:ext uri="{FF2B5EF4-FFF2-40B4-BE49-F238E27FC236}">
                <a16:creationId xmlns:a16="http://schemas.microsoft.com/office/drawing/2014/main" id="{9A6C9800-C287-4F35-96FB-682B0C8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768" y="2457450"/>
            <a:ext cx="2766067" cy="332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should it know first?</a:t>
            </a:r>
          </a:p>
        </p:txBody>
      </p:sp>
      <p:sp>
        <p:nvSpPr>
          <p:cNvPr id="221" name="Rectangle">
            <a:extLst xmlns:a="http://schemas.openxmlformats.org/drawingml/2006/main">
              <a:ext uri="{FF2B5EF4-FFF2-40B4-BE49-F238E27FC236}">
                <a16:creationId xmlns:a16="http://schemas.microsoft.com/office/drawing/2014/main" id="{B5272913-B6ED-4274-B18A-88017941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52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2" name="Access">
            <a:extLst xmlns:a="http://schemas.openxmlformats.org/drawingml/2006/main">
              <a:ext uri="{FF2B5EF4-FFF2-40B4-BE49-F238E27FC236}">
                <a16:creationId xmlns:a16="http://schemas.microsoft.com/office/drawing/2014/main" id="{630DB5D4-9DC8-41A1-BB5C-968BA8DF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4438651"/>
            <a:ext cx="1527812" cy="497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Access</a:t>
            </a:r>
          </a:p>
        </p:txBody>
      </p:sp>
      <p:sp>
        <p:nvSpPr>
          <p:cNvPr id="223" name="Which apps may it use?">
            <a:extLst xmlns:a="http://schemas.openxmlformats.org/drawingml/2006/main">
              <a:ext uri="{FF2B5EF4-FFF2-40B4-BE49-F238E27FC236}">
                <a16:creationId xmlns:a16="http://schemas.microsoft.com/office/drawing/2014/main" id="{5F56E9E3-EC37-49CB-9F56-7F4E1AF5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366" y="4572001"/>
            <a:ext cx="2766068" cy="332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Which apps may it use?</a:t>
            </a:r>
          </a:p>
        </p:txBody>
      </p:sp>
      <p:sp>
        <p:nvSpPr>
          <p:cNvPr id="224" name="Rectangle">
            <a:extLst xmlns:a="http://schemas.openxmlformats.org/drawingml/2006/main">
              <a:ext uri="{FF2B5EF4-FFF2-40B4-BE49-F238E27FC236}">
                <a16:creationId xmlns:a16="http://schemas.microsoft.com/office/drawing/2014/main" id="{64FAEF8D-5B38-4AA8-9216-B2BFC70C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552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5" name="Review">
            <a:extLst xmlns:a="http://schemas.openxmlformats.org/drawingml/2006/main">
              <a:ext uri="{FF2B5EF4-FFF2-40B4-BE49-F238E27FC236}">
                <a16:creationId xmlns:a16="http://schemas.microsoft.com/office/drawing/2014/main" id="{52CBD30C-971C-4909-AA2C-42418FB4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918" y="4438651"/>
            <a:ext cx="1527817" cy="497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Review</a:t>
            </a:r>
          </a:p>
        </p:txBody>
      </p:sp>
      <p:sp>
        <p:nvSpPr>
          <p:cNvPr id="226" name="What needs your approval?">
            <a:extLst xmlns:a="http://schemas.openxmlformats.org/drawingml/2006/main">
              <a:ext uri="{FF2B5EF4-FFF2-40B4-BE49-F238E27FC236}">
                <a16:creationId xmlns:a16="http://schemas.microsoft.com/office/drawing/2014/main" id="{F42800B2-41D3-484C-BE27-84EB923F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768" y="4572001"/>
            <a:ext cx="2766067" cy="332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needs your approval?</a:t>
            </a:r>
          </a:p>
        </p:txBody>
      </p:sp>
      <p:sp>
        <p:nvSpPr>
          <p:cNvPr id="227" name="Rectangle">
            <a:extLst xmlns:a="http://schemas.openxmlformats.org/drawingml/2006/main">
              <a:ext uri="{FF2B5EF4-FFF2-40B4-BE49-F238E27FC236}">
                <a16:creationId xmlns:a16="http://schemas.microsoft.com/office/drawing/2014/main" id="{CAF61EEF-7F03-45E0-954F-250E3FA0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8" name="How to ask an agent">
            <a:extLst xmlns:a="http://schemas.openxmlformats.org/drawingml/2006/main">
              <a:ext uri="{FF2B5EF4-FFF2-40B4-BE49-F238E27FC236}">
                <a16:creationId xmlns:a16="http://schemas.microsoft.com/office/drawing/2014/main" id="{C28F1156-B0D0-4DAD-9205-16E11F9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" y="400050"/>
            <a:ext cx="12100561" cy="599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33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How to ask an agent</a:t>
            </a:r>
          </a:p>
        </p:txBody>
      </p:sp>
      <p:sp>
        <p:nvSpPr>
          <p:cNvPr id="229" name="Treat it like delegating to a helpful teammate.">
            <a:extLst xmlns:a="http://schemas.openxmlformats.org/drawingml/2006/main">
              <a:ext uri="{FF2B5EF4-FFF2-40B4-BE49-F238E27FC236}">
                <a16:creationId xmlns:a16="http://schemas.microsoft.com/office/drawing/2014/main" id="{24D0B167-0AF7-4D1C-B361-32436022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" y="1219200"/>
            <a:ext cx="8671560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Treat it like delegating to a helpful teammate.</a:t>
            </a:r>
          </a:p>
        </p:txBody>
      </p:sp>
      <p:sp>
        <p:nvSpPr>
          <p:cNvPr id="230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04FC1B7E-39B2-49B9-AD70-65CDB882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343650"/>
            <a:ext cx="39090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231" name="10">
            <a:extLst xmlns:a="http://schemas.openxmlformats.org/drawingml/2006/main">
              <a:ext uri="{FF2B5EF4-FFF2-40B4-BE49-F238E27FC236}">
                <a16:creationId xmlns:a16="http://schemas.microsoft.com/office/drawing/2014/main" id="{8B4D764C-F3CF-4E30-8191-B0A666C8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9" y="6343650"/>
            <a:ext cx="38481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10</a:t>
            </a:r>
          </a:p>
        </p:txBody>
      </p:sp>
      <p:pic>
        <p:nvPicPr>
          <p:cNvPr id="314" name="image5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20f2f08314a12"/>
          <a:srcRect xmlns:a="http://schemas.openxmlformats.org/drawingml/2006/main" l="0" t="27224" r="0" b="27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478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33" name="Rectangle">
            <a:extLst xmlns:a="http://schemas.openxmlformats.org/drawingml/2006/main">
              <a:ext uri="{FF2B5EF4-FFF2-40B4-BE49-F238E27FC236}">
                <a16:creationId xmlns:a16="http://schemas.microsoft.com/office/drawing/2014/main" id="{3979C2AA-8879-4D1A-A80C-1885FCC1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4" name="Goal">
            <a:extLst xmlns:a="http://schemas.openxmlformats.org/drawingml/2006/main">
              <a:ext uri="{FF2B5EF4-FFF2-40B4-BE49-F238E27FC236}">
                <a16:creationId xmlns:a16="http://schemas.microsoft.com/office/drawing/2014/main" id="{6D820E45-DA00-45CB-B4BC-165FCB9D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9" y="2971800"/>
            <a:ext cx="1927862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Goal</a:t>
            </a:r>
          </a:p>
        </p:txBody>
      </p:sp>
      <p:sp>
        <p:nvSpPr>
          <p:cNvPr id="235" name="What should be true at the end?">
            <a:extLst xmlns:a="http://schemas.openxmlformats.org/drawingml/2006/main">
              <a:ext uri="{FF2B5EF4-FFF2-40B4-BE49-F238E27FC236}">
                <a16:creationId xmlns:a16="http://schemas.microsoft.com/office/drawing/2014/main" id="{39730803-771E-4232-9654-6C068FB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0099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should be true at the end?</a:t>
            </a:r>
          </a:p>
        </p:txBody>
      </p:sp>
      <p:sp>
        <p:nvSpPr>
          <p:cNvPr id="236" name="Rectangle">
            <a:extLst xmlns:a="http://schemas.openxmlformats.org/drawingml/2006/main">
              <a:ext uri="{FF2B5EF4-FFF2-40B4-BE49-F238E27FC236}">
                <a16:creationId xmlns:a16="http://schemas.microsoft.com/office/drawing/2014/main" id="{349509A3-CC56-435D-825E-A1C897F2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19" name="image6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bbf5b3a194d47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8478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38" name="Rectangle">
            <a:extLst xmlns:a="http://schemas.openxmlformats.org/drawingml/2006/main">
              <a:ext uri="{FF2B5EF4-FFF2-40B4-BE49-F238E27FC236}">
                <a16:creationId xmlns:a16="http://schemas.microsoft.com/office/drawing/2014/main" id="{B4246233-75E0-43C1-BC7F-F1980089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Context">
            <a:extLst xmlns:a="http://schemas.openxmlformats.org/drawingml/2006/main">
              <a:ext uri="{FF2B5EF4-FFF2-40B4-BE49-F238E27FC236}">
                <a16:creationId xmlns:a16="http://schemas.microsoft.com/office/drawing/2014/main" id="{5B3255A1-0F06-428D-AD5C-66334FDB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19" y="2971800"/>
            <a:ext cx="1927861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Context</a:t>
            </a:r>
          </a:p>
        </p:txBody>
      </p:sp>
      <p:sp>
        <p:nvSpPr>
          <p:cNvPr id="240" name="What should it know first?">
            <a:extLst xmlns:a="http://schemas.openxmlformats.org/drawingml/2006/main">
              <a:ext uri="{FF2B5EF4-FFF2-40B4-BE49-F238E27FC236}">
                <a16:creationId xmlns:a16="http://schemas.microsoft.com/office/drawing/2014/main" id="{E0DA8A85-C4BD-4356-83D4-5F441989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769" y="30099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should it know first?</a:t>
            </a:r>
          </a:p>
        </p:txBody>
      </p:sp>
      <p:sp>
        <p:nvSpPr>
          <p:cNvPr id="241" name="Rectangle">
            <a:extLst xmlns:a="http://schemas.openxmlformats.org/drawingml/2006/main">
              <a:ext uri="{FF2B5EF4-FFF2-40B4-BE49-F238E27FC236}">
                <a16:creationId xmlns:a16="http://schemas.microsoft.com/office/drawing/2014/main" id="{5CA0884A-11C3-4BB1-A021-768BE1AC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24" name="image3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58fd7440d42a1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9052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43" name="Rectangle">
            <a:extLst xmlns:a="http://schemas.openxmlformats.org/drawingml/2006/main">
              <a:ext uri="{FF2B5EF4-FFF2-40B4-BE49-F238E27FC236}">
                <a16:creationId xmlns:a16="http://schemas.microsoft.com/office/drawing/2014/main" id="{FAD20A55-7C74-494A-A236-AEE2CC61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Access">
            <a:extLst xmlns:a="http://schemas.openxmlformats.org/drawingml/2006/main">
              <a:ext uri="{FF2B5EF4-FFF2-40B4-BE49-F238E27FC236}">
                <a16:creationId xmlns:a16="http://schemas.microsoft.com/office/drawing/2014/main" id="{0CBC8080-BC01-41AC-A598-4CBA8ABC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9" y="5029200"/>
            <a:ext cx="1927862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Access</a:t>
            </a:r>
          </a:p>
        </p:txBody>
      </p:sp>
      <p:sp>
        <p:nvSpPr>
          <p:cNvPr id="245" name="Which apps may it use?">
            <a:extLst xmlns:a="http://schemas.openxmlformats.org/drawingml/2006/main">
              <a:ext uri="{FF2B5EF4-FFF2-40B4-BE49-F238E27FC236}">
                <a16:creationId xmlns:a16="http://schemas.microsoft.com/office/drawing/2014/main" id="{E82B62B1-B95E-4CC0-8C39-CBBA081D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50673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Which apps may it use?</a:t>
            </a:r>
          </a:p>
        </p:txBody>
      </p:sp>
      <p:sp>
        <p:nvSpPr>
          <p:cNvPr id="246" name="Rectangle">
            <a:extLst xmlns:a="http://schemas.openxmlformats.org/drawingml/2006/main">
              <a:ext uri="{FF2B5EF4-FFF2-40B4-BE49-F238E27FC236}">
                <a16:creationId xmlns:a16="http://schemas.microsoft.com/office/drawing/2014/main" id="{5B32CEBF-BA77-4EED-A937-5AE875EF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29" name="image4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06996842d4d23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39052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48" name="Rectangle">
            <a:extLst xmlns:a="http://schemas.openxmlformats.org/drawingml/2006/main">
              <a:ext uri="{FF2B5EF4-FFF2-40B4-BE49-F238E27FC236}">
                <a16:creationId xmlns:a16="http://schemas.microsoft.com/office/drawing/2014/main" id="{048275FC-A2C3-4506-9AD3-AFC0AE94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Review">
            <a:extLst xmlns:a="http://schemas.openxmlformats.org/drawingml/2006/main">
              <a:ext uri="{FF2B5EF4-FFF2-40B4-BE49-F238E27FC236}">
                <a16:creationId xmlns:a16="http://schemas.microsoft.com/office/drawing/2014/main" id="{B1E1A2EB-EB69-4BB4-8B46-EDC09C4B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19" y="5029200"/>
            <a:ext cx="1927861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Review</a:t>
            </a:r>
          </a:p>
        </p:txBody>
      </p:sp>
      <p:sp>
        <p:nvSpPr>
          <p:cNvPr id="250" name="What needs your approval?">
            <a:extLst xmlns:a="http://schemas.openxmlformats.org/drawingml/2006/main">
              <a:ext uri="{FF2B5EF4-FFF2-40B4-BE49-F238E27FC236}">
                <a16:creationId xmlns:a16="http://schemas.microsoft.com/office/drawing/2014/main" id="{BCCA9EAB-5ED4-4060-A222-03371247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769" y="50673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needs your approval?</a:t>
            </a:r>
          </a:p>
        </p:txBody>
      </p:sp>
      <p:sp>
        <p:nvSpPr>
          <p:cNvPr id="251" name="Rectangle">
            <a:extLst xmlns:a="http://schemas.openxmlformats.org/drawingml/2006/main">
              <a:ext uri="{FF2B5EF4-FFF2-40B4-BE49-F238E27FC236}">
                <a16:creationId xmlns:a16="http://schemas.microsoft.com/office/drawing/2014/main" id="{3D3B220B-86FD-4031-A0A3-A2B43A2A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2" name="Better prompts sound like delegation, not magic words.">
            <a:extLst xmlns:a="http://schemas.openxmlformats.org/drawingml/2006/main">
              <a:ext uri="{FF2B5EF4-FFF2-40B4-BE49-F238E27FC236}">
                <a16:creationId xmlns:a16="http://schemas.microsoft.com/office/drawing/2014/main" id="{DC2A26B4-6CCC-4EFC-B130-200419EA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970" y="5829300"/>
            <a:ext cx="7338060" cy="3073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Better prompts sound like delegation, not magic words.</a:t>
            </a:r>
          </a:p>
        </p:txBody>
      </p:sp>
      <p:sp>
        <p:nvSpPr>
          <p:cNvPr id="253" name="Stock photos: Unsplash.">
            <a:extLst xmlns:a="http://schemas.openxmlformats.org/drawingml/2006/main">
              <a:ext uri="{FF2B5EF4-FFF2-40B4-BE49-F238E27FC236}">
                <a16:creationId xmlns:a16="http://schemas.microsoft.com/office/drawing/2014/main" id="{43E19069-E56B-4CE0-884A-8338573C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057900"/>
            <a:ext cx="3337561" cy="193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Stock photos: Unsplash.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90160504-BD34-46E3-A232-603A2A6D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4535F07-65DA-44B7-BED7-56C0C942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0D0D0D"/>
                </a:solidFill>
              </a:defRPr>
            </a:pPr>
            <a:r>
              <a:rPr sz="3300" b="0">
                <a:solidFill>
                  <a:srgbClr val="0D0D0D"/>
                </a:solidFill>
              </a:rPr>
              <a:t>How to ask an agent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1FF847E-3140-49C7-B2C8-A7B6D902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192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Treat it like delegating to a helpful teammate.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052B9BC-8BEC-4096-B4F9-20ED639C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Using AI Agents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130BFCD-9792-486B-B242-44238818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  <p:pic>
        <p:nvPicPr>
          <p:cNvPr id="3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42cfa29d34b3b"/>
          <a:srcRect xmlns:a="http://schemas.openxmlformats.org/drawingml/2006/main" l="0" t="27224" r="0" b="27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478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23C18CA4-7BDE-4F16-9D21-EA88E822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DE523B7-AB5F-4BE6-8D3E-BE5CD028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67D8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B8F980C-9DC8-41D5-BE1C-FA878D6C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69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967D8"/>
                </a:solidFill>
              </a:defRPr>
            </a:pPr>
            <a:r>
              <a:rPr sz="1125" b="1">
                <a:solidFill>
                  <a:srgbClr val="4967D8"/>
                </a:solidFill>
              </a:rPr>
              <a:t>✓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37D1D73-C079-46B5-9656-312EAEBA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66A6E7E-9E59-4C4C-A68C-F7512479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What should be true at the end?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DF40A9E-E275-4EA3-A156-C26C0ADD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8580478fe400f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8478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A0A619E-C4BD-405A-BB85-004E0686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AF96BF2-4CCE-44F2-93CA-0A1F56E7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31506DDF-F98E-4E7D-BB59-E467FE8E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369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i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BB08B1A-41A3-4E35-A467-B6C773E8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37B92A5-B606-4494-98F4-1E3DD4DB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What should it know first?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95D4DEED-2D6B-4BEA-A9B6-073BC08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cad18faa84d1d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9052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F8C2D693-471A-4AEA-99FF-76662532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9314670-5646-449A-B190-795CF9B6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A5B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2CE0B0B2-BCFC-4199-B6F6-4DCA3A5D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43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A5B"/>
                </a:solidFill>
              </a:defRPr>
            </a:pPr>
            <a:r>
              <a:rPr sz="1125" b="1">
                <a:solidFill>
                  <a:srgbClr val="167A5B"/>
                </a:solidFill>
              </a:rPr>
              <a:t>↗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9FEDD2DC-2025-4026-8DC9-827A1EC3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Access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AA42762F-AFA2-42D1-BAA1-10DEDEF4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863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Which apps may it use?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1CEF78E1-F99F-4791-93CD-30BB38BD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a51ca3b974c13"/>
          <a:srcRect xmlns:a="http://schemas.openxmlformats.org/drawingml/2006/main" l="0" t="26110" r="0" b="261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39052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7ECFF2A0-078A-4A95-962F-7B699428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5113EB5-B75E-488D-B208-B30E6657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56CF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CBF40C6F-344D-47E1-B0F1-68E60781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943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E56CF"/>
                </a:solidFill>
              </a:defRPr>
            </a:pPr>
            <a:r>
              <a:rPr sz="1125" b="1">
                <a:solidFill>
                  <a:srgbClr val="6E56CF"/>
                </a:solidFill>
              </a:rPr>
              <a:t>✓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FC6453CA-F3B8-4643-BF80-61D7A864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1CB6665E-1C71-4E9D-BD40-E38D3A3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863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What needs your approval?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C0989175-24DB-4C90-8B7E-B67378A5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EB45E2AD-5104-4298-BA14-C157E416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293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0D0D"/>
                </a:solidFill>
              </a:defRPr>
            </a:pPr>
            <a:r>
              <a:rPr sz="1425" b="1">
                <a:solidFill>
                  <a:srgbClr val="0D0D0D"/>
                </a:solidFill>
              </a:rPr>
              <a:t>Better prompts sound like delegation, not magic words.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3A0C330C-BEDF-43E1-BA5B-3E55D487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Stock photos: Unsplash.</a:t>
            </a:r>
          </a:p>
        </p:txBody>
      </p:sp>
    </p:spTree>
    <p:extLst>
      <p:ext uri="{BB962C8B-B14F-4D97-AF65-F5344CB8AC3E}">
        <p14:creationId xmlns:p14="http://schemas.microsoft.com/office/powerpoint/2010/main" val="1227859040"/>
      </p:ext>
    </p:extLst>
  </p:cSld>
</p:sld>
</file>

<file path=ppt/slides/slide1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5" name="Practical agent jobs">
            <a:extLst xmlns:a="http://schemas.openxmlformats.org/drawingml/2006/main">
              <a:ext uri="{FF2B5EF4-FFF2-40B4-BE49-F238E27FC236}">
                <a16:creationId xmlns:a16="http://schemas.microsoft.com/office/drawing/2014/main" id="{7ECCF903-FD07-48AF-A624-C5488BB4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Practical agent jobs</a:t>
            </a:r>
          </a:p>
        </p:txBody>
      </p:sp>
      <p:sp>
        <p:nvSpPr>
          <p:cNvPr id="256" name="The best early use cases are specific, repeatable, and easy to check.">
            <a:extLst xmlns:a="http://schemas.openxmlformats.org/drawingml/2006/main">
              <a:ext uri="{FF2B5EF4-FFF2-40B4-BE49-F238E27FC236}">
                <a16:creationId xmlns:a16="http://schemas.microsoft.com/office/drawing/2014/main" id="{2759B5C6-9668-4440-BFA7-268ACF0F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best early use cases are specific, repeatable, and easy to check.</a:t>
            </a:r>
          </a:p>
        </p:txBody>
      </p:sp>
      <p:sp>
        <p:nvSpPr>
          <p:cNvPr id="257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739925FE-7AFD-43CD-BF7C-92AAF5E9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258" name="11">
            <a:extLst xmlns:a="http://schemas.openxmlformats.org/drawingml/2006/main">
              <a:ext uri="{FF2B5EF4-FFF2-40B4-BE49-F238E27FC236}">
                <a16:creationId xmlns:a16="http://schemas.microsoft.com/office/drawing/2014/main" id="{B507CC96-8417-4AD9-89FC-AD81BBA5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11</a:t>
            </a:r>
          </a:p>
        </p:txBody>
      </p:sp>
      <p:sp>
        <p:nvSpPr>
          <p:cNvPr id="259" name="Rectangle">
            <a:extLst xmlns:a="http://schemas.openxmlformats.org/drawingml/2006/main">
              <a:ext uri="{FF2B5EF4-FFF2-40B4-BE49-F238E27FC236}">
                <a16:creationId xmlns:a16="http://schemas.microsoft.com/office/drawing/2014/main" id="{291D9267-2B35-4376-8577-8A285C2E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Research">
            <a:extLst xmlns:a="http://schemas.openxmlformats.org/drawingml/2006/main">
              <a:ext uri="{FF2B5EF4-FFF2-40B4-BE49-F238E27FC236}">
                <a16:creationId xmlns:a16="http://schemas.microsoft.com/office/drawing/2014/main" id="{07B013F0-B839-40F7-82DA-DCF90FB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9" y="2457450"/>
            <a:ext cx="2232662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2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Research</a:t>
            </a:r>
          </a:p>
        </p:txBody>
      </p:sp>
      <p:sp>
        <p:nvSpPr>
          <p:cNvPr id="261" name="Rectangle">
            <a:extLst xmlns:a="http://schemas.openxmlformats.org/drawingml/2006/main">
              <a:ext uri="{FF2B5EF4-FFF2-40B4-BE49-F238E27FC236}">
                <a16:creationId xmlns:a16="http://schemas.microsoft.com/office/drawing/2014/main" id="{2E8B08D4-C309-4C7A-9C75-C755E519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Draft">
            <a:extLst xmlns:a="http://schemas.openxmlformats.org/drawingml/2006/main">
              <a:ext uri="{FF2B5EF4-FFF2-40B4-BE49-F238E27FC236}">
                <a16:creationId xmlns:a16="http://schemas.microsoft.com/office/drawing/2014/main" id="{BCCCDE71-FAAE-459B-81B2-2223F31F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968" y="2457450"/>
            <a:ext cx="2232667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2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Draft</a:t>
            </a:r>
          </a:p>
        </p:txBody>
      </p:sp>
      <p:sp>
        <p:nvSpPr>
          <p:cNvPr id="263" name="Rectangle">
            <a:extLst xmlns:a="http://schemas.openxmlformats.org/drawingml/2006/main">
              <a:ext uri="{FF2B5EF4-FFF2-40B4-BE49-F238E27FC236}">
                <a16:creationId xmlns:a16="http://schemas.microsoft.com/office/drawing/2014/main" id="{42086523-BE69-4FB0-B044-4A01698D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4" name="Schedule">
            <a:extLst xmlns:a="http://schemas.openxmlformats.org/drawingml/2006/main">
              <a:ext uri="{FF2B5EF4-FFF2-40B4-BE49-F238E27FC236}">
                <a16:creationId xmlns:a16="http://schemas.microsoft.com/office/drawing/2014/main" id="{84A21FA7-A8A9-4D39-BE6D-28113FEF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468" y="2457450"/>
            <a:ext cx="2232667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200"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Schedule</a:t>
            </a:r>
          </a:p>
        </p:txBody>
      </p:sp>
      <p:sp>
        <p:nvSpPr>
          <p:cNvPr id="265" name="Rectangle">
            <a:extLst xmlns:a="http://schemas.openxmlformats.org/drawingml/2006/main">
              <a:ext uri="{FF2B5EF4-FFF2-40B4-BE49-F238E27FC236}">
                <a16:creationId xmlns:a16="http://schemas.microsoft.com/office/drawing/2014/main" id="{A23EFBBC-6953-40C0-86D8-59E9FAE1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6" name="Build">
            <a:extLst xmlns:a="http://schemas.openxmlformats.org/drawingml/2006/main">
              <a:ext uri="{FF2B5EF4-FFF2-40B4-BE49-F238E27FC236}">
                <a16:creationId xmlns:a16="http://schemas.microsoft.com/office/drawing/2014/main" id="{3BA7BC05-7FC3-4855-90CF-983C35B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9" y="4038601"/>
            <a:ext cx="2232662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200" b="1">
                <a:solidFill>
                  <a:srgbClr val="6E56C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Build</a:t>
            </a:r>
          </a:p>
        </p:txBody>
      </p:sp>
      <p:sp>
        <p:nvSpPr>
          <p:cNvPr id="267" name="Rectangle">
            <a:extLst xmlns:a="http://schemas.openxmlformats.org/drawingml/2006/main">
              <a:ext uri="{FF2B5EF4-FFF2-40B4-BE49-F238E27FC236}">
                <a16:creationId xmlns:a16="http://schemas.microsoft.com/office/drawing/2014/main" id="{C3B93300-3939-40EF-B584-38CF9BDC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8" name="Support">
            <a:extLst xmlns:a="http://schemas.openxmlformats.org/drawingml/2006/main">
              <a:ext uri="{FF2B5EF4-FFF2-40B4-BE49-F238E27FC236}">
                <a16:creationId xmlns:a16="http://schemas.microsoft.com/office/drawing/2014/main" id="{55191393-12CE-4669-A0CC-D1A81954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968" y="4038601"/>
            <a:ext cx="2232667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2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Support</a:t>
            </a:r>
          </a:p>
        </p:txBody>
      </p:sp>
      <p:sp>
        <p:nvSpPr>
          <p:cNvPr id="269" name="Rectangle">
            <a:extLst xmlns:a="http://schemas.openxmlformats.org/drawingml/2006/main">
              <a:ext uri="{FF2B5EF4-FFF2-40B4-BE49-F238E27FC236}">
                <a16:creationId xmlns:a16="http://schemas.microsoft.com/office/drawing/2014/main" id="{93887768-DB29-4EF7-96B8-E08056B2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766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Shop / source">
            <a:extLst xmlns:a="http://schemas.openxmlformats.org/drawingml/2006/main">
              <a:ext uri="{FF2B5EF4-FFF2-40B4-BE49-F238E27FC236}">
                <a16:creationId xmlns:a16="http://schemas.microsoft.com/office/drawing/2014/main" id="{6FD4111C-8221-4111-8BB6-689E12A1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468" y="4038601"/>
            <a:ext cx="2232667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2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Shop / source</a:t>
            </a:r>
          </a:p>
        </p:txBody>
      </p:sp>
      <p:sp>
        <p:nvSpPr>
          <p:cNvPr id="271" name="Pick one job where the steps are clear and the outcome is visible.">
            <a:extLst xmlns:a="http://schemas.openxmlformats.org/drawingml/2006/main">
              <a:ext uri="{FF2B5EF4-FFF2-40B4-BE49-F238E27FC236}">
                <a16:creationId xmlns:a16="http://schemas.microsoft.com/office/drawing/2014/main" id="{400B01D3-C690-4951-A0C9-02F6BED6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68" y="5448301"/>
            <a:ext cx="8481064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Pick one job where the steps are clear and the outcome is visible.</a:t>
            </a:r>
          </a:p>
        </p:txBody>
      </p:sp>
      <p:sp>
        <p:nvSpPr>
          <p:cNvPr id="272" name="Rectangle">
            <a:extLst xmlns:a="http://schemas.openxmlformats.org/drawingml/2006/main">
              <a:ext uri="{FF2B5EF4-FFF2-40B4-BE49-F238E27FC236}">
                <a16:creationId xmlns:a16="http://schemas.microsoft.com/office/drawing/2014/main" id="{9269172E-AA10-4491-8F7A-C0126491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3" name="Practical agent jobs">
            <a:extLst xmlns:a="http://schemas.openxmlformats.org/drawingml/2006/main">
              <a:ext uri="{FF2B5EF4-FFF2-40B4-BE49-F238E27FC236}">
                <a16:creationId xmlns:a16="http://schemas.microsoft.com/office/drawing/2014/main" id="{86A7AEA1-064A-4885-836E-3AF29CA1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" y="400050"/>
            <a:ext cx="12100563" cy="5994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33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Practical agent jobs</a:t>
            </a:r>
          </a:p>
        </p:txBody>
      </p:sp>
      <p:sp>
        <p:nvSpPr>
          <p:cNvPr id="274" name="The best early use cases are specific, repeatable, and easy to check.">
            <a:extLst xmlns:a="http://schemas.openxmlformats.org/drawingml/2006/main">
              <a:ext uri="{FF2B5EF4-FFF2-40B4-BE49-F238E27FC236}">
                <a16:creationId xmlns:a16="http://schemas.microsoft.com/office/drawing/2014/main" id="{2DBB34CC-EF1E-4213-8819-361EA0A0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" y="1219200"/>
            <a:ext cx="8481060" cy="3200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best early use cases are specific, repeatable, and easy to check.</a:t>
            </a:r>
          </a:p>
        </p:txBody>
      </p:sp>
      <p:pic>
        <p:nvPicPr>
          <p:cNvPr id="354" name="image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c8390db9e4657"/>
          <a:srcRect xmlns:a="http://schemas.openxmlformats.org/drawingml/2006/main" l="0" t="21801" r="0" b="21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90698"/>
            <a:ext cx="5219700" cy="165735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76" name="Rectangle">
            <a:extLst xmlns:a="http://schemas.openxmlformats.org/drawingml/2006/main">
              <a:ext uri="{FF2B5EF4-FFF2-40B4-BE49-F238E27FC236}">
                <a16:creationId xmlns:a16="http://schemas.microsoft.com/office/drawing/2014/main" id="{2A7D1144-1964-41AA-98B2-44EE73C9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21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7" name="Research">
            <a:extLst xmlns:a="http://schemas.openxmlformats.org/drawingml/2006/main">
              <a:ext uri="{FF2B5EF4-FFF2-40B4-BE49-F238E27FC236}">
                <a16:creationId xmlns:a16="http://schemas.microsoft.com/office/drawing/2014/main" id="{D1F02BEE-6A00-40D3-B9A7-534FBDD3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69" y="2990850"/>
            <a:ext cx="1623062" cy="3327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Research</a:t>
            </a:r>
          </a:p>
        </p:txBody>
      </p:sp>
      <p:sp>
        <p:nvSpPr>
          <p:cNvPr id="278" name="Pull facts into a brief.">
            <a:extLst xmlns:a="http://schemas.openxmlformats.org/drawingml/2006/main">
              <a:ext uri="{FF2B5EF4-FFF2-40B4-BE49-F238E27FC236}">
                <a16:creationId xmlns:a16="http://schemas.microsoft.com/office/drawing/2014/main" id="{AA63E843-7891-4C69-BE29-D7A6F9AB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3028950"/>
            <a:ext cx="2823212" cy="2565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100">
                <a:solidFill>
                  <a:srgbClr val="E6E6E6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Pull facts into a brief.</a:t>
            </a:r>
          </a:p>
        </p:txBody>
      </p:sp>
      <p:pic>
        <p:nvPicPr>
          <p:cNvPr id="358" name="image2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cb393cbb34d5b"/>
          <a:srcRect xmlns:a="http://schemas.openxmlformats.org/drawingml/2006/main" l="0" t="26198" r="0" b="26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790700"/>
            <a:ext cx="5219700" cy="16573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80" name="Rectangle">
            <a:extLst xmlns:a="http://schemas.openxmlformats.org/drawingml/2006/main">
              <a:ext uri="{FF2B5EF4-FFF2-40B4-BE49-F238E27FC236}">
                <a16:creationId xmlns:a16="http://schemas.microsoft.com/office/drawing/2014/main" id="{56B3E4C3-29F6-459C-B780-97DEFAAE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521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1" name="Draft">
            <a:extLst xmlns:a="http://schemas.openxmlformats.org/drawingml/2006/main">
              <a:ext uri="{FF2B5EF4-FFF2-40B4-BE49-F238E27FC236}">
                <a16:creationId xmlns:a16="http://schemas.microsoft.com/office/drawing/2014/main" id="{1F862FBC-DB9A-458F-A45E-D87DB6F2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68" y="2990850"/>
            <a:ext cx="1623062" cy="3327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Draft</a:t>
            </a:r>
          </a:p>
        </p:txBody>
      </p:sp>
      <p:sp>
        <p:nvSpPr>
          <p:cNvPr id="282" name="Turn notes into a first pass.">
            <a:extLst xmlns:a="http://schemas.openxmlformats.org/drawingml/2006/main">
              <a:ext uri="{FF2B5EF4-FFF2-40B4-BE49-F238E27FC236}">
                <a16:creationId xmlns:a16="http://schemas.microsoft.com/office/drawing/2014/main" id="{D15BE871-1A3C-4321-B91D-DE8D1B88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8" y="3028950"/>
            <a:ext cx="2823212" cy="2565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100">
                <a:solidFill>
                  <a:srgbClr val="E6E6E6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Turn notes into a first pass.</a:t>
            </a:r>
          </a:p>
        </p:txBody>
      </p:sp>
      <p:pic>
        <p:nvPicPr>
          <p:cNvPr id="362" name="image3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5d4b83f704f63"/>
          <a:srcRect xmlns:a="http://schemas.openxmlformats.org/drawingml/2006/main" l="0" t="26198" r="0" b="26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886200"/>
            <a:ext cx="5219700" cy="16573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84" name="Rectangle">
            <a:extLst xmlns:a="http://schemas.openxmlformats.org/drawingml/2006/main">
              <a:ext uri="{FF2B5EF4-FFF2-40B4-BE49-F238E27FC236}">
                <a16:creationId xmlns:a16="http://schemas.microsoft.com/office/drawing/2014/main" id="{E94BC2C9-2120-47EB-B2B4-350C674A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521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5" name="Support">
            <a:extLst xmlns:a="http://schemas.openxmlformats.org/drawingml/2006/main">
              <a:ext uri="{FF2B5EF4-FFF2-40B4-BE49-F238E27FC236}">
                <a16:creationId xmlns:a16="http://schemas.microsoft.com/office/drawing/2014/main" id="{40B8AF1E-FCF0-4FD8-9F34-3FC26626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69" y="5086351"/>
            <a:ext cx="1623062" cy="3327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Support</a:t>
            </a:r>
          </a:p>
        </p:txBody>
      </p:sp>
      <p:sp>
        <p:nvSpPr>
          <p:cNvPr id="286" name="Answer, route, escalate.">
            <a:extLst xmlns:a="http://schemas.openxmlformats.org/drawingml/2006/main">
              <a:ext uri="{FF2B5EF4-FFF2-40B4-BE49-F238E27FC236}">
                <a16:creationId xmlns:a16="http://schemas.microsoft.com/office/drawing/2014/main" id="{D1AB9854-182D-4112-9753-DF7E2F1E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5124451"/>
            <a:ext cx="2823212" cy="2565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100">
                <a:solidFill>
                  <a:srgbClr val="E6E6E6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Answer, route, escalate.</a:t>
            </a:r>
          </a:p>
        </p:txBody>
      </p:sp>
      <p:pic>
        <p:nvPicPr>
          <p:cNvPr id="366" name="image4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e319e2e5e4d74"/>
          <a:srcRect xmlns:a="http://schemas.openxmlformats.org/drawingml/2006/main" l="0" t="26126" r="0" b="261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3886200"/>
            <a:ext cx="5219700" cy="16573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88" name="Rectangle">
            <a:extLst xmlns:a="http://schemas.openxmlformats.org/drawingml/2006/main">
              <a:ext uri="{FF2B5EF4-FFF2-40B4-BE49-F238E27FC236}">
                <a16:creationId xmlns:a16="http://schemas.microsoft.com/office/drawing/2014/main" id="{D76728A4-3EE8-4239-81B4-79DB2DA4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521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9" name="Shop / source">
            <a:extLst xmlns:a="http://schemas.openxmlformats.org/drawingml/2006/main">
              <a:ext uri="{FF2B5EF4-FFF2-40B4-BE49-F238E27FC236}">
                <a16:creationId xmlns:a16="http://schemas.microsoft.com/office/drawing/2014/main" id="{3826FFD6-175B-4198-B632-48F5BCE2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68" y="5086351"/>
            <a:ext cx="1623062" cy="3327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Shop / source</a:t>
            </a:r>
          </a:p>
        </p:txBody>
      </p:sp>
      <p:sp>
        <p:nvSpPr>
          <p:cNvPr id="290" name="Compare options and order.">
            <a:extLst xmlns:a="http://schemas.openxmlformats.org/drawingml/2006/main">
              <a:ext uri="{FF2B5EF4-FFF2-40B4-BE49-F238E27FC236}">
                <a16:creationId xmlns:a16="http://schemas.microsoft.com/office/drawing/2014/main" id="{6066D60B-572B-4164-8710-74D0E34B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8" y="5124451"/>
            <a:ext cx="2823212" cy="2565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100">
                <a:solidFill>
                  <a:srgbClr val="E6E6E6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Compare options and order.</a:t>
            </a:r>
          </a:p>
        </p:txBody>
      </p:sp>
      <p:sp>
        <p:nvSpPr>
          <p:cNvPr id="291" name="Pick one job where the steps are clear and the outcome is visible.">
            <a:extLst xmlns:a="http://schemas.openxmlformats.org/drawingml/2006/main">
              <a:ext uri="{FF2B5EF4-FFF2-40B4-BE49-F238E27FC236}">
                <a16:creationId xmlns:a16="http://schemas.microsoft.com/office/drawing/2014/main" id="{75F98D2D-36DD-45BE-ADC8-02E21C8B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670" y="5867401"/>
            <a:ext cx="7566660" cy="2946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3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Pick one job where the steps are clear and the outcome is visible.</a:t>
            </a:r>
          </a:p>
        </p:txBody>
      </p:sp>
      <p:sp>
        <p:nvSpPr>
          <p:cNvPr id="292" name="Stock photos: Unsplash.">
            <a:extLst xmlns:a="http://schemas.openxmlformats.org/drawingml/2006/main">
              <a:ext uri="{FF2B5EF4-FFF2-40B4-BE49-F238E27FC236}">
                <a16:creationId xmlns:a16="http://schemas.microsoft.com/office/drawing/2014/main" id="{4063297D-E5C5-4B5C-AB24-58DDA00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057901"/>
            <a:ext cx="3337562" cy="1930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Stock photos: Unsplash.</a:t>
            </a:r>
          </a:p>
        </p:txBody>
      </p:sp>
      <p:sp>
        <p:nvSpPr>
          <p:cNvPr id="293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FC544242-F734-4721-8D13-8467F3AF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343651"/>
            <a:ext cx="3909062" cy="2438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294" name="11">
            <a:extLst xmlns:a="http://schemas.openxmlformats.org/drawingml/2006/main">
              <a:ext uri="{FF2B5EF4-FFF2-40B4-BE49-F238E27FC236}">
                <a16:creationId xmlns:a16="http://schemas.microsoft.com/office/drawing/2014/main" id="{BA517538-11AA-4AC2-A5C4-DB4528D2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2" cy="2438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11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FF8AEFC5-F8CD-4795-A4E1-D934D387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BAA4D61C-CDFE-4375-A121-10581C79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0D0D0D"/>
                </a:solidFill>
              </a:defRPr>
            </a:pPr>
            <a:r>
              <a:rPr sz="3300" b="0">
                <a:solidFill>
                  <a:srgbClr val="0D0D0D"/>
                </a:solidFill>
              </a:rPr>
              <a:t>Practical agent jobs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3FD31F8-43BA-4E0E-93BF-355D956D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192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best early use cases are specific, repeatable, and easy to check.</a:t>
            </a: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FC43CE72-FAF8-4F95-AEBD-561B46FF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Using AI Agents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7A83AA77-F558-435F-8217-F1C23E42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  <p:pic>
        <p:nvPicPr>
          <p:cNvPr id="3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21f4aa8f44a42"/>
          <a:srcRect xmlns:a="http://schemas.openxmlformats.org/drawingml/2006/main" l="0" t="28596" r="0" b="285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90700"/>
            <a:ext cx="5219700" cy="1485900"/>
          </a:xfrm>
          <a:prstGeom xmlns:a="http://schemas.openxmlformats.org/drawingml/2006/main" prst="rect">
            <a:avLst/>
          </a:prstGeom>
        </p:spPr>
      </p:pic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4E7772AF-D56B-40DA-AB6E-1166754B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DF328BD9-9DD8-4C75-B850-32B40584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67D8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4A30B53-4FBF-49B4-8FAD-26DF69EA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45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967D8"/>
                </a:solidFill>
              </a:defRPr>
            </a:pPr>
            <a:r>
              <a:rPr sz="1125" b="1">
                <a:solidFill>
                  <a:srgbClr val="4967D8"/>
                </a:solidFill>
              </a:rPr>
              <a:t>⌕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B0F4A80-B450-41B7-9F3B-31A2A452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Research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029D47E5-C8B2-4F41-A25B-094CEB2D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Pull facts into a brief.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CC15467-2F14-4C07-A482-67B5A743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4afcad1d1425e"/>
          <a:srcRect xmlns:a="http://schemas.openxmlformats.org/drawingml/2006/main" l="0" t="28660" r="0" b="28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790700"/>
            <a:ext cx="5219700" cy="1485900"/>
          </a:xfrm>
          <a:prstGeom xmlns:a="http://schemas.openxmlformats.org/drawingml/2006/main" prst="rect">
            <a:avLst/>
          </a:prstGeom>
        </p:spPr>
      </p:pic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DD3CFEC5-03EF-417C-A5F0-D9492E07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5A069220-9370-4910-B9A2-D03D4C64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194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01482445-4394-4704-8A54-E8BB5129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845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✎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7AFDEF8-130C-4DE4-9A7C-26638078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384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Draft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74D690C-395F-47D4-A927-D22E210B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765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Turn notes into a first pass.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C83CEAF8-D33B-4FCB-BB4F-09483B0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fa78d459248c7"/>
          <a:srcRect xmlns:a="http://schemas.openxmlformats.org/drawingml/2006/main" l="0" t="28660" r="0" b="28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829050"/>
            <a:ext cx="5219700" cy="1485900"/>
          </a:xfrm>
          <a:prstGeom xmlns:a="http://schemas.openxmlformats.org/drawingml/2006/main" prst="rect">
            <a:avLst/>
          </a:prstGeom>
        </p:spPr>
      </p:pic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9A55F45E-CD16-48D7-95CD-AA93D670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B47D2890-59AC-41B1-BF45-828B7791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A5B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CF1C5C40-3BB5-44D6-B866-D374970B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290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A5B"/>
                </a:solidFill>
              </a:defRPr>
            </a:pPr>
            <a:r>
              <a:rPr sz="1125" b="1">
                <a:solidFill>
                  <a:srgbClr val="167A5B"/>
                </a:solidFill>
              </a:rPr>
              <a:t>!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5652372-D654-4DE6-A553-030657EF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B72C8B37-5FB0-4C66-9DC6-95C4A454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149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Answer, route, escalate.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6C47C0EF-D04C-4E11-85FE-38F63F67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6f1b3c7d5468d"/>
          <a:srcRect xmlns:a="http://schemas.openxmlformats.org/drawingml/2006/main" l="0" t="39322" r="0" b="39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3829050"/>
            <a:ext cx="5219700" cy="1485900"/>
          </a:xfrm>
          <a:prstGeom xmlns:a="http://schemas.openxmlformats.org/drawingml/2006/main" prst="rect">
            <a:avLst/>
          </a:prstGeom>
        </p:spPr>
      </p:pic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66F7B77A-1198-4481-A867-5554C552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D363FA5A-FFDF-45DD-9E29-55AC7559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7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56CF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8A2C042B-D01B-43B1-A542-88D00A5C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2290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E56CF"/>
                </a:solidFill>
              </a:defRPr>
            </a:pPr>
            <a:r>
              <a:rPr sz="1125" b="1">
                <a:solidFill>
                  <a:srgbClr val="6E56CF"/>
                </a:solidFill>
              </a:rPr>
              <a:t>$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95BBEA48-D089-44E4-AD3D-55008A1C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768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Shop / source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89C8C8B-1943-4181-96A7-92C3006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149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Compare options and order.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39E06F41-8B61-4437-B01F-D76FB218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4CC0EE12-A46E-4120-A005-EA239BF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91200"/>
            <a:ext cx="765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D0D0D"/>
                </a:solidFill>
              </a:defRPr>
            </a:pPr>
            <a:r>
              <a:rPr sz="1350" b="0">
                <a:solidFill>
                  <a:srgbClr val="0D0D0D"/>
                </a:solidFill>
              </a:rPr>
              <a:t>Pick one job where the steps are clear and the outcome is visible.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E9C94391-E0AE-4CF8-B686-7979D839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Stock photos: Unsplash.</a:t>
            </a:r>
          </a:p>
        </p:txBody>
      </p:sp>
    </p:spTree>
    <p:extLst>
      <p:ext uri="{BB962C8B-B14F-4D97-AF65-F5344CB8AC3E}">
        <p14:creationId xmlns:p14="http://schemas.microsoft.com/office/powerpoint/2010/main" val="450405729"/>
      </p:ext>
    </p:extLst>
  </p:cSld>
</p:sld>
</file>

<file path=ppt/slides/slide1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6" name="What is a tool?">
            <a:extLst xmlns:a="http://schemas.openxmlformats.org/drawingml/2006/main">
              <a:ext uri="{FF2B5EF4-FFF2-40B4-BE49-F238E27FC236}">
                <a16:creationId xmlns:a16="http://schemas.microsoft.com/office/drawing/2014/main" id="{837C93C5-B12D-4C48-B33D-62C6CE00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is a tool?</a:t>
            </a:r>
          </a:p>
        </p:txBody>
      </p:sp>
      <p:sp>
        <p:nvSpPr>
          <p:cNvPr id="297" name="A tool is just a connection that lets the AI do something.">
            <a:extLst xmlns:a="http://schemas.openxmlformats.org/drawingml/2006/main">
              <a:ext uri="{FF2B5EF4-FFF2-40B4-BE49-F238E27FC236}">
                <a16:creationId xmlns:a16="http://schemas.microsoft.com/office/drawing/2014/main" id="{27D9D237-0ECB-47A5-AA3C-5973CD6C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 tool is just a connection that lets the AI do something.</a:t>
            </a:r>
          </a:p>
        </p:txBody>
      </p:sp>
      <p:sp>
        <p:nvSpPr>
          <p:cNvPr id="298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0181A195-AE1B-4513-954E-8BD44150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299" name="12">
            <a:extLst xmlns:a="http://schemas.openxmlformats.org/drawingml/2006/main">
              <a:ext uri="{FF2B5EF4-FFF2-40B4-BE49-F238E27FC236}">
                <a16:creationId xmlns:a16="http://schemas.microsoft.com/office/drawing/2014/main" id="{1CE77EE9-1E63-4F91-B225-DCC5BE94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12</a:t>
            </a:r>
          </a:p>
        </p:txBody>
      </p:sp>
      <p:sp>
        <p:nvSpPr>
          <p:cNvPr id="300" name="Rectangle">
            <a:extLst xmlns:a="http://schemas.openxmlformats.org/drawingml/2006/main">
              <a:ext uri="{FF2B5EF4-FFF2-40B4-BE49-F238E27FC236}">
                <a16:creationId xmlns:a16="http://schemas.microsoft.com/office/drawing/2014/main" id="{47397953-840E-4309-886F-E83FC8F8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145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1" name="Search">
            <a:extLst xmlns:a="http://schemas.openxmlformats.org/drawingml/2006/main">
              <a:ext uri="{FF2B5EF4-FFF2-40B4-BE49-F238E27FC236}">
                <a16:creationId xmlns:a16="http://schemas.microsoft.com/office/drawing/2014/main" id="{F0EF51AE-02E5-476B-AF8C-1AD5598B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19" y="2409825"/>
            <a:ext cx="1718312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1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Search</a:t>
            </a:r>
          </a:p>
        </p:txBody>
      </p:sp>
      <p:sp>
        <p:nvSpPr>
          <p:cNvPr id="302" name="Rectangle">
            <a:extLst xmlns:a="http://schemas.openxmlformats.org/drawingml/2006/main">
              <a:ext uri="{FF2B5EF4-FFF2-40B4-BE49-F238E27FC236}">
                <a16:creationId xmlns:a16="http://schemas.microsoft.com/office/drawing/2014/main" id="{1C6DD166-2083-4068-A460-45307D6B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3" name="Calendar">
            <a:extLst xmlns:a="http://schemas.openxmlformats.org/drawingml/2006/main">
              <a:ext uri="{FF2B5EF4-FFF2-40B4-BE49-F238E27FC236}">
                <a16:creationId xmlns:a16="http://schemas.microsoft.com/office/drawing/2014/main" id="{8F048C3C-870B-402E-A56C-EB102F46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68" y="2409825"/>
            <a:ext cx="1718314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100"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Calendar</a:t>
            </a:r>
          </a:p>
        </p:txBody>
      </p:sp>
      <p:sp>
        <p:nvSpPr>
          <p:cNvPr id="304" name="Rectangle">
            <a:extLst xmlns:a="http://schemas.openxmlformats.org/drawingml/2006/main">
              <a:ext uri="{FF2B5EF4-FFF2-40B4-BE49-F238E27FC236}">
                <a16:creationId xmlns:a16="http://schemas.microsoft.com/office/drawing/2014/main" id="{4DDF7EBE-67DE-470A-82DC-A7736AA7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5" name="Email">
            <a:extLst xmlns:a="http://schemas.openxmlformats.org/drawingml/2006/main">
              <a:ext uri="{FF2B5EF4-FFF2-40B4-BE49-F238E27FC236}">
                <a16:creationId xmlns:a16="http://schemas.microsoft.com/office/drawing/2014/main" id="{3FB53869-0D3F-46D8-B9E5-F7A4B196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818" y="2409825"/>
            <a:ext cx="1718314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1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Email</a:t>
            </a:r>
          </a:p>
        </p:txBody>
      </p:sp>
      <p:sp>
        <p:nvSpPr>
          <p:cNvPr id="306" name="Rectangle">
            <a:extLst xmlns:a="http://schemas.openxmlformats.org/drawingml/2006/main">
              <a:ext uri="{FF2B5EF4-FFF2-40B4-BE49-F238E27FC236}">
                <a16:creationId xmlns:a16="http://schemas.microsoft.com/office/drawing/2014/main" id="{0D6064C3-0F8F-49A6-BFE4-7B03E5A7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7" name="Files">
            <a:extLst xmlns:a="http://schemas.openxmlformats.org/drawingml/2006/main">
              <a:ext uri="{FF2B5EF4-FFF2-40B4-BE49-F238E27FC236}">
                <a16:creationId xmlns:a16="http://schemas.microsoft.com/office/drawing/2014/main" id="{0EB9C80B-AA82-499D-A471-D18D4230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19" y="3933826"/>
            <a:ext cx="1718312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100" b="1">
                <a:solidFill>
                  <a:srgbClr val="6E56C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Files</a:t>
            </a:r>
          </a:p>
        </p:txBody>
      </p:sp>
      <p:sp>
        <p:nvSpPr>
          <p:cNvPr id="308" name="Rectangle">
            <a:extLst xmlns:a="http://schemas.openxmlformats.org/drawingml/2006/main">
              <a:ext uri="{FF2B5EF4-FFF2-40B4-BE49-F238E27FC236}">
                <a16:creationId xmlns:a16="http://schemas.microsoft.com/office/drawing/2014/main" id="{43C43CAD-A049-4778-8268-5D41D735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9" name="Shop">
            <a:extLst xmlns:a="http://schemas.openxmlformats.org/drawingml/2006/main">
              <a:ext uri="{FF2B5EF4-FFF2-40B4-BE49-F238E27FC236}">
                <a16:creationId xmlns:a16="http://schemas.microsoft.com/office/drawing/2014/main" id="{C5F3BFF6-9C51-4D39-84F6-DA1DB779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68" y="3933826"/>
            <a:ext cx="1718314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1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Shop</a:t>
            </a:r>
          </a:p>
        </p:txBody>
      </p:sp>
      <p:sp>
        <p:nvSpPr>
          <p:cNvPr id="310" name="Rectangle">
            <a:extLst xmlns:a="http://schemas.openxmlformats.org/drawingml/2006/main">
              <a:ext uri="{FF2B5EF4-FFF2-40B4-BE49-F238E27FC236}">
                <a16:creationId xmlns:a16="http://schemas.microsoft.com/office/drawing/2014/main" id="{442CB18B-3520-4DFA-86FE-BEAD0E0F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385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1" name="Database">
            <a:extLst xmlns:a="http://schemas.openxmlformats.org/drawingml/2006/main">
              <a:ext uri="{FF2B5EF4-FFF2-40B4-BE49-F238E27FC236}">
                <a16:creationId xmlns:a16="http://schemas.microsoft.com/office/drawing/2014/main" id="{12CE090F-BB36-4FCB-98F2-42F93140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818" y="3933826"/>
            <a:ext cx="1718314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1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Database</a:t>
            </a:r>
          </a:p>
        </p:txBody>
      </p:sp>
      <p:sp>
        <p:nvSpPr>
          <p:cNvPr id="312" name="Agents become useful when they can safely use the same apps people use.">
            <a:extLst xmlns:a="http://schemas.openxmlformats.org/drawingml/2006/main">
              <a:ext uri="{FF2B5EF4-FFF2-40B4-BE49-F238E27FC236}">
                <a16:creationId xmlns:a16="http://schemas.microsoft.com/office/drawing/2014/main" id="{4C247B5F-4B41-4B4C-91F0-B14504E0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68" y="5429251"/>
            <a:ext cx="8862064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Agents become useful when they can safely use the same apps people use.</a:t>
            </a:r>
          </a:p>
        </p:txBody>
      </p:sp>
      <p:sp>
        <p:nvSpPr>
          <p:cNvPr id="313" name="Rectangle">
            <a:extLst xmlns:a="http://schemas.openxmlformats.org/drawingml/2006/main">
              <a:ext uri="{FF2B5EF4-FFF2-40B4-BE49-F238E27FC236}">
                <a16:creationId xmlns:a16="http://schemas.microsoft.com/office/drawing/2014/main" id="{3E3F6496-F901-4E2F-A76B-FDD3CEED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4" name="What is a tool?">
            <a:extLst xmlns:a="http://schemas.openxmlformats.org/drawingml/2006/main">
              <a:ext uri="{FF2B5EF4-FFF2-40B4-BE49-F238E27FC236}">
                <a16:creationId xmlns:a16="http://schemas.microsoft.com/office/drawing/2014/main" id="{588A0B1F-AA73-4F9E-87BB-C6DC1306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" y="400050"/>
            <a:ext cx="12100561" cy="599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33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is a tool?</a:t>
            </a:r>
          </a:p>
        </p:txBody>
      </p:sp>
      <p:sp>
        <p:nvSpPr>
          <p:cNvPr id="315" name="A tool is just a connection that lets the AI do something.">
            <a:extLst xmlns:a="http://schemas.openxmlformats.org/drawingml/2006/main">
              <a:ext uri="{FF2B5EF4-FFF2-40B4-BE49-F238E27FC236}">
                <a16:creationId xmlns:a16="http://schemas.microsoft.com/office/drawing/2014/main" id="{93CCB652-CFC4-4210-9048-C9DFC854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" y="1219200"/>
            <a:ext cx="8671560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 tool is just a connection that lets the AI do something.</a:t>
            </a:r>
          </a:p>
        </p:txBody>
      </p:sp>
      <p:sp>
        <p:nvSpPr>
          <p:cNvPr id="316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7036BBA7-07A5-44DE-AD81-5FBA818B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343650"/>
            <a:ext cx="39090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317" name="12">
            <a:extLst xmlns:a="http://schemas.openxmlformats.org/drawingml/2006/main">
              <a:ext uri="{FF2B5EF4-FFF2-40B4-BE49-F238E27FC236}">
                <a16:creationId xmlns:a16="http://schemas.microsoft.com/office/drawing/2014/main" id="{889F31C5-1BAF-4EBC-9AAA-B4DA8E30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9" y="6343650"/>
            <a:ext cx="38481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12</a:t>
            </a:r>
          </a:p>
        </p:txBody>
      </p:sp>
      <p:pic>
        <p:nvPicPr>
          <p:cNvPr id="408" name="image2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b1105dffd4a96"/>
          <a:srcRect xmlns:a="http://schemas.openxmlformats.org/drawingml/2006/main" l="0" t="14040" r="0" b="140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24049"/>
            <a:ext cx="3105150" cy="1257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19" name="Rectangle">
            <a:extLst xmlns:a="http://schemas.openxmlformats.org/drawingml/2006/main">
              <a:ext uri="{FF2B5EF4-FFF2-40B4-BE49-F238E27FC236}">
                <a16:creationId xmlns:a16="http://schemas.microsoft.com/office/drawing/2014/main" id="{D36A72B3-7E5F-41D5-8D75-2CECDB54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05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0" name="Search">
            <a:extLst xmlns:a="http://schemas.openxmlformats.org/drawingml/2006/main">
              <a:ext uri="{FF2B5EF4-FFF2-40B4-BE49-F238E27FC236}">
                <a16:creationId xmlns:a16="http://schemas.microsoft.com/office/drawing/2014/main" id="{BBBEF367-88EC-46AB-9497-43C5278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69" y="2895600"/>
            <a:ext cx="2747012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Search</a:t>
            </a:r>
          </a:p>
        </p:txBody>
      </p:sp>
      <p:sp>
        <p:nvSpPr>
          <p:cNvPr id="321" name="Rectangle">
            <a:extLst xmlns:a="http://schemas.openxmlformats.org/drawingml/2006/main">
              <a:ext uri="{FF2B5EF4-FFF2-40B4-BE49-F238E27FC236}">
                <a16:creationId xmlns:a16="http://schemas.microsoft.com/office/drawing/2014/main" id="{2E9F8981-FEC4-4DF8-BCC3-700C3324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12" name="image14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bc996fc2049ed"/>
          <a:srcRect xmlns:a="http://schemas.openxmlformats.org/drawingml/2006/main" l="0" t="19693" r="0" b="19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1924050"/>
            <a:ext cx="3105150" cy="1257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23" name="Rectangle">
            <a:extLst xmlns:a="http://schemas.openxmlformats.org/drawingml/2006/main">
              <a:ext uri="{FF2B5EF4-FFF2-40B4-BE49-F238E27FC236}">
                <a16:creationId xmlns:a16="http://schemas.microsoft.com/office/drawing/2014/main" id="{C600BA6C-1601-40F9-8DD8-019F11E4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105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4" name="Calendar">
            <a:extLst xmlns:a="http://schemas.openxmlformats.org/drawingml/2006/main">
              <a:ext uri="{FF2B5EF4-FFF2-40B4-BE49-F238E27FC236}">
                <a16:creationId xmlns:a16="http://schemas.microsoft.com/office/drawing/2014/main" id="{DD24DF99-EBA1-4043-82FB-563AACC0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670" y="2895600"/>
            <a:ext cx="2747011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Calendar</a:t>
            </a:r>
          </a:p>
        </p:txBody>
      </p:sp>
      <p:sp>
        <p:nvSpPr>
          <p:cNvPr id="325" name="Rectangle">
            <a:extLst xmlns:a="http://schemas.openxmlformats.org/drawingml/2006/main">
              <a:ext uri="{FF2B5EF4-FFF2-40B4-BE49-F238E27FC236}">
                <a16:creationId xmlns:a16="http://schemas.microsoft.com/office/drawing/2014/main" id="{66D2DEEA-9796-471A-8B91-8B19F5F0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240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16" name="image15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f56ea5e8f4bf4"/>
          <a:srcRect xmlns:a="http://schemas.openxmlformats.org/drawingml/2006/main" l="0" t="19693" r="0" b="19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1924050"/>
            <a:ext cx="3105150" cy="1257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27" name="Rectangle">
            <a:extLst xmlns:a="http://schemas.openxmlformats.org/drawingml/2006/main">
              <a:ext uri="{FF2B5EF4-FFF2-40B4-BE49-F238E27FC236}">
                <a16:creationId xmlns:a16="http://schemas.microsoft.com/office/drawing/2014/main" id="{1A7ADAE9-0806-4A6B-9172-D4D7A7F8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3105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8" name="Email">
            <a:extLst xmlns:a="http://schemas.openxmlformats.org/drawingml/2006/main">
              <a:ext uri="{FF2B5EF4-FFF2-40B4-BE49-F238E27FC236}">
                <a16:creationId xmlns:a16="http://schemas.microsoft.com/office/drawing/2014/main" id="{F6DB3E96-7F38-4792-817D-C12B9732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469" y="2895600"/>
            <a:ext cx="2747011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Email</a:t>
            </a:r>
          </a:p>
        </p:txBody>
      </p:sp>
      <p:sp>
        <p:nvSpPr>
          <p:cNvPr id="329" name="Rectangle">
            <a:extLst xmlns:a="http://schemas.openxmlformats.org/drawingml/2006/main">
              <a:ext uri="{FF2B5EF4-FFF2-40B4-BE49-F238E27FC236}">
                <a16:creationId xmlns:a16="http://schemas.microsoft.com/office/drawing/2014/main" id="{D91EF670-D417-42EF-BB4E-30C2EE2D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0" name="image4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63c7010614e6c"/>
          <a:srcRect xmlns:a="http://schemas.openxmlformats.org/drawingml/2006/main" l="0" t="19647" r="0" b="19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581400"/>
            <a:ext cx="3105150" cy="1257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31" name="Rectangle">
            <a:extLst xmlns:a="http://schemas.openxmlformats.org/drawingml/2006/main">
              <a:ext uri="{FF2B5EF4-FFF2-40B4-BE49-F238E27FC236}">
                <a16:creationId xmlns:a16="http://schemas.microsoft.com/office/drawing/2014/main" id="{EE527932-32C2-4B23-810A-C4CB8FA8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105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2" name="Files">
            <a:extLst xmlns:a="http://schemas.openxmlformats.org/drawingml/2006/main">
              <a:ext uri="{FF2B5EF4-FFF2-40B4-BE49-F238E27FC236}">
                <a16:creationId xmlns:a16="http://schemas.microsoft.com/office/drawing/2014/main" id="{5081CCE3-A70C-453B-BF74-68D6430B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69" y="4552950"/>
            <a:ext cx="2747012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Files</a:t>
            </a:r>
          </a:p>
        </p:txBody>
      </p:sp>
      <p:sp>
        <p:nvSpPr>
          <p:cNvPr id="333" name="Rectangle">
            <a:extLst xmlns:a="http://schemas.openxmlformats.org/drawingml/2006/main">
              <a:ext uri="{FF2B5EF4-FFF2-40B4-BE49-F238E27FC236}">
                <a16:creationId xmlns:a16="http://schemas.microsoft.com/office/drawing/2014/main" id="{7AF6B8D6-FC45-4272-ABD7-4E0DC1DE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4" name="image12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f2013eb3b4ab3"/>
          <a:srcRect xmlns:a="http://schemas.openxmlformats.org/drawingml/2006/main" l="0" t="19556" r="0" b="19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3581400"/>
            <a:ext cx="3105150" cy="1257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35" name="Rectangle">
            <a:extLst xmlns:a="http://schemas.openxmlformats.org/drawingml/2006/main">
              <a:ext uri="{FF2B5EF4-FFF2-40B4-BE49-F238E27FC236}">
                <a16:creationId xmlns:a16="http://schemas.microsoft.com/office/drawing/2014/main" id="{AB1BED5B-E14F-413D-83B1-051D109C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38650"/>
            <a:ext cx="3105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6" name="Shop">
            <a:extLst xmlns:a="http://schemas.openxmlformats.org/drawingml/2006/main">
              <a:ext uri="{FF2B5EF4-FFF2-40B4-BE49-F238E27FC236}">
                <a16:creationId xmlns:a16="http://schemas.microsoft.com/office/drawing/2014/main" id="{3F5A3772-7A2B-4DE2-90CF-C0427AF8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670" y="4552950"/>
            <a:ext cx="2747011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Shop</a:t>
            </a:r>
          </a:p>
        </p:txBody>
      </p:sp>
      <p:sp>
        <p:nvSpPr>
          <p:cNvPr id="337" name="Rectangle">
            <a:extLst xmlns:a="http://schemas.openxmlformats.org/drawingml/2006/main">
              <a:ext uri="{FF2B5EF4-FFF2-40B4-BE49-F238E27FC236}">
                <a16:creationId xmlns:a16="http://schemas.microsoft.com/office/drawing/2014/main" id="{ECDAA768-8579-48CC-B979-B564BC9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8" name="image3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20b1c9d0a42cc"/>
          <a:srcRect xmlns:a="http://schemas.openxmlformats.org/drawingml/2006/main" l="0" t="19647" r="0" b="19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3581400"/>
            <a:ext cx="3105150" cy="1257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39" name="Rectangle">
            <a:extLst xmlns:a="http://schemas.openxmlformats.org/drawingml/2006/main">
              <a:ext uri="{FF2B5EF4-FFF2-40B4-BE49-F238E27FC236}">
                <a16:creationId xmlns:a16="http://schemas.microsoft.com/office/drawing/2014/main" id="{E80CBCC0-D8EC-412F-9C56-41ECB874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38650"/>
            <a:ext cx="3105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0" name="Database">
            <a:extLst xmlns:a="http://schemas.openxmlformats.org/drawingml/2006/main">
              <a:ext uri="{FF2B5EF4-FFF2-40B4-BE49-F238E27FC236}">
                <a16:creationId xmlns:a16="http://schemas.microsoft.com/office/drawing/2014/main" id="{D90A804F-B35D-4B91-9911-22F41E84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469" y="4552950"/>
            <a:ext cx="2747011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Database</a:t>
            </a:r>
          </a:p>
        </p:txBody>
      </p:sp>
      <p:sp>
        <p:nvSpPr>
          <p:cNvPr id="341" name="Rectangle">
            <a:extLst xmlns:a="http://schemas.openxmlformats.org/drawingml/2006/main">
              <a:ext uri="{FF2B5EF4-FFF2-40B4-BE49-F238E27FC236}">
                <a16:creationId xmlns:a16="http://schemas.microsoft.com/office/drawing/2014/main" id="{695E88A9-070A-4A6E-B07C-CF5ECC65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814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2" name="Agents become useful when they can safely use the same apps people use.">
            <a:extLst xmlns:a="http://schemas.openxmlformats.org/drawingml/2006/main">
              <a:ext uri="{FF2B5EF4-FFF2-40B4-BE49-F238E27FC236}">
                <a16:creationId xmlns:a16="http://schemas.microsoft.com/office/drawing/2014/main" id="{47399C67-E051-49DC-9BF5-C0884977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" y="5429250"/>
            <a:ext cx="8671560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Agents become useful when they can safely use the same apps people use.</a:t>
            </a:r>
          </a:p>
        </p:txBody>
      </p:sp>
      <p:sp>
        <p:nvSpPr>
          <p:cNvPr id="343" name="Stock photos: Unsplash.">
            <a:extLst xmlns:a="http://schemas.openxmlformats.org/drawingml/2006/main">
              <a:ext uri="{FF2B5EF4-FFF2-40B4-BE49-F238E27FC236}">
                <a16:creationId xmlns:a16="http://schemas.microsoft.com/office/drawing/2014/main" id="{6514A1D1-C34A-48B0-B0DA-AEB0653E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057900"/>
            <a:ext cx="3337561" cy="193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Stock photos: Unsplash.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F80E19F5-FC67-4735-86F4-7ABE4F97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647DB017-7348-4649-B13A-F9676428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0D0D0D"/>
                </a:solidFill>
              </a:defRPr>
            </a:pPr>
            <a:r>
              <a:rPr sz="3300" b="0">
                <a:solidFill>
                  <a:srgbClr val="0D0D0D"/>
                </a:solidFill>
              </a:rPr>
              <a:t>What is a tool?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7609F0D6-89CB-49FC-A635-0FE7B221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192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 tool is just a connection that lets the AI do something.</a:t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9270C272-199A-4FB1-848B-A1EDFE1A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Using AI Agents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C6663511-A8F1-4224-9089-892D2CEA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0C83121D-7FB5-4855-A947-BDD576E4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4C2CA152-5DB6-4F02-9AF3-440A8806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67D8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4D939E48-6C89-44BD-8ED3-F4D07CF1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829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967D8"/>
                </a:solidFill>
              </a:defRPr>
            </a:pPr>
            <a:r>
              <a:rPr sz="1800" b="1">
                <a:solidFill>
                  <a:srgbClr val="4967D8"/>
                </a:solidFill>
              </a:rPr>
              <a:t>⌕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C0A9A0A6-58D4-4260-973F-0C275E57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967D8"/>
                </a:solidFill>
              </a:defRPr>
            </a:pPr>
            <a:r>
              <a:rPr sz="1725" b="1">
                <a:solidFill>
                  <a:srgbClr val="4967D8"/>
                </a:solidFill>
              </a:rPr>
              <a:t>Search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5D22CDD1-A264-4C61-B554-02529ED7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Find current information.</a:t>
            </a: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064F4F14-2339-4951-A95F-CDC53DBB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D11F0E42-78BC-45D8-86C0-4B5B9155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36687E33-4CA3-4E7E-AAF4-2AE87BF9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829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◷</a:t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E09310A2-2930-4C52-BE48-A30689C9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860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Calendar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D40E95C4-777D-4D50-9E8C-4980F208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479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Read or create events.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E97FF4BA-E5FB-4554-B861-25FB4E36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0025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5C2561FB-0110-4F35-B0C5-9305DB40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A5B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FC381104-D405-44C9-8C12-24106B6F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829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A5B"/>
                </a:solidFill>
              </a:defRPr>
            </a:pPr>
            <a:r>
              <a:rPr sz="1800" b="1">
                <a:solidFill>
                  <a:srgbClr val="167A5B"/>
                </a:solidFill>
              </a:rPr>
              <a:t>@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3C1605A6-9C72-4F81-AC66-A9630563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A5B"/>
                </a:solidFill>
              </a:defRPr>
            </a:pPr>
            <a:r>
              <a:rPr sz="1725" b="1">
                <a:solidFill>
                  <a:srgbClr val="167A5B"/>
                </a:solidFill>
              </a:rPr>
              <a:t>Email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25CEF61-8F92-4DFC-91DA-34F268F8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Draft or send messages.</a:t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022D076A-1426-4730-938B-58D4BC83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6561057A-BC4D-466A-AD4E-4F1EB54E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71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56CF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63B423C3-46E4-4730-A690-7D42F6F4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7324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56CF"/>
                </a:solidFill>
              </a:defRPr>
            </a:pPr>
            <a:r>
              <a:rPr sz="1800" b="1">
                <a:solidFill>
                  <a:srgbClr val="6E56CF"/>
                </a:solidFill>
              </a:rPr>
              <a:t>▤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59541C17-4849-4256-82D5-C724C004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909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E56CF"/>
                </a:solidFill>
              </a:defRPr>
            </a:pPr>
            <a:r>
              <a:rPr sz="1725" b="1">
                <a:solidFill>
                  <a:srgbClr val="6E56CF"/>
                </a:solidFill>
              </a:rPr>
              <a:t>Files</a:t>
            </a: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ECC29AE1-7B30-4CEA-AAD2-AA31B7AD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Open and edit documents.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964B4B2C-5CAD-452B-985D-7ADA7B12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0520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0476C4BB-DC46-4F4C-B199-291A8E32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71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0D0D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F0D8450-DCF6-4601-8A88-0F2DCF23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7324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0D0D"/>
                </a:solidFill>
              </a:defRPr>
            </a:pPr>
            <a:r>
              <a:rPr sz="1800" b="1">
                <a:solidFill>
                  <a:srgbClr val="0D0D0D"/>
                </a:solidFill>
              </a:rPr>
              <a:t>$</a:t>
            </a: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3AE16241-6ECE-4DAA-B59E-225983C6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909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D0D"/>
                </a:solidFill>
              </a:defRPr>
            </a:pPr>
            <a:r>
              <a:rPr sz="1725" b="1">
                <a:solidFill>
                  <a:srgbClr val="0D0D0D"/>
                </a:solidFill>
              </a:rPr>
              <a:t>Shop</a:t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24324F38-B33F-49C8-BA79-D96C7925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5290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Compare and purchase.</a:t>
            </a: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5013C03A-2C9A-41F6-A1B9-8B13D810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0520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5672AF1-01E0-461F-85F5-6D2A38FC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67D8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75C72EC5-FF24-4DD0-9A52-72BAC262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7324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967D8"/>
                </a:solidFill>
              </a:defRPr>
            </a:pPr>
            <a:r>
              <a:rPr sz="1800" b="1">
                <a:solidFill>
                  <a:srgbClr val="4967D8"/>
                </a:solidFill>
              </a:rPr>
              <a:t>DB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A29A2C3A-5409-4C23-9468-E518E61A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909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967D8"/>
                </a:solidFill>
              </a:defRPr>
            </a:pPr>
            <a:r>
              <a:rPr sz="1725" b="1">
                <a:solidFill>
                  <a:srgbClr val="4967D8"/>
                </a:solidFill>
              </a:rPr>
              <a:t>Database</a:t>
            </a: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45EA2A70-8711-43B2-936C-E2887611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5290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Look up records.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EDFE7309-13D6-4CCD-8124-66A6C60B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D0D0D"/>
                </a:solidFill>
              </a:defRPr>
            </a:pPr>
            <a:r>
              <a:rPr sz="1575" b="1">
                <a:solidFill>
                  <a:srgbClr val="0D0D0D"/>
                </a:solidFill>
              </a:rPr>
              <a:t>Agents become useful when they can safely use the same apps people use.</a:t>
            </a:r>
          </a:p>
        </p:txBody>
      </p:sp>
    </p:spTree>
    <p:extLst>
      <p:ext uri="{BB962C8B-B14F-4D97-AF65-F5344CB8AC3E}">
        <p14:creationId xmlns:p14="http://schemas.microsoft.com/office/powerpoint/2010/main" val="1564723996"/>
      </p:ext>
    </p:extLst>
  </p:cSld>
</p:sld>
</file>

<file path=ppt/slides/slide1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Everyday places agents show up">
            <a:extLst xmlns:a="http://schemas.openxmlformats.org/drawingml/2006/main">
              <a:ext uri="{FF2B5EF4-FFF2-40B4-BE49-F238E27FC236}">
                <a16:creationId xmlns:a16="http://schemas.microsoft.com/office/drawing/2014/main" id="{838BC931-D2CC-45EF-8BEF-E1F40D9E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Everyday places agents show up</a:t>
            </a:r>
          </a:p>
        </p:txBody>
      </p:sp>
      <p:sp>
        <p:nvSpPr>
          <p:cNvPr id="346" name="Agents are starting to appear inside tools people already understand.">
            <a:extLst xmlns:a="http://schemas.openxmlformats.org/drawingml/2006/main">
              <a:ext uri="{FF2B5EF4-FFF2-40B4-BE49-F238E27FC236}">
                <a16:creationId xmlns:a16="http://schemas.microsoft.com/office/drawing/2014/main" id="{C42AA15B-EC31-4462-BC67-A87FB4CA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Agents are starting to appear inside tools people already understand.</a:t>
            </a:r>
          </a:p>
        </p:txBody>
      </p:sp>
      <p:sp>
        <p:nvSpPr>
          <p:cNvPr id="347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91D8F979-B99D-4798-8E38-D4171E8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348" name="13">
            <a:extLst xmlns:a="http://schemas.openxmlformats.org/drawingml/2006/main">
              <a:ext uri="{FF2B5EF4-FFF2-40B4-BE49-F238E27FC236}">
                <a16:creationId xmlns:a16="http://schemas.microsoft.com/office/drawing/2014/main" id="{160D4ED2-19BC-4A77-8B95-E1DB4D3D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13</a:t>
            </a:r>
          </a:p>
        </p:txBody>
      </p:sp>
      <p:sp>
        <p:nvSpPr>
          <p:cNvPr id="349" name="Rectangle">
            <a:extLst xmlns:a="http://schemas.openxmlformats.org/drawingml/2006/main">
              <a:ext uri="{FF2B5EF4-FFF2-40B4-BE49-F238E27FC236}">
                <a16:creationId xmlns:a16="http://schemas.microsoft.com/office/drawing/2014/main" id="{17473D94-37AA-4EAB-B072-A4A3FC9D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343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0" name="Team chat">
            <a:extLst xmlns:a="http://schemas.openxmlformats.org/drawingml/2006/main">
              <a:ext uri="{FF2B5EF4-FFF2-40B4-BE49-F238E27FC236}">
                <a16:creationId xmlns:a16="http://schemas.microsoft.com/office/drawing/2014/main" id="{18E087FC-D73D-406A-A31E-416F55A3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19" y="2305050"/>
            <a:ext cx="2766062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Team chat</a:t>
            </a:r>
          </a:p>
        </p:txBody>
      </p:sp>
      <p:sp>
        <p:nvSpPr>
          <p:cNvPr id="351" name="summaries, drafts, follow-ups">
            <a:extLst xmlns:a="http://schemas.openxmlformats.org/drawingml/2006/main">
              <a:ext uri="{FF2B5EF4-FFF2-40B4-BE49-F238E27FC236}">
                <a16:creationId xmlns:a16="http://schemas.microsoft.com/office/drawing/2014/main" id="{7C4C80E9-EC7F-4064-9EBE-0237C698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19" y="2762250"/>
            <a:ext cx="3051812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summaries, drafts, follow-ups</a:t>
            </a:r>
          </a:p>
        </p:txBody>
      </p:sp>
      <p:sp>
        <p:nvSpPr>
          <p:cNvPr id="352" name="Rectangle">
            <a:extLst xmlns:a="http://schemas.openxmlformats.org/drawingml/2006/main">
              <a:ext uri="{FF2B5EF4-FFF2-40B4-BE49-F238E27FC236}">
                <a16:creationId xmlns:a16="http://schemas.microsoft.com/office/drawing/2014/main" id="{F4285C4C-515A-4502-82C6-EF93464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4343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3" name="Customer support">
            <a:extLst xmlns:a="http://schemas.openxmlformats.org/drawingml/2006/main">
              <a:ext uri="{FF2B5EF4-FFF2-40B4-BE49-F238E27FC236}">
                <a16:creationId xmlns:a16="http://schemas.microsoft.com/office/drawing/2014/main" id="{2C93C855-A891-4B11-AADB-1DEC44D7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18" y="2305050"/>
            <a:ext cx="2766067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Customer support</a:t>
            </a:r>
          </a:p>
        </p:txBody>
      </p:sp>
      <p:sp>
        <p:nvSpPr>
          <p:cNvPr id="354" name="answer, route, escalate">
            <a:extLst xmlns:a="http://schemas.openxmlformats.org/drawingml/2006/main">
              <a:ext uri="{FF2B5EF4-FFF2-40B4-BE49-F238E27FC236}">
                <a16:creationId xmlns:a16="http://schemas.microsoft.com/office/drawing/2014/main" id="{4316AB15-7F4D-40E6-97C1-E435E42C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18" y="2762250"/>
            <a:ext cx="3051817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answer, route, escalate</a:t>
            </a:r>
          </a:p>
        </p:txBody>
      </p:sp>
      <p:sp>
        <p:nvSpPr>
          <p:cNvPr id="355" name="Rectangle">
            <a:extLst xmlns:a="http://schemas.openxmlformats.org/drawingml/2006/main">
              <a:ext uri="{FF2B5EF4-FFF2-40B4-BE49-F238E27FC236}">
                <a16:creationId xmlns:a16="http://schemas.microsoft.com/office/drawing/2014/main" id="{B93D916A-B63A-46CD-966A-245A1F76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343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6" name="Office work">
            <a:extLst xmlns:a="http://schemas.openxmlformats.org/drawingml/2006/main">
              <a:ext uri="{FF2B5EF4-FFF2-40B4-BE49-F238E27FC236}">
                <a16:creationId xmlns:a16="http://schemas.microsoft.com/office/drawing/2014/main" id="{16E04D25-AA29-4A02-91C4-A9B03EED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19" y="3981451"/>
            <a:ext cx="2766062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Office work</a:t>
            </a:r>
          </a:p>
        </p:txBody>
      </p:sp>
      <p:sp>
        <p:nvSpPr>
          <p:cNvPr id="357" name="research, write, schedule">
            <a:extLst xmlns:a="http://schemas.openxmlformats.org/drawingml/2006/main">
              <a:ext uri="{FF2B5EF4-FFF2-40B4-BE49-F238E27FC236}">
                <a16:creationId xmlns:a16="http://schemas.microsoft.com/office/drawing/2014/main" id="{5E682408-3A5D-4FFD-9556-193665D8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19" y="4438651"/>
            <a:ext cx="3051812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research, write, schedule</a:t>
            </a:r>
          </a:p>
        </p:txBody>
      </p:sp>
      <p:sp>
        <p:nvSpPr>
          <p:cNvPr id="358" name="Rectangle">
            <a:extLst xmlns:a="http://schemas.openxmlformats.org/drawingml/2006/main">
              <a:ext uri="{FF2B5EF4-FFF2-40B4-BE49-F238E27FC236}">
                <a16:creationId xmlns:a16="http://schemas.microsoft.com/office/drawing/2014/main" id="{C88F9180-DC45-49C3-A7E0-071FBE03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4343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9" name="Shopping / sourcing">
            <a:extLst xmlns:a="http://schemas.openxmlformats.org/drawingml/2006/main">
              <a:ext uri="{FF2B5EF4-FFF2-40B4-BE49-F238E27FC236}">
                <a16:creationId xmlns:a16="http://schemas.microsoft.com/office/drawing/2014/main" id="{2B421E3E-5C38-4202-A73D-CE4D9D0B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18" y="3981451"/>
            <a:ext cx="2766067" cy="4089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6E56C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Shopping / sourcing</a:t>
            </a:r>
          </a:p>
        </p:txBody>
      </p:sp>
      <p:sp>
        <p:nvSpPr>
          <p:cNvPr id="360" name="compare, quote, order">
            <a:extLst xmlns:a="http://schemas.openxmlformats.org/drawingml/2006/main">
              <a:ext uri="{FF2B5EF4-FFF2-40B4-BE49-F238E27FC236}">
                <a16:creationId xmlns:a16="http://schemas.microsoft.com/office/drawing/2014/main" id="{3177681E-A624-4B1F-AD38-B0FEE4CF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18" y="4438651"/>
            <a:ext cx="3051817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compare, quote, order</a:t>
            </a:r>
          </a:p>
        </p:txBody>
      </p:sp>
      <p:sp>
        <p:nvSpPr>
          <p:cNvPr id="361" name="The pattern is practical: understand the request, use the right app, return the result.">
            <a:extLst xmlns:a="http://schemas.openxmlformats.org/drawingml/2006/main">
              <a:ext uri="{FF2B5EF4-FFF2-40B4-BE49-F238E27FC236}">
                <a16:creationId xmlns:a16="http://schemas.microsoft.com/office/drawing/2014/main" id="{094D4BBD-3E5E-4261-9325-BCE4F8F5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15" y="5391151"/>
            <a:ext cx="9585970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pattern is practical: understand the request, use the right app, return the result.</a:t>
            </a:r>
          </a:p>
        </p:txBody>
      </p:sp>
      <p:sp>
        <p:nvSpPr>
          <p:cNvPr id="362" name="Rectangle">
            <a:extLst xmlns:a="http://schemas.openxmlformats.org/drawingml/2006/main">
              <a:ext uri="{FF2B5EF4-FFF2-40B4-BE49-F238E27FC236}">
                <a16:creationId xmlns:a16="http://schemas.microsoft.com/office/drawing/2014/main" id="{23B08C39-6BD5-46BB-B50A-43382FC8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3" name="Everyday places agents show up">
            <a:extLst xmlns:a="http://schemas.openxmlformats.org/drawingml/2006/main">
              <a:ext uri="{FF2B5EF4-FFF2-40B4-BE49-F238E27FC236}">
                <a16:creationId xmlns:a16="http://schemas.microsoft.com/office/drawing/2014/main" id="{4FC222BA-D5A5-4D49-8738-98FA66E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" y="400050"/>
            <a:ext cx="12100561" cy="599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33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Everyday places agents show up</a:t>
            </a:r>
          </a:p>
        </p:txBody>
      </p:sp>
      <p:sp>
        <p:nvSpPr>
          <p:cNvPr id="364" name="Agents are starting to appear inside tools people already understand.">
            <a:extLst xmlns:a="http://schemas.openxmlformats.org/drawingml/2006/main">
              <a:ext uri="{FF2B5EF4-FFF2-40B4-BE49-F238E27FC236}">
                <a16:creationId xmlns:a16="http://schemas.microsoft.com/office/drawing/2014/main" id="{0DB110B4-E460-40C8-8E00-3E935F1A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" y="1219200"/>
            <a:ext cx="8671560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Agents are starting to appear inside tools people already understand.</a:t>
            </a:r>
          </a:p>
        </p:txBody>
      </p:sp>
      <p:sp>
        <p:nvSpPr>
          <p:cNvPr id="365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AE623674-BD0C-4AF1-A2BD-E79967A1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343650"/>
            <a:ext cx="39090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366" name="13">
            <a:extLst xmlns:a="http://schemas.openxmlformats.org/drawingml/2006/main">
              <a:ext uri="{FF2B5EF4-FFF2-40B4-BE49-F238E27FC236}">
                <a16:creationId xmlns:a16="http://schemas.microsoft.com/office/drawing/2014/main" id="{914A32CE-2EEC-43E0-99D6-0F978146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9" y="6343650"/>
            <a:ext cx="38481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13</a:t>
            </a:r>
          </a:p>
        </p:txBody>
      </p:sp>
      <p:pic>
        <p:nvPicPr>
          <p:cNvPr id="450" name="image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6c30a48474fc6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478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68" name="Rectangle">
            <a:extLst xmlns:a="http://schemas.openxmlformats.org/drawingml/2006/main">
              <a:ext uri="{FF2B5EF4-FFF2-40B4-BE49-F238E27FC236}">
                <a16:creationId xmlns:a16="http://schemas.microsoft.com/office/drawing/2014/main" id="{83C56A26-50F4-499B-B2E3-9C94800F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9" name="Team chat">
            <a:extLst xmlns:a="http://schemas.openxmlformats.org/drawingml/2006/main">
              <a:ext uri="{FF2B5EF4-FFF2-40B4-BE49-F238E27FC236}">
                <a16:creationId xmlns:a16="http://schemas.microsoft.com/office/drawing/2014/main" id="{9E1B6FAE-6824-417A-8F40-BF331BC7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9" y="2971800"/>
            <a:ext cx="1927862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Team chat</a:t>
            </a:r>
          </a:p>
        </p:txBody>
      </p:sp>
      <p:sp>
        <p:nvSpPr>
          <p:cNvPr id="370" name="Summaries, drafts, follow-ups.">
            <a:extLst xmlns:a="http://schemas.openxmlformats.org/drawingml/2006/main">
              <a:ext uri="{FF2B5EF4-FFF2-40B4-BE49-F238E27FC236}">
                <a16:creationId xmlns:a16="http://schemas.microsoft.com/office/drawing/2014/main" id="{7F53883A-59E8-4DAF-AAAA-EF1AC1B0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0099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Summaries, drafts, follow-ups.</a:t>
            </a:r>
          </a:p>
        </p:txBody>
      </p:sp>
      <p:sp>
        <p:nvSpPr>
          <p:cNvPr id="371" name="Rectangle">
            <a:extLst xmlns:a="http://schemas.openxmlformats.org/drawingml/2006/main">
              <a:ext uri="{FF2B5EF4-FFF2-40B4-BE49-F238E27FC236}">
                <a16:creationId xmlns:a16="http://schemas.microsoft.com/office/drawing/2014/main" id="{175A9297-03E1-4BAB-8F73-5DABC456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55" name="image11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e1d4660714fc5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8478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73" name="Rectangle">
            <a:extLst xmlns:a="http://schemas.openxmlformats.org/drawingml/2006/main">
              <a:ext uri="{FF2B5EF4-FFF2-40B4-BE49-F238E27FC236}">
                <a16:creationId xmlns:a16="http://schemas.microsoft.com/office/drawing/2014/main" id="{5A3918DD-782E-4591-AA70-02A8749A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4" name="Support">
            <a:extLst xmlns:a="http://schemas.openxmlformats.org/drawingml/2006/main">
              <a:ext uri="{FF2B5EF4-FFF2-40B4-BE49-F238E27FC236}">
                <a16:creationId xmlns:a16="http://schemas.microsoft.com/office/drawing/2014/main" id="{296AC5CE-8F8D-4D40-ACC4-EC5B67FE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19" y="2971800"/>
            <a:ext cx="1927861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Support</a:t>
            </a:r>
          </a:p>
        </p:txBody>
      </p:sp>
      <p:sp>
        <p:nvSpPr>
          <p:cNvPr id="375" name="Answer, route, escalate.">
            <a:extLst xmlns:a="http://schemas.openxmlformats.org/drawingml/2006/main">
              <a:ext uri="{FF2B5EF4-FFF2-40B4-BE49-F238E27FC236}">
                <a16:creationId xmlns:a16="http://schemas.microsoft.com/office/drawing/2014/main" id="{3EB5F8A2-7612-45A4-BF7C-E2C4B67E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769" y="30099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Answer, route, escalate.</a:t>
            </a:r>
          </a:p>
        </p:txBody>
      </p:sp>
      <p:sp>
        <p:nvSpPr>
          <p:cNvPr id="376" name="Rectangle">
            <a:extLst xmlns:a="http://schemas.openxmlformats.org/drawingml/2006/main">
              <a:ext uri="{FF2B5EF4-FFF2-40B4-BE49-F238E27FC236}">
                <a16:creationId xmlns:a16="http://schemas.microsoft.com/office/drawing/2014/main" id="{A39D2CCC-0180-4D64-B226-F58DB059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60" name="image15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122bfaa6349b1"/>
          <a:srcRect xmlns:a="http://schemas.openxmlformats.org/drawingml/2006/main" l="0" t="27326" r="0" b="273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9052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78" name="Rectangle">
            <a:extLst xmlns:a="http://schemas.openxmlformats.org/drawingml/2006/main">
              <a:ext uri="{FF2B5EF4-FFF2-40B4-BE49-F238E27FC236}">
                <a16:creationId xmlns:a16="http://schemas.microsoft.com/office/drawing/2014/main" id="{3C426CB3-C5BF-4D2D-9876-6CDA53C6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9" name="Office work">
            <a:extLst xmlns:a="http://schemas.openxmlformats.org/drawingml/2006/main">
              <a:ext uri="{FF2B5EF4-FFF2-40B4-BE49-F238E27FC236}">
                <a16:creationId xmlns:a16="http://schemas.microsoft.com/office/drawing/2014/main" id="{6A851A94-D565-48BD-A9F5-1A9B809F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9" y="5029200"/>
            <a:ext cx="1927862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Office work</a:t>
            </a:r>
          </a:p>
        </p:txBody>
      </p:sp>
      <p:sp>
        <p:nvSpPr>
          <p:cNvPr id="380" name="Research, write, schedule.">
            <a:extLst xmlns:a="http://schemas.openxmlformats.org/drawingml/2006/main">
              <a:ext uri="{FF2B5EF4-FFF2-40B4-BE49-F238E27FC236}">
                <a16:creationId xmlns:a16="http://schemas.microsoft.com/office/drawing/2014/main" id="{E3BEAE98-C224-467A-9F72-A5E8CB88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50673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Research, write, schedule.</a:t>
            </a:r>
          </a:p>
        </p:txBody>
      </p:sp>
      <p:sp>
        <p:nvSpPr>
          <p:cNvPr id="381" name="Rectangle">
            <a:extLst xmlns:a="http://schemas.openxmlformats.org/drawingml/2006/main">
              <a:ext uri="{FF2B5EF4-FFF2-40B4-BE49-F238E27FC236}">
                <a16:creationId xmlns:a16="http://schemas.microsoft.com/office/drawing/2014/main" id="{AC3A9582-6EE0-4E38-9C9C-613BB5F9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65" name="image12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5d6f20334431a"/>
          <a:srcRect xmlns:a="http://schemas.openxmlformats.org/drawingml/2006/main" l="0" t="27224" r="0" b="27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39052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83" name="Rectangle">
            <a:extLst xmlns:a="http://schemas.openxmlformats.org/drawingml/2006/main">
              <a:ext uri="{FF2B5EF4-FFF2-40B4-BE49-F238E27FC236}">
                <a16:creationId xmlns:a16="http://schemas.microsoft.com/office/drawing/2014/main" id="{491D65F6-B6C0-4427-81DD-B7691865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4" name="Sourcing">
            <a:extLst xmlns:a="http://schemas.openxmlformats.org/drawingml/2006/main">
              <a:ext uri="{FF2B5EF4-FFF2-40B4-BE49-F238E27FC236}">
                <a16:creationId xmlns:a16="http://schemas.microsoft.com/office/drawing/2014/main" id="{05ECCE81-2CCC-4632-BF50-DB98C93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19" y="5029200"/>
            <a:ext cx="1927861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Sourcing</a:t>
            </a:r>
          </a:p>
        </p:txBody>
      </p:sp>
      <p:sp>
        <p:nvSpPr>
          <p:cNvPr id="385" name="Compare, quote, order.">
            <a:extLst xmlns:a="http://schemas.openxmlformats.org/drawingml/2006/main">
              <a:ext uri="{FF2B5EF4-FFF2-40B4-BE49-F238E27FC236}">
                <a16:creationId xmlns:a16="http://schemas.microsoft.com/office/drawing/2014/main" id="{F7FA7824-7D72-4136-B415-FCA370E1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769" y="50673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Compare, quote, order.</a:t>
            </a:r>
          </a:p>
        </p:txBody>
      </p:sp>
      <p:sp>
        <p:nvSpPr>
          <p:cNvPr id="386" name="Rectangle">
            <a:extLst xmlns:a="http://schemas.openxmlformats.org/drawingml/2006/main">
              <a:ext uri="{FF2B5EF4-FFF2-40B4-BE49-F238E27FC236}">
                <a16:creationId xmlns:a16="http://schemas.microsoft.com/office/drawing/2014/main" id="{EECC374A-075A-45D2-815F-00C8893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7" name="The wrapper disappears into tools people already keep open.">
            <a:extLst xmlns:a="http://schemas.openxmlformats.org/drawingml/2006/main">
              <a:ext uri="{FF2B5EF4-FFF2-40B4-BE49-F238E27FC236}">
                <a16:creationId xmlns:a16="http://schemas.microsoft.com/office/drawing/2014/main" id="{0C8F2E6B-9CA8-4422-B308-91344369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970" y="5829300"/>
            <a:ext cx="7338060" cy="3073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wrapper disappears into tools people already keep open.</a:t>
            </a:r>
          </a:p>
        </p:txBody>
      </p:sp>
      <p:sp>
        <p:nvSpPr>
          <p:cNvPr id="388" name="Stock photos: Unsplash.">
            <a:extLst xmlns:a="http://schemas.openxmlformats.org/drawingml/2006/main">
              <a:ext uri="{FF2B5EF4-FFF2-40B4-BE49-F238E27FC236}">
                <a16:creationId xmlns:a16="http://schemas.microsoft.com/office/drawing/2014/main" id="{50574E61-221C-4D3F-9625-917198E2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057900"/>
            <a:ext cx="3337561" cy="193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Stock photos: Unsplash.</a:t>
            </a: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154B313E-F7C9-4806-82CC-85660A0A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04391891-049A-4B47-ACBD-68138708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0D0D0D"/>
                </a:solidFill>
              </a:defRPr>
            </a:pPr>
            <a:r>
              <a:rPr sz="3300" b="0">
                <a:solidFill>
                  <a:srgbClr val="0D0D0D"/>
                </a:solidFill>
              </a:rPr>
              <a:t>Everyday places agents show up</a:t>
            </a: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B492FF62-66AF-4CDB-90D1-0E8BFE0A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192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Agents are starting to appear inside tools people already understand.</a:t>
            </a:r>
          </a:p>
        </p:txBody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32818E93-3F81-441B-8DDF-EE26907F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Using AI Agents</a:t>
            </a: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24BFB1D7-0B42-455A-B5D3-5B68CC21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13</a:t>
            </a:r>
          </a:p>
        </p:txBody>
      </p:sp>
      <p:pic>
        <p:nvPicPr>
          <p:cNvPr id="4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629586d6b42f1"/>
          <a:srcRect xmlns:a="http://schemas.openxmlformats.org/drawingml/2006/main" l="0" t="23098" r="0" b="230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478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7026145E-82D0-4808-8814-A287E4A9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9495534A-BA30-4D37-8014-A67A40A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67D8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BF575025-1704-4722-89A9-C8E0295D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69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967D8"/>
                </a:solidFill>
              </a:defRPr>
            </a:pPr>
            <a:r>
              <a:rPr sz="1125" b="1">
                <a:solidFill>
                  <a:srgbClr val="4967D8"/>
                </a:solidFill>
              </a:rPr>
              <a:t>@</a:t>
            </a: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744534C1-FCD4-411B-8890-40E396E1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Team chat</a:t>
            </a: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1627F61D-AAC0-4274-BF5F-54E09E7B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Summaries, drafts, follow-ups.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D4B5A287-3027-4430-AB80-02FF3A69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972495850453e"/>
          <a:srcRect xmlns:a="http://schemas.openxmlformats.org/drawingml/2006/main" l="0" t="27326" r="0" b="273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8478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BA997561-070E-495D-8115-BE9CEBC2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226E00ED-FC1B-4CC8-9651-DCBC7F79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A5B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B91C44DD-2E3C-4DFB-9F62-463957ED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369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A5B"/>
                </a:solidFill>
              </a:defRPr>
            </a:pPr>
            <a:r>
              <a:rPr sz="1125" b="1">
                <a:solidFill>
                  <a:srgbClr val="167A5B"/>
                </a:solidFill>
              </a:rPr>
              <a:t>✎</a:t>
            </a:r>
          </a:p>
        </p:txBody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25EED715-8E56-4606-A32C-128AD5BA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Office work</a:t>
            </a: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5FBF5353-699E-4D6A-8891-E398404C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Research, write, schedule.</a:t>
            </a: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A18286C0-C44A-4E97-B868-4E185F04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34576a3454279"/>
          <a:srcRect xmlns:a="http://schemas.openxmlformats.org/drawingml/2006/main" l="0" t="23050" r="0" b="23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9052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827E091B-FDB2-4EBC-A306-01F52D15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771A31C8-96DF-450C-8B24-44FD5051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CAF0419B-12A5-47D7-8A11-65A94EBE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43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$</a:t>
            </a:r>
          </a:p>
        </p:txBody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BB254744-E689-48D0-BFE9-15B6EE75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Shopping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8D6F7B2D-DF41-466E-BDC1-55839644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863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Compare, quote, order.</a:t>
            </a:r>
          </a:p>
        </p:txBody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4318708C-5F40-445C-B879-55F1466A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d5e9d8c2f4e0b"/>
          <a:srcRect xmlns:a="http://schemas.openxmlformats.org/drawingml/2006/main" l="0" t="27224" r="0" b="27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39052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B23AA038-622D-4DF0-80F0-2B9A28A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E6CF0E1E-8AED-4207-8C28-87D35E9E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56CF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8660F48-BFD8-4EAF-928B-89E725A0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943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E56CF"/>
                </a:solidFill>
              </a:defRPr>
            </a:pPr>
            <a:r>
              <a:rPr sz="1125" b="1">
                <a:solidFill>
                  <a:srgbClr val="6E56CF"/>
                </a:solidFill>
              </a:rPr>
              <a:t>↗</a:t>
            </a: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95EDDF97-66E8-4D59-A06D-B4A7D7BD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BA76F648-E931-44A6-84D4-919F220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863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Track, route, update.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C924C157-C595-41FF-9651-A8ABC84C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39506298-4705-4E7F-89F2-EE03CA26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293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0D0D"/>
                </a:solidFill>
              </a:defRPr>
            </a:pPr>
            <a:r>
              <a:rPr sz="1425" b="1">
                <a:solidFill>
                  <a:srgbClr val="0D0D0D"/>
                </a:solidFill>
              </a:rPr>
              <a:t>The wrapper disappears into tools people already keep open.</a:t>
            </a:r>
          </a:p>
        </p:txBody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685520FA-9C15-4886-A968-95BD1093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Stock photos: Unsplash.</a:t>
            </a:r>
          </a:p>
        </p:txBody>
      </p:sp>
    </p:spTree>
    <p:extLst>
      <p:ext uri="{BB962C8B-B14F-4D97-AF65-F5344CB8AC3E}">
        <p14:creationId xmlns:p14="http://schemas.microsoft.com/office/powerpoint/2010/main" val="1709481540"/>
      </p:ext>
    </p:extLst>
  </p:cSld>
</p:sld>
</file>

<file path=ppt/slides/slide1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What to watch for">
            <a:extLst xmlns:a="http://schemas.openxmlformats.org/drawingml/2006/main">
              <a:ext uri="{FF2B5EF4-FFF2-40B4-BE49-F238E27FC236}">
                <a16:creationId xmlns:a16="http://schemas.microsoft.com/office/drawing/2014/main" id="{D7F2ED29-E85B-4080-A52D-FCA319D1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to watch for</a:t>
            </a:r>
          </a:p>
        </p:txBody>
      </p:sp>
      <p:sp>
        <p:nvSpPr>
          <p:cNvPr id="391" name="Useful agents still need common-sense boundaries.">
            <a:extLst xmlns:a="http://schemas.openxmlformats.org/drawingml/2006/main">
              <a:ext uri="{FF2B5EF4-FFF2-40B4-BE49-F238E27FC236}">
                <a16:creationId xmlns:a16="http://schemas.microsoft.com/office/drawing/2014/main" id="{AE77E295-B7FF-4393-8EF3-55F73E66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Useful agents still need common-sense boundaries.</a:t>
            </a:r>
          </a:p>
        </p:txBody>
      </p:sp>
      <p:sp>
        <p:nvSpPr>
          <p:cNvPr id="392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7B39CF53-D0D3-4BD4-B513-9D37D64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393" name="14">
            <a:extLst xmlns:a="http://schemas.openxmlformats.org/drawingml/2006/main">
              <a:ext uri="{FF2B5EF4-FFF2-40B4-BE49-F238E27FC236}">
                <a16:creationId xmlns:a16="http://schemas.microsoft.com/office/drawing/2014/main" id="{F12AAA4D-57C4-4582-81B7-92C8E8E3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14</a:t>
            </a:r>
          </a:p>
        </p:txBody>
      </p:sp>
      <p:sp>
        <p:nvSpPr>
          <p:cNvPr id="394" name="Rectangle">
            <a:extLst xmlns:a="http://schemas.openxmlformats.org/drawingml/2006/main">
              <a:ext uri="{FF2B5EF4-FFF2-40B4-BE49-F238E27FC236}">
                <a16:creationId xmlns:a16="http://schemas.microsoft.com/office/drawing/2014/main" id="{1DE78708-D583-46A4-951C-DFA35450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5" name="01">
            <a:extLst xmlns:a="http://schemas.openxmlformats.org/drawingml/2006/main">
              <a:ext uri="{FF2B5EF4-FFF2-40B4-BE49-F238E27FC236}">
                <a16:creationId xmlns:a16="http://schemas.microsoft.com/office/drawing/2014/main" id="{C1AAB696-D0CB-490B-9ED9-FA3E1242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19" y="2228850"/>
            <a:ext cx="4610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396" name="Accuracy">
            <a:extLst xmlns:a="http://schemas.openxmlformats.org/drawingml/2006/main">
              <a:ext uri="{FF2B5EF4-FFF2-40B4-BE49-F238E27FC236}">
                <a16:creationId xmlns:a16="http://schemas.microsoft.com/office/drawing/2014/main" id="{891F16FC-6D94-4469-B48D-87A89173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19" y="2238375"/>
            <a:ext cx="20993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Accuracy</a:t>
            </a:r>
          </a:p>
        </p:txBody>
      </p:sp>
      <p:sp>
        <p:nvSpPr>
          <p:cNvPr id="397" name="Rectangle">
            <a:extLst xmlns:a="http://schemas.openxmlformats.org/drawingml/2006/main">
              <a:ext uri="{FF2B5EF4-FFF2-40B4-BE49-F238E27FC236}">
                <a16:creationId xmlns:a16="http://schemas.microsoft.com/office/drawing/2014/main" id="{A9FFFE86-443B-460E-987A-C9F917C7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43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8" name="Rectangle">
            <a:extLst xmlns:a="http://schemas.openxmlformats.org/drawingml/2006/main">
              <a:ext uri="{FF2B5EF4-FFF2-40B4-BE49-F238E27FC236}">
                <a16:creationId xmlns:a16="http://schemas.microsoft.com/office/drawing/2014/main" id="{654C919C-8785-424D-9BA1-FED21793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9" name="02">
            <a:extLst xmlns:a="http://schemas.openxmlformats.org/drawingml/2006/main">
              <a:ext uri="{FF2B5EF4-FFF2-40B4-BE49-F238E27FC236}">
                <a16:creationId xmlns:a16="http://schemas.microsoft.com/office/drawing/2014/main" id="{01C73793-86B2-4908-B2F9-65FE1717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668" y="2228850"/>
            <a:ext cx="4610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400" name="Privacy">
            <a:extLst xmlns:a="http://schemas.openxmlformats.org/drawingml/2006/main">
              <a:ext uri="{FF2B5EF4-FFF2-40B4-BE49-F238E27FC236}">
                <a16:creationId xmlns:a16="http://schemas.microsoft.com/office/drawing/2014/main" id="{B54DE237-0DA7-4D20-91A0-9A5CB783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368" y="2238375"/>
            <a:ext cx="209931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Privacy</a:t>
            </a:r>
          </a:p>
        </p:txBody>
      </p:sp>
      <p:sp>
        <p:nvSpPr>
          <p:cNvPr id="401" name="Rectangle">
            <a:extLst xmlns:a="http://schemas.openxmlformats.org/drawingml/2006/main">
              <a:ext uri="{FF2B5EF4-FFF2-40B4-BE49-F238E27FC236}">
                <a16:creationId xmlns:a16="http://schemas.microsoft.com/office/drawing/2014/main" id="{D8A6D335-1FE0-49B4-AF5C-9108CC23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43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2" name="Rectangle">
            <a:extLst xmlns:a="http://schemas.openxmlformats.org/drawingml/2006/main">
              <a:ext uri="{FF2B5EF4-FFF2-40B4-BE49-F238E27FC236}">
                <a16:creationId xmlns:a16="http://schemas.microsoft.com/office/drawing/2014/main" id="{4EBCDB61-413A-48C8-B336-2892D256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3" name="03">
            <a:extLst xmlns:a="http://schemas.openxmlformats.org/drawingml/2006/main">
              <a:ext uri="{FF2B5EF4-FFF2-40B4-BE49-F238E27FC236}">
                <a16:creationId xmlns:a16="http://schemas.microsoft.com/office/drawing/2014/main" id="{BC27E2A8-411F-471F-9B19-24817250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8" y="2228850"/>
            <a:ext cx="4610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404" name="Approvals">
            <a:extLst xmlns:a="http://schemas.openxmlformats.org/drawingml/2006/main">
              <a:ext uri="{FF2B5EF4-FFF2-40B4-BE49-F238E27FC236}">
                <a16:creationId xmlns:a16="http://schemas.microsoft.com/office/drawing/2014/main" id="{1ABB6FAC-E041-4451-8094-A77492DC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618" y="2238375"/>
            <a:ext cx="209931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Approvals</a:t>
            </a:r>
          </a:p>
        </p:txBody>
      </p:sp>
      <p:sp>
        <p:nvSpPr>
          <p:cNvPr id="405" name="Rectangle">
            <a:extLst xmlns:a="http://schemas.openxmlformats.org/drawingml/2006/main">
              <a:ext uri="{FF2B5EF4-FFF2-40B4-BE49-F238E27FC236}">
                <a16:creationId xmlns:a16="http://schemas.microsoft.com/office/drawing/2014/main" id="{1A6A1BFF-0B5B-4F43-B00C-3A401650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43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6" name="Rectangle">
            <a:extLst xmlns:a="http://schemas.openxmlformats.org/drawingml/2006/main">
              <a:ext uri="{FF2B5EF4-FFF2-40B4-BE49-F238E27FC236}">
                <a16:creationId xmlns:a16="http://schemas.microsoft.com/office/drawing/2014/main" id="{D99AC918-F32B-4362-9979-FE5293DB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7" name="04">
            <a:extLst xmlns:a="http://schemas.openxmlformats.org/drawingml/2006/main">
              <a:ext uri="{FF2B5EF4-FFF2-40B4-BE49-F238E27FC236}">
                <a16:creationId xmlns:a16="http://schemas.microsoft.com/office/drawing/2014/main" id="{331C8411-02FA-4C4F-A8C4-A6CBD109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19" y="4019551"/>
            <a:ext cx="4610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6E56C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408" name="Cost">
            <a:extLst xmlns:a="http://schemas.openxmlformats.org/drawingml/2006/main">
              <a:ext uri="{FF2B5EF4-FFF2-40B4-BE49-F238E27FC236}">
                <a16:creationId xmlns:a16="http://schemas.microsoft.com/office/drawing/2014/main" id="{E56FFE45-B8B2-4CDF-86C6-D2FDE855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19" y="4029076"/>
            <a:ext cx="20993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Cost</a:t>
            </a:r>
          </a:p>
        </p:txBody>
      </p:sp>
      <p:sp>
        <p:nvSpPr>
          <p:cNvPr id="409" name="Rectangle">
            <a:extLst xmlns:a="http://schemas.openxmlformats.org/drawingml/2006/main">
              <a:ext uri="{FF2B5EF4-FFF2-40B4-BE49-F238E27FC236}">
                <a16:creationId xmlns:a16="http://schemas.microsoft.com/office/drawing/2014/main" id="{0927CE07-8B5D-463E-A812-A38423C0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39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0" name="Rectangle">
            <a:extLst xmlns:a="http://schemas.openxmlformats.org/drawingml/2006/main">
              <a:ext uri="{FF2B5EF4-FFF2-40B4-BE49-F238E27FC236}">
                <a16:creationId xmlns:a16="http://schemas.microsoft.com/office/drawing/2014/main" id="{3B4614AC-CBF2-46CE-808B-D8E65D5A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1" name="05">
            <a:extLst xmlns:a="http://schemas.openxmlformats.org/drawingml/2006/main">
              <a:ext uri="{FF2B5EF4-FFF2-40B4-BE49-F238E27FC236}">
                <a16:creationId xmlns:a16="http://schemas.microsoft.com/office/drawing/2014/main" id="{20D1495E-046F-4016-95E7-EEB3BAB8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668" y="4019551"/>
            <a:ext cx="4610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05</a:t>
            </a:r>
          </a:p>
        </p:txBody>
      </p:sp>
      <p:sp>
        <p:nvSpPr>
          <p:cNvPr id="412" name="Speed">
            <a:extLst xmlns:a="http://schemas.openxmlformats.org/drawingml/2006/main">
              <a:ext uri="{FF2B5EF4-FFF2-40B4-BE49-F238E27FC236}">
                <a16:creationId xmlns:a16="http://schemas.microsoft.com/office/drawing/2014/main" id="{E49D9452-8745-46A2-BB7E-1AB7ADDE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368" y="4029076"/>
            <a:ext cx="209931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Speed</a:t>
            </a:r>
          </a:p>
        </p:txBody>
      </p:sp>
      <p:sp>
        <p:nvSpPr>
          <p:cNvPr id="413" name="Rectangle">
            <a:extLst xmlns:a="http://schemas.openxmlformats.org/drawingml/2006/main">
              <a:ext uri="{FF2B5EF4-FFF2-40B4-BE49-F238E27FC236}">
                <a16:creationId xmlns:a16="http://schemas.microsoft.com/office/drawing/2014/main" id="{75B52901-2841-4AE2-8A36-701A4E24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339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4" name="Rectangle">
            <a:extLst xmlns:a="http://schemas.openxmlformats.org/drawingml/2006/main">
              <a:ext uri="{FF2B5EF4-FFF2-40B4-BE49-F238E27FC236}">
                <a16:creationId xmlns:a16="http://schemas.microsoft.com/office/drawing/2014/main" id="{FF3CF9CC-283D-4635-A994-3F5C7331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5" name="06">
            <a:extLst xmlns:a="http://schemas.openxmlformats.org/drawingml/2006/main">
              <a:ext uri="{FF2B5EF4-FFF2-40B4-BE49-F238E27FC236}">
                <a16:creationId xmlns:a16="http://schemas.microsoft.com/office/drawing/2014/main" id="{9CC2F8CE-63FD-46A4-B653-8D1B3B1E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8" y="4019551"/>
            <a:ext cx="4610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06</a:t>
            </a:r>
          </a:p>
        </p:txBody>
      </p:sp>
      <p:sp>
        <p:nvSpPr>
          <p:cNvPr id="416" name="Trust">
            <a:extLst xmlns:a="http://schemas.openxmlformats.org/drawingml/2006/main">
              <a:ext uri="{FF2B5EF4-FFF2-40B4-BE49-F238E27FC236}">
                <a16:creationId xmlns:a16="http://schemas.microsoft.com/office/drawing/2014/main" id="{01F7861A-FBC8-41DE-A2AD-7755662A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618" y="4029076"/>
            <a:ext cx="209931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Trust</a:t>
            </a:r>
          </a:p>
        </p:txBody>
      </p:sp>
      <p:sp>
        <p:nvSpPr>
          <p:cNvPr id="417" name="Rectangle">
            <a:extLst xmlns:a="http://schemas.openxmlformats.org/drawingml/2006/main">
              <a:ext uri="{FF2B5EF4-FFF2-40B4-BE49-F238E27FC236}">
                <a16:creationId xmlns:a16="http://schemas.microsoft.com/office/drawing/2014/main" id="{FCB4F407-9388-4331-9940-EC38A119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339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8" name="Start with low-risk work, then expand as trust grows.">
            <a:extLst xmlns:a="http://schemas.openxmlformats.org/drawingml/2006/main">
              <a:ext uri="{FF2B5EF4-FFF2-40B4-BE49-F238E27FC236}">
                <a16:creationId xmlns:a16="http://schemas.microsoft.com/office/drawing/2014/main" id="{B5401648-22FB-4867-9F0F-7AAEAF44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66" y="5581651"/>
            <a:ext cx="8328663" cy="396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20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Start with low-risk work, then expand as trust grows.</a:t>
            </a:r>
          </a:p>
        </p:txBody>
      </p:sp>
      <p:sp>
        <p:nvSpPr>
          <p:cNvPr id="419" name="Rectangle">
            <a:extLst xmlns:a="http://schemas.openxmlformats.org/drawingml/2006/main">
              <a:ext uri="{FF2B5EF4-FFF2-40B4-BE49-F238E27FC236}">
                <a16:creationId xmlns:a16="http://schemas.microsoft.com/office/drawing/2014/main" id="{93AFCF8D-1696-4B1D-9958-8D291298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0" name="What to watch for">
            <a:extLst xmlns:a="http://schemas.openxmlformats.org/drawingml/2006/main">
              <a:ext uri="{FF2B5EF4-FFF2-40B4-BE49-F238E27FC236}">
                <a16:creationId xmlns:a16="http://schemas.microsoft.com/office/drawing/2014/main" id="{B5C77F56-2086-482D-9D16-7639F6F5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" y="400050"/>
            <a:ext cx="12100561" cy="599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33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to watch for</a:t>
            </a:r>
          </a:p>
        </p:txBody>
      </p:sp>
      <p:sp>
        <p:nvSpPr>
          <p:cNvPr id="421" name="Useful agents still need common-sense boundaries.">
            <a:extLst xmlns:a="http://schemas.openxmlformats.org/drawingml/2006/main">
              <a:ext uri="{FF2B5EF4-FFF2-40B4-BE49-F238E27FC236}">
                <a16:creationId xmlns:a16="http://schemas.microsoft.com/office/drawing/2014/main" id="{A4D9E79A-2619-4472-9BDC-8E5E4C6D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" y="1219200"/>
            <a:ext cx="8671560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Useful agents still need common-sense boundaries.</a:t>
            </a:r>
          </a:p>
        </p:txBody>
      </p:sp>
      <p:sp>
        <p:nvSpPr>
          <p:cNvPr id="422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ABC20834-33EC-4D0F-ADF6-D7EF0238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343650"/>
            <a:ext cx="39090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423" name="14">
            <a:extLst xmlns:a="http://schemas.openxmlformats.org/drawingml/2006/main">
              <a:ext uri="{FF2B5EF4-FFF2-40B4-BE49-F238E27FC236}">
                <a16:creationId xmlns:a16="http://schemas.microsoft.com/office/drawing/2014/main" id="{D0DD58CE-9054-4B2B-8022-24F6862B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9" y="6343650"/>
            <a:ext cx="38481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14</a:t>
            </a:r>
          </a:p>
        </p:txBody>
      </p:sp>
      <p:pic>
        <p:nvPicPr>
          <p:cNvPr id="526" name="image5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0a34aa2574186"/>
          <a:srcRect xmlns:a="http://schemas.openxmlformats.org/drawingml/2006/main" l="0" t="20106" r="0" b="20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47850"/>
            <a:ext cx="3162300" cy="1257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25" name="Rectangle">
            <a:extLst xmlns:a="http://schemas.openxmlformats.org/drawingml/2006/main">
              <a:ext uri="{FF2B5EF4-FFF2-40B4-BE49-F238E27FC236}">
                <a16:creationId xmlns:a16="http://schemas.microsoft.com/office/drawing/2014/main" id="{8FE9C291-ED3E-4619-B9EB-41D00059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6" name="01  Accuracy">
            <a:extLst xmlns:a="http://schemas.openxmlformats.org/drawingml/2006/main">
              <a:ext uri="{FF2B5EF4-FFF2-40B4-BE49-F238E27FC236}">
                <a16:creationId xmlns:a16="http://schemas.microsoft.com/office/drawing/2014/main" id="{4D369CDF-174C-4466-BB6B-6B5F198B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19" y="2819400"/>
            <a:ext cx="2804162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  Accuracy</a:t>
            </a:r>
          </a:p>
        </p:txBody>
      </p:sp>
      <p:sp>
        <p:nvSpPr>
          <p:cNvPr id="427" name="Rectangle">
            <a:extLst xmlns:a="http://schemas.openxmlformats.org/drawingml/2006/main">
              <a:ext uri="{FF2B5EF4-FFF2-40B4-BE49-F238E27FC236}">
                <a16:creationId xmlns:a16="http://schemas.microsoft.com/office/drawing/2014/main" id="{07C6F601-733C-4BB7-AB5F-EBC43C5E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30" name="image24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5b0314a24439a"/>
          <a:srcRect xmlns:a="http://schemas.openxmlformats.org/drawingml/2006/main" l="0" t="20195" r="0" b="20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2450" y="1847850"/>
            <a:ext cx="3162300" cy="1257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29" name="Rectangle">
            <a:extLst xmlns:a="http://schemas.openxmlformats.org/drawingml/2006/main">
              <a:ext uri="{FF2B5EF4-FFF2-40B4-BE49-F238E27FC236}">
                <a16:creationId xmlns:a16="http://schemas.microsoft.com/office/drawing/2014/main" id="{68B3AD35-F2A2-4448-8CED-5487A812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051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0" name="02  Privacy">
            <a:extLst xmlns:a="http://schemas.openxmlformats.org/drawingml/2006/main">
              <a:ext uri="{FF2B5EF4-FFF2-40B4-BE49-F238E27FC236}">
                <a16:creationId xmlns:a16="http://schemas.microsoft.com/office/drawing/2014/main" id="{BADD198A-5789-4A8F-A4C6-E67ED85D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2819400"/>
            <a:ext cx="2804161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  Privacy</a:t>
            </a:r>
          </a:p>
        </p:txBody>
      </p:sp>
      <p:sp>
        <p:nvSpPr>
          <p:cNvPr id="431" name="Rectangle">
            <a:extLst xmlns:a="http://schemas.openxmlformats.org/drawingml/2006/main">
              <a:ext uri="{FF2B5EF4-FFF2-40B4-BE49-F238E27FC236}">
                <a16:creationId xmlns:a16="http://schemas.microsoft.com/office/drawing/2014/main" id="{ECA7D88C-D006-4E96-9A16-CF41BE1E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34" name="image4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f9f55d8254f12"/>
          <a:srcRect xmlns:a="http://schemas.openxmlformats.org/drawingml/2006/main" l="0" t="20195" r="0" b="20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4350" y="1847850"/>
            <a:ext cx="3162300" cy="1257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33" name="Rectangle">
            <a:extLst xmlns:a="http://schemas.openxmlformats.org/drawingml/2006/main">
              <a:ext uri="{FF2B5EF4-FFF2-40B4-BE49-F238E27FC236}">
                <a16:creationId xmlns:a16="http://schemas.microsoft.com/office/drawing/2014/main" id="{DB7E031F-99B8-466C-A1EF-895BF9A0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4" name="03  Approvals">
            <a:extLst xmlns:a="http://schemas.openxmlformats.org/drawingml/2006/main">
              <a:ext uri="{FF2B5EF4-FFF2-40B4-BE49-F238E27FC236}">
                <a16:creationId xmlns:a16="http://schemas.microsoft.com/office/drawing/2014/main" id="{F78AB217-D87B-494F-9F63-BE49C682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19" y="2819400"/>
            <a:ext cx="2804161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  Approvals</a:t>
            </a:r>
          </a:p>
        </p:txBody>
      </p:sp>
      <p:sp>
        <p:nvSpPr>
          <p:cNvPr id="435" name="Rectangle">
            <a:extLst xmlns:a="http://schemas.openxmlformats.org/drawingml/2006/main">
              <a:ext uri="{FF2B5EF4-FFF2-40B4-BE49-F238E27FC236}">
                <a16:creationId xmlns:a16="http://schemas.microsoft.com/office/drawing/2014/main" id="{AC921ECC-F371-477D-A965-13355DFC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38" name="image14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be11f446944cb"/>
          <a:srcRect xmlns:a="http://schemas.openxmlformats.org/drawingml/2006/main" l="0" t="20240" r="0" b="202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524250"/>
            <a:ext cx="3162300" cy="1257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37" name="Rectangle">
            <a:extLst xmlns:a="http://schemas.openxmlformats.org/drawingml/2006/main">
              <a:ext uri="{FF2B5EF4-FFF2-40B4-BE49-F238E27FC236}">
                <a16:creationId xmlns:a16="http://schemas.microsoft.com/office/drawing/2014/main" id="{C37A8D6A-4A3A-4EDE-A3BF-B784FC96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04  Cost">
            <a:extLst xmlns:a="http://schemas.openxmlformats.org/drawingml/2006/main">
              <a:ext uri="{FF2B5EF4-FFF2-40B4-BE49-F238E27FC236}">
                <a16:creationId xmlns:a16="http://schemas.microsoft.com/office/drawing/2014/main" id="{85462BA9-3146-4924-B76E-F8AF5300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19" y="4495800"/>
            <a:ext cx="2804162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  Cost</a:t>
            </a:r>
          </a:p>
        </p:txBody>
      </p:sp>
      <p:sp>
        <p:nvSpPr>
          <p:cNvPr id="439" name="Rectangle">
            <a:extLst xmlns:a="http://schemas.openxmlformats.org/drawingml/2006/main">
              <a:ext uri="{FF2B5EF4-FFF2-40B4-BE49-F238E27FC236}">
                <a16:creationId xmlns:a16="http://schemas.microsoft.com/office/drawing/2014/main" id="{652936D1-6B1B-40F3-8E16-EE5BDD7C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42" name="image3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b06358d9e42cf"/>
          <a:srcRect xmlns:a="http://schemas.openxmlformats.org/drawingml/2006/main" l="0" t="20195" r="0" b="20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2450" y="3524250"/>
            <a:ext cx="3162300" cy="1257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41" name="Rectangle">
            <a:extLst xmlns:a="http://schemas.openxmlformats.org/drawingml/2006/main">
              <a:ext uri="{FF2B5EF4-FFF2-40B4-BE49-F238E27FC236}">
                <a16:creationId xmlns:a16="http://schemas.microsoft.com/office/drawing/2014/main" id="{01F1F7D3-35F2-4070-8927-BC85B3CA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2" name="05  Speed">
            <a:extLst xmlns:a="http://schemas.openxmlformats.org/drawingml/2006/main">
              <a:ext uri="{FF2B5EF4-FFF2-40B4-BE49-F238E27FC236}">
                <a16:creationId xmlns:a16="http://schemas.microsoft.com/office/drawing/2014/main" id="{E77032A3-11E2-4024-834A-290F3E4F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4495800"/>
            <a:ext cx="2804161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05  Speed</a:t>
            </a:r>
          </a:p>
        </p:txBody>
      </p:sp>
      <p:sp>
        <p:nvSpPr>
          <p:cNvPr id="443" name="Rectangle">
            <a:extLst xmlns:a="http://schemas.openxmlformats.org/drawingml/2006/main">
              <a:ext uri="{FF2B5EF4-FFF2-40B4-BE49-F238E27FC236}">
                <a16:creationId xmlns:a16="http://schemas.microsoft.com/office/drawing/2014/main" id="{88F783DB-8236-4D45-8828-C7DB242F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46" name="image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1c65415954090"/>
          <a:srcRect xmlns:a="http://schemas.openxmlformats.org/drawingml/2006/main" l="0" t="20195" r="0" b="20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4350" y="3524250"/>
            <a:ext cx="3162300" cy="1257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45" name="Rectangle">
            <a:extLst xmlns:a="http://schemas.openxmlformats.org/drawingml/2006/main">
              <a:ext uri="{FF2B5EF4-FFF2-40B4-BE49-F238E27FC236}">
                <a16:creationId xmlns:a16="http://schemas.microsoft.com/office/drawing/2014/main" id="{EBC8FDFA-04BE-4BD1-898C-44572AB1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8150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6" name="06  Trust">
            <a:extLst xmlns:a="http://schemas.openxmlformats.org/drawingml/2006/main">
              <a:ext uri="{FF2B5EF4-FFF2-40B4-BE49-F238E27FC236}">
                <a16:creationId xmlns:a16="http://schemas.microsoft.com/office/drawing/2014/main" id="{0D1A49BA-88C0-47AC-9145-0DEAF2B8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19" y="4495800"/>
            <a:ext cx="2804161" cy="256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06  Trust</a:t>
            </a:r>
          </a:p>
        </p:txBody>
      </p:sp>
      <p:sp>
        <p:nvSpPr>
          <p:cNvPr id="447" name="Rectangle">
            <a:extLst xmlns:a="http://schemas.openxmlformats.org/drawingml/2006/main">
              <a:ext uri="{FF2B5EF4-FFF2-40B4-BE49-F238E27FC236}">
                <a16:creationId xmlns:a16="http://schemas.microsoft.com/office/drawing/2014/main" id="{9ABF5184-3FE9-4D54-A747-DE8EC39D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24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8" name="Start with low-risk work, then expand as trust grows.">
            <a:extLst xmlns:a="http://schemas.openxmlformats.org/drawingml/2006/main">
              <a:ext uri="{FF2B5EF4-FFF2-40B4-BE49-F238E27FC236}">
                <a16:creationId xmlns:a16="http://schemas.microsoft.com/office/drawing/2014/main" id="{35153E7B-06DC-452E-B292-493BDF56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620" y="5467350"/>
            <a:ext cx="7604760" cy="3327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6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Start with low-risk work, then expand as trust grows.</a:t>
            </a:r>
          </a:p>
        </p:txBody>
      </p:sp>
      <p:sp>
        <p:nvSpPr>
          <p:cNvPr id="449" name="Stock photos: Unsplash.">
            <a:extLst xmlns:a="http://schemas.openxmlformats.org/drawingml/2006/main">
              <a:ext uri="{FF2B5EF4-FFF2-40B4-BE49-F238E27FC236}">
                <a16:creationId xmlns:a16="http://schemas.microsoft.com/office/drawing/2014/main" id="{E366D7DC-1776-4407-95A5-F5B09891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057900"/>
            <a:ext cx="3337561" cy="193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Stock photos: Unsplash.</a:t>
            </a: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C19C65FF-B423-4082-A718-453ECB3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8868502E-9CA4-47BD-AC07-6D78A9BD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0D0D0D"/>
                </a:solidFill>
              </a:defRPr>
            </a:pPr>
            <a:r>
              <a:rPr sz="3300" b="0">
                <a:solidFill>
                  <a:srgbClr val="0D0D0D"/>
                </a:solidFill>
              </a:rPr>
              <a:t>What to watch for</a:t>
            </a:r>
          </a:p>
        </p:txBody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B2B9106A-E9C2-4740-8194-A41FBE55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192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Useful agents still need common-sense boundaries.</a:t>
            </a: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BECCD895-133F-4DAD-AE42-2D18845B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Using AI Agents</a:t>
            </a: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AB8BAF7A-8648-4425-A849-BD8328D0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D102C609-4A95-411D-B24B-2A234188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BC7492A7-BFD7-4557-9257-5AC580A0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67D8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5822E90E-BAB9-4B8B-9F6E-4E4410CE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1114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967D8"/>
                </a:solidFill>
              </a:defRPr>
            </a:pPr>
            <a:r>
              <a:rPr sz="1800" b="1">
                <a:solidFill>
                  <a:srgbClr val="4967D8"/>
                </a:solidFill>
              </a:rPr>
              <a:t>✓</a:t>
            </a:r>
          </a:p>
        </p:txBody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26080DFE-ED51-4CD1-B2EC-4E726BBC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288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967D8"/>
                </a:solidFill>
              </a:defRPr>
            </a:pPr>
            <a:r>
              <a:rPr sz="1725" b="1">
                <a:solidFill>
                  <a:srgbClr val="4967D8"/>
                </a:solidFill>
              </a:rPr>
              <a:t>Accuracy</a:t>
            </a: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2D4D2D5E-1084-4437-9F6A-2B843B28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9080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Can I check the answer?</a:t>
            </a:r>
          </a:p>
        </p:txBody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7F424AFB-1F44-4948-98D1-CD94E1AF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4310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1BDEBEE7-9E6A-430C-BDE3-17E634EF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98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A5B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DD9CBD61-315B-426E-B8BA-6D2F270E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1114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A5B"/>
                </a:solidFill>
              </a:defRPr>
            </a:pPr>
            <a:r>
              <a:rPr sz="1800" b="1">
                <a:solidFill>
                  <a:srgbClr val="167A5B"/>
                </a:solidFill>
              </a:rPr>
              <a:t>◼</a:t>
            </a: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CC69CBF6-77C1-4CDF-B4F6-6FDFFBB2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288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A5B"/>
                </a:solidFill>
              </a:defRPr>
            </a:pPr>
            <a:r>
              <a:rPr sz="1725" b="1">
                <a:solidFill>
                  <a:srgbClr val="167A5B"/>
                </a:solidFill>
              </a:rPr>
              <a:t>Privacy</a:t>
            </a:r>
          </a:p>
        </p:txBody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8395007C-5AFA-4941-8ABD-B6935640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Should this data be shared?</a:t>
            </a:r>
          </a:p>
        </p:txBody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10C5DFCA-69F9-40D5-A204-F83B7E92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13578199-9D64-4CE3-9A00-969FA660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1FFE703D-32A7-48DE-8975-DD2F7316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1114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!</a:t>
            </a:r>
          </a:p>
        </p:txBody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4A1854BE-C2E5-426D-9BE6-3DAAC5B9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Approvals</a:t>
            </a: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5D0FCCE2-314E-44AE-A084-FAC664CD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9080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What needs a human yes?</a:t>
            </a:r>
          </a:p>
        </p:txBody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6F7EF198-17DC-453C-9A80-1C8F28A7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C0B8EA33-7922-4D14-9C9D-685F1E23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56CF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5EB11D28-9B65-4C46-97EC-84058466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9229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56CF"/>
                </a:solidFill>
              </a:defRPr>
            </a:pPr>
            <a:r>
              <a:rPr sz="1800" b="1">
                <a:solidFill>
                  <a:srgbClr val="6E56CF"/>
                </a:solidFill>
              </a:rPr>
              <a:t>$</a:t>
            </a: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C06AE82B-73E3-48C2-9AB9-929274C6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00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E56CF"/>
                </a:solidFill>
              </a:defRPr>
            </a:pPr>
            <a:r>
              <a:rPr sz="1725" b="1">
                <a:solidFill>
                  <a:srgbClr val="6E56CF"/>
                </a:solidFill>
              </a:rPr>
              <a:t>Cost</a:t>
            </a:r>
          </a:p>
        </p:txBody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E45710B1-4FE6-4265-ACC6-CB69EF19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Could this spend money?</a:t>
            </a:r>
          </a:p>
        </p:txBody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74D9E927-2FAB-4113-9A8E-738846D6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E361AC75-ADED-4D9D-8D43-E2763CE6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0D0D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ADCBF587-1A07-403F-9A39-B123C3B5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9229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0D0D"/>
                </a:solidFill>
              </a:defRPr>
            </a:pPr>
            <a:r>
              <a:rPr sz="1800" b="1">
                <a:solidFill>
                  <a:srgbClr val="0D0D0D"/>
                </a:solidFill>
              </a:rPr>
              <a:t>↻</a:t>
            </a:r>
          </a:p>
        </p:txBody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7D5189C7-24EE-4187-8214-B18658EF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100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D0D"/>
                </a:solidFill>
              </a:defRPr>
            </a:pPr>
            <a:r>
              <a:rPr sz="1725" b="1">
                <a:solidFill>
                  <a:srgbClr val="0D0D0D"/>
                </a:solidFill>
              </a:rPr>
              <a:t>Speed</a:t>
            </a:r>
          </a:p>
        </p:txBody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99C28FCF-DC00-47C8-9CB2-B8899122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719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How long should it run?</a:t>
            </a:r>
          </a:p>
        </p:txBody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B6B82A3F-2F68-4E75-B18B-C97F8A2A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2425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DA222A12-F183-4FDC-98B5-28351490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67D8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7B397248-C111-40A8-A406-CFF4F1A5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92296"/>
            <a:ext cx="533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967D8"/>
                </a:solidFill>
              </a:defRPr>
            </a:pPr>
            <a:r>
              <a:rPr sz="1800" b="1">
                <a:solidFill>
                  <a:srgbClr val="4967D8"/>
                </a:solidFill>
              </a:rPr>
              <a:t>?</a:t>
            </a:r>
          </a:p>
        </p:txBody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6A72D2F5-80A2-4580-BDE8-89B4D45F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00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967D8"/>
                </a:solidFill>
              </a:defRPr>
            </a:pPr>
            <a:r>
              <a:rPr sz="1725" b="1">
                <a:solidFill>
                  <a:srgbClr val="4967D8"/>
                </a:solidFill>
              </a:rPr>
              <a:t>Trust</a:t>
            </a:r>
          </a:p>
        </p:txBody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933C656C-07BC-4C3A-A8EF-019D2223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Can I see what happened?</a:t>
            </a:r>
          </a:p>
        </p:txBody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D5B45724-32D2-43F3-8EEF-9E19A22E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67350"/>
            <a:ext cx="769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0D0D"/>
                </a:solidFill>
              </a:defRPr>
            </a:pPr>
            <a:r>
              <a:rPr sz="1650" b="1">
                <a:solidFill>
                  <a:srgbClr val="0D0D0D"/>
                </a:solidFill>
              </a:rPr>
              <a:t>Start with low-risk work, then expand as trust grows.</a:t>
            </a:r>
          </a:p>
        </p:txBody>
      </p:sp>
    </p:spTree>
    <p:extLst>
      <p:ext uri="{BB962C8B-B14F-4D97-AF65-F5344CB8AC3E}">
        <p14:creationId xmlns:p14="http://schemas.microsoft.com/office/powerpoint/2010/main" val="1024126474"/>
      </p:ext>
    </p:extLst>
  </p:cSld>
</p:sld>
</file>

<file path=ppt/slides/slide1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1" name="Use agents safely">
            <a:extLst xmlns:a="http://schemas.openxmlformats.org/drawingml/2006/main">
              <a:ext uri="{FF2B5EF4-FFF2-40B4-BE49-F238E27FC236}">
                <a16:creationId xmlns:a16="http://schemas.microsoft.com/office/drawing/2014/main" id="{68EC22EA-C230-4438-9744-B6537B30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Use agents safely</a:t>
            </a:r>
          </a:p>
        </p:txBody>
      </p:sp>
      <p:sp>
        <p:nvSpPr>
          <p:cNvPr id="452" name="The more an agent can do, the more important the guardrails become.">
            <a:extLst xmlns:a="http://schemas.openxmlformats.org/drawingml/2006/main">
              <a:ext uri="{FF2B5EF4-FFF2-40B4-BE49-F238E27FC236}">
                <a16:creationId xmlns:a16="http://schemas.microsoft.com/office/drawing/2014/main" id="{D178493D-A847-4FBF-BF67-962A6F7C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more an agent can do, the more important the guardrails become.</a:t>
            </a:r>
          </a:p>
        </p:txBody>
      </p:sp>
      <p:sp>
        <p:nvSpPr>
          <p:cNvPr id="453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E8ACA96D-5541-4403-9A7A-AB3E97B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454" name="15">
            <a:extLst xmlns:a="http://schemas.openxmlformats.org/drawingml/2006/main">
              <a:ext uri="{FF2B5EF4-FFF2-40B4-BE49-F238E27FC236}">
                <a16:creationId xmlns:a16="http://schemas.microsoft.com/office/drawing/2014/main" id="{F49AAC83-BDF8-4691-AB55-B060B2C9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15</a:t>
            </a:r>
          </a:p>
        </p:txBody>
      </p:sp>
      <p:sp>
        <p:nvSpPr>
          <p:cNvPr id="455" name="Rectangle">
            <a:extLst xmlns:a="http://schemas.openxmlformats.org/drawingml/2006/main">
              <a:ext uri="{FF2B5EF4-FFF2-40B4-BE49-F238E27FC236}">
                <a16:creationId xmlns:a16="http://schemas.microsoft.com/office/drawing/2014/main" id="{3E1F9595-84F8-4032-AF96-A8B468B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476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6" name="No auto-approve">
            <a:extLst xmlns:a="http://schemas.openxmlformats.org/drawingml/2006/main">
              <a:ext uri="{FF2B5EF4-FFF2-40B4-BE49-F238E27FC236}">
                <a16:creationId xmlns:a16="http://schemas.microsoft.com/office/drawing/2014/main" id="{897421E2-3DE5-4401-A515-5E8E034D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66" y="2209800"/>
            <a:ext cx="3623318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No auto-approve</a:t>
            </a:r>
          </a:p>
        </p:txBody>
      </p:sp>
      <p:sp>
        <p:nvSpPr>
          <p:cNvPr id="457" name="Conductor example: review before actions ship.">
            <a:extLst xmlns:a="http://schemas.openxmlformats.org/drawingml/2006/main">
              <a:ext uri="{FF2B5EF4-FFF2-40B4-BE49-F238E27FC236}">
                <a16:creationId xmlns:a16="http://schemas.microsoft.com/office/drawing/2014/main" id="{4AA43C62-185F-4E02-B357-1CB0FCF4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66" y="2628900"/>
            <a:ext cx="3623318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Conductor example: review before actions ship.</a:t>
            </a:r>
          </a:p>
        </p:txBody>
      </p:sp>
      <p:sp>
        <p:nvSpPr>
          <p:cNvPr id="458" name="Rectangle">
            <a:extLst xmlns:a="http://schemas.openxmlformats.org/drawingml/2006/main">
              <a:ext uri="{FF2B5EF4-FFF2-40B4-BE49-F238E27FC236}">
                <a16:creationId xmlns:a16="http://schemas.microsoft.com/office/drawing/2014/main" id="{6B9F12AA-E246-4BF3-B24F-D7DC6C6C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4476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9" name="Ask before big moves">
            <a:extLst xmlns:a="http://schemas.openxmlformats.org/drawingml/2006/main">
              <a:ext uri="{FF2B5EF4-FFF2-40B4-BE49-F238E27FC236}">
                <a16:creationId xmlns:a16="http://schemas.microsoft.com/office/drawing/2014/main" id="{046F162A-B0AA-424B-9787-885B90D3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18" y="2209800"/>
            <a:ext cx="362331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Ask before big moves</a:t>
            </a:r>
          </a:p>
        </p:txBody>
      </p:sp>
      <p:sp>
        <p:nvSpPr>
          <p:cNvPr id="460" name="Money, email, publishing, deletion, logins.">
            <a:extLst xmlns:a="http://schemas.openxmlformats.org/drawingml/2006/main">
              <a:ext uri="{FF2B5EF4-FFF2-40B4-BE49-F238E27FC236}">
                <a16:creationId xmlns:a16="http://schemas.microsoft.com/office/drawing/2014/main" id="{60830B87-3DE9-4BE3-B369-A88B9095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18" y="2628900"/>
            <a:ext cx="3623317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Money, email, publishing, deletion, logins.</a:t>
            </a:r>
          </a:p>
        </p:txBody>
      </p:sp>
      <p:sp>
        <p:nvSpPr>
          <p:cNvPr id="461" name="Rectangle">
            <a:extLst xmlns:a="http://schemas.openxmlformats.org/drawingml/2006/main">
              <a:ext uri="{FF2B5EF4-FFF2-40B4-BE49-F238E27FC236}">
                <a16:creationId xmlns:a16="http://schemas.microsoft.com/office/drawing/2014/main" id="{8EB6AB56-E532-4B05-B81D-22D6914C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4476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2" name="Limit access">
            <a:extLst xmlns:a="http://schemas.openxmlformats.org/drawingml/2006/main">
              <a:ext uri="{FF2B5EF4-FFF2-40B4-BE49-F238E27FC236}">
                <a16:creationId xmlns:a16="http://schemas.microsoft.com/office/drawing/2014/main" id="{AAC3D198-A506-43CE-93C4-FC60DBCE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66" y="3867151"/>
            <a:ext cx="3623318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Limit access</a:t>
            </a:r>
          </a:p>
        </p:txBody>
      </p:sp>
      <p:sp>
        <p:nvSpPr>
          <p:cNvPr id="463" name="Give the smallest set of apps it needs.">
            <a:extLst xmlns:a="http://schemas.openxmlformats.org/drawingml/2006/main">
              <a:ext uri="{FF2B5EF4-FFF2-40B4-BE49-F238E27FC236}">
                <a16:creationId xmlns:a16="http://schemas.microsoft.com/office/drawing/2014/main" id="{80D45936-1445-4F37-9ABB-C0C1703B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66" y="4286251"/>
            <a:ext cx="3623318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Give the smallest set of apps it needs.</a:t>
            </a:r>
          </a:p>
        </p:txBody>
      </p:sp>
      <p:sp>
        <p:nvSpPr>
          <p:cNvPr id="464" name="Rectangle">
            <a:extLst xmlns:a="http://schemas.openxmlformats.org/drawingml/2006/main">
              <a:ext uri="{FF2B5EF4-FFF2-40B4-BE49-F238E27FC236}">
                <a16:creationId xmlns:a16="http://schemas.microsoft.com/office/drawing/2014/main" id="{15AE4B02-CF86-46FF-8471-3C96C9AC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4476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5" name="Keep the trace">
            <a:extLst xmlns:a="http://schemas.openxmlformats.org/drawingml/2006/main">
              <a:ext uri="{FF2B5EF4-FFF2-40B4-BE49-F238E27FC236}">
                <a16:creationId xmlns:a16="http://schemas.microsoft.com/office/drawing/2014/main" id="{7B47806E-CC19-44CA-A4C0-0DA06B57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18" y="3867151"/>
            <a:ext cx="362331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6E56C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Keep the trace</a:t>
            </a:r>
          </a:p>
        </p:txBody>
      </p:sp>
      <p:sp>
        <p:nvSpPr>
          <p:cNvPr id="466" name="You should be able to see what happened.">
            <a:extLst xmlns:a="http://schemas.openxmlformats.org/drawingml/2006/main">
              <a:ext uri="{FF2B5EF4-FFF2-40B4-BE49-F238E27FC236}">
                <a16:creationId xmlns:a16="http://schemas.microsoft.com/office/drawing/2014/main" id="{A9911F09-AA1A-4F65-B26C-99AC32F1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18" y="4286251"/>
            <a:ext cx="3623317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You should be able to see what happened.</a:t>
            </a:r>
          </a:p>
        </p:txBody>
      </p:sp>
      <p:sp>
        <p:nvSpPr>
          <p:cNvPr id="467" name="Rectangle">
            <a:extLst xmlns:a="http://schemas.openxmlformats.org/drawingml/2006/main">
              <a:ext uri="{FF2B5EF4-FFF2-40B4-BE49-F238E27FC236}">
                <a16:creationId xmlns:a16="http://schemas.microsoft.com/office/drawing/2014/main" id="{C0251CA0-F8B1-431C-9698-9F345E45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8" name="A useful agent should feel capable, not unstoppable.">
            <a:extLst xmlns:a="http://schemas.openxmlformats.org/drawingml/2006/main">
              <a:ext uri="{FF2B5EF4-FFF2-40B4-BE49-F238E27FC236}">
                <a16:creationId xmlns:a16="http://schemas.microsoft.com/office/drawing/2014/main" id="{EDCAB32E-E477-4E50-99EE-40EA1A5C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568" y="5543551"/>
            <a:ext cx="8404864" cy="294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3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 useful agent should feel capable, not unstoppable.</a:t>
            </a:r>
          </a:p>
        </p:txBody>
      </p:sp>
      <p:sp>
        <p:nvSpPr>
          <p:cNvPr id="469" name="Rectangle">
            <a:extLst xmlns:a="http://schemas.openxmlformats.org/drawingml/2006/main">
              <a:ext uri="{FF2B5EF4-FFF2-40B4-BE49-F238E27FC236}">
                <a16:creationId xmlns:a16="http://schemas.microsoft.com/office/drawing/2014/main" id="{8EF6D33F-180D-486E-B044-A3DA9F42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0" name="Use agents safely">
            <a:extLst xmlns:a="http://schemas.openxmlformats.org/drawingml/2006/main">
              <a:ext uri="{FF2B5EF4-FFF2-40B4-BE49-F238E27FC236}">
                <a16:creationId xmlns:a16="http://schemas.microsoft.com/office/drawing/2014/main" id="{660AF2EF-5EFC-4FAB-A24A-52DF23A4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" y="400050"/>
            <a:ext cx="12100561" cy="599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33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Use agents safely</a:t>
            </a:r>
          </a:p>
        </p:txBody>
      </p:sp>
      <p:sp>
        <p:nvSpPr>
          <p:cNvPr id="471" name="The more an agent can do, the more important the guardrails become.">
            <a:extLst xmlns:a="http://schemas.openxmlformats.org/drawingml/2006/main">
              <a:ext uri="{FF2B5EF4-FFF2-40B4-BE49-F238E27FC236}">
                <a16:creationId xmlns:a16="http://schemas.microsoft.com/office/drawing/2014/main" id="{8360F568-29C6-4219-9FCE-7A2C98F4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" y="1219200"/>
            <a:ext cx="8671560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more an agent can do, the more important the guardrails become.</a:t>
            </a:r>
          </a:p>
        </p:txBody>
      </p:sp>
      <p:sp>
        <p:nvSpPr>
          <p:cNvPr id="472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0023307C-ACE6-4855-8C11-D9A28A37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343650"/>
            <a:ext cx="39090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473" name="15">
            <a:extLst xmlns:a="http://schemas.openxmlformats.org/drawingml/2006/main">
              <a:ext uri="{FF2B5EF4-FFF2-40B4-BE49-F238E27FC236}">
                <a16:creationId xmlns:a16="http://schemas.microsoft.com/office/drawing/2014/main" id="{DD4981CF-D69B-4DFA-BCF0-3A64CEAD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9" y="6343650"/>
            <a:ext cx="38481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15</a:t>
            </a:r>
          </a:p>
        </p:txBody>
      </p:sp>
      <p:pic>
        <p:nvPicPr>
          <p:cNvPr id="560" name="image5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a007e9249400c"/>
          <a:srcRect xmlns:a="http://schemas.openxmlformats.org/drawingml/2006/main" l="0" t="27224" r="0" b="27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478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75" name="Rectangle">
            <a:extLst xmlns:a="http://schemas.openxmlformats.org/drawingml/2006/main">
              <a:ext uri="{FF2B5EF4-FFF2-40B4-BE49-F238E27FC236}">
                <a16:creationId xmlns:a16="http://schemas.microsoft.com/office/drawing/2014/main" id="{2E3C9DE2-12C0-4642-ABDC-BA2A858C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6" name="No auto-approve">
            <a:extLst xmlns:a="http://schemas.openxmlformats.org/drawingml/2006/main">
              <a:ext uri="{FF2B5EF4-FFF2-40B4-BE49-F238E27FC236}">
                <a16:creationId xmlns:a16="http://schemas.microsoft.com/office/drawing/2014/main" id="{673489BE-7DA2-4FC0-AE9E-305064A6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9" y="2971800"/>
            <a:ext cx="1927862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No auto-approve</a:t>
            </a:r>
          </a:p>
        </p:txBody>
      </p:sp>
      <p:sp>
        <p:nvSpPr>
          <p:cNvPr id="477" name="Review before actions ship.">
            <a:extLst xmlns:a="http://schemas.openxmlformats.org/drawingml/2006/main">
              <a:ext uri="{FF2B5EF4-FFF2-40B4-BE49-F238E27FC236}">
                <a16:creationId xmlns:a16="http://schemas.microsoft.com/office/drawing/2014/main" id="{3EE1A5B9-78CB-41CA-9A51-5D87A89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0099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Review before actions ship.</a:t>
            </a:r>
          </a:p>
        </p:txBody>
      </p:sp>
      <p:sp>
        <p:nvSpPr>
          <p:cNvPr id="478" name="Rectangle">
            <a:extLst xmlns:a="http://schemas.openxmlformats.org/drawingml/2006/main">
              <a:ext uri="{FF2B5EF4-FFF2-40B4-BE49-F238E27FC236}">
                <a16:creationId xmlns:a16="http://schemas.microsoft.com/office/drawing/2014/main" id="{5633AB5D-AEC6-4DD1-987C-8EE0111E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5" name="image4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a952228f648b4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8478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80" name="Rectangle">
            <a:extLst xmlns:a="http://schemas.openxmlformats.org/drawingml/2006/main">
              <a:ext uri="{FF2B5EF4-FFF2-40B4-BE49-F238E27FC236}">
                <a16:creationId xmlns:a16="http://schemas.microsoft.com/office/drawing/2014/main" id="{2AC7894A-33D5-4062-A638-B9B5F1A8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1" name="Ask first">
            <a:extLst xmlns:a="http://schemas.openxmlformats.org/drawingml/2006/main">
              <a:ext uri="{FF2B5EF4-FFF2-40B4-BE49-F238E27FC236}">
                <a16:creationId xmlns:a16="http://schemas.microsoft.com/office/drawing/2014/main" id="{D14916A0-97AA-44FE-9C1C-046C21B5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19" y="2971800"/>
            <a:ext cx="1927861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Ask first</a:t>
            </a:r>
          </a:p>
        </p:txBody>
      </p:sp>
      <p:sp>
        <p:nvSpPr>
          <p:cNvPr id="482" name="Money, email, publish, delete.">
            <a:extLst xmlns:a="http://schemas.openxmlformats.org/drawingml/2006/main">
              <a:ext uri="{FF2B5EF4-FFF2-40B4-BE49-F238E27FC236}">
                <a16:creationId xmlns:a16="http://schemas.microsoft.com/office/drawing/2014/main" id="{C99212DD-9E87-4B57-9E01-91E265A3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769" y="30099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Money, email, publish, delete.</a:t>
            </a:r>
          </a:p>
        </p:txBody>
      </p:sp>
      <p:sp>
        <p:nvSpPr>
          <p:cNvPr id="483" name="Rectangle">
            <a:extLst xmlns:a="http://schemas.openxmlformats.org/drawingml/2006/main">
              <a:ext uri="{FF2B5EF4-FFF2-40B4-BE49-F238E27FC236}">
                <a16:creationId xmlns:a16="http://schemas.microsoft.com/office/drawing/2014/main" id="{0F1981FF-23AB-4079-9008-DED295E8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70" name="image24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45b20fbde47ac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9052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85" name="Rectangle">
            <a:extLst xmlns:a="http://schemas.openxmlformats.org/drawingml/2006/main">
              <a:ext uri="{FF2B5EF4-FFF2-40B4-BE49-F238E27FC236}">
                <a16:creationId xmlns:a16="http://schemas.microsoft.com/office/drawing/2014/main" id="{36A8730F-4EFE-4241-ABF8-DC3ABE40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6" name="Limit access">
            <a:extLst xmlns:a="http://schemas.openxmlformats.org/drawingml/2006/main">
              <a:ext uri="{FF2B5EF4-FFF2-40B4-BE49-F238E27FC236}">
                <a16:creationId xmlns:a16="http://schemas.microsoft.com/office/drawing/2014/main" id="{CA9626D5-E9E0-4F94-A865-EF270259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9" y="5029200"/>
            <a:ext cx="1927862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Limit access</a:t>
            </a:r>
          </a:p>
        </p:txBody>
      </p:sp>
      <p:sp>
        <p:nvSpPr>
          <p:cNvPr id="487" name="Give the smallest set of apps.">
            <a:extLst xmlns:a="http://schemas.openxmlformats.org/drawingml/2006/main">
              <a:ext uri="{FF2B5EF4-FFF2-40B4-BE49-F238E27FC236}">
                <a16:creationId xmlns:a16="http://schemas.microsoft.com/office/drawing/2014/main" id="{5B380254-C54B-43B6-A9F3-324D20E4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50673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Give the smallest set of apps.</a:t>
            </a:r>
          </a:p>
        </p:txBody>
      </p:sp>
      <p:sp>
        <p:nvSpPr>
          <p:cNvPr id="488" name="Rectangle">
            <a:extLst xmlns:a="http://schemas.openxmlformats.org/drawingml/2006/main">
              <a:ext uri="{FF2B5EF4-FFF2-40B4-BE49-F238E27FC236}">
                <a16:creationId xmlns:a16="http://schemas.microsoft.com/office/drawing/2014/main" id="{B5D16768-B73C-48F0-A8BF-F48CD245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75" name="image3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147655fcb4e0e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3905250"/>
            <a:ext cx="5219700" cy="15811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90" name="Rectangle">
            <a:extLst xmlns:a="http://schemas.openxmlformats.org/drawingml/2006/main">
              <a:ext uri="{FF2B5EF4-FFF2-40B4-BE49-F238E27FC236}">
                <a16:creationId xmlns:a16="http://schemas.microsoft.com/office/drawing/2014/main" id="{470F97FC-6007-46E3-B381-0E0AF7B7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521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1" name="Keep the trace">
            <a:extLst xmlns:a="http://schemas.openxmlformats.org/drawingml/2006/main">
              <a:ext uri="{FF2B5EF4-FFF2-40B4-BE49-F238E27FC236}">
                <a16:creationId xmlns:a16="http://schemas.microsoft.com/office/drawing/2014/main" id="{F1760572-FD57-435A-8D37-B63FDE78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19" y="5029200"/>
            <a:ext cx="1927861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Keep the trace</a:t>
            </a:r>
          </a:p>
        </p:txBody>
      </p:sp>
      <p:sp>
        <p:nvSpPr>
          <p:cNvPr id="492" name="You should see what happened.">
            <a:extLst xmlns:a="http://schemas.openxmlformats.org/drawingml/2006/main">
              <a:ext uri="{FF2B5EF4-FFF2-40B4-BE49-F238E27FC236}">
                <a16:creationId xmlns:a16="http://schemas.microsoft.com/office/drawing/2014/main" id="{18E94DAF-A773-4F0D-BEAF-E669D9DC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769" y="5067300"/>
            <a:ext cx="249936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E8E8E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You should see what happened.</a:t>
            </a:r>
          </a:p>
        </p:txBody>
      </p:sp>
      <p:sp>
        <p:nvSpPr>
          <p:cNvPr id="493" name="Rectangle">
            <a:extLst xmlns:a="http://schemas.openxmlformats.org/drawingml/2006/main">
              <a:ext uri="{FF2B5EF4-FFF2-40B4-BE49-F238E27FC236}">
                <a16:creationId xmlns:a16="http://schemas.microsoft.com/office/drawing/2014/main" id="{94C2A555-4DEA-4AD3-BF8F-5A207C3D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4" name="Rectangle">
            <a:extLst xmlns:a="http://schemas.openxmlformats.org/drawingml/2006/main">
              <a:ext uri="{FF2B5EF4-FFF2-40B4-BE49-F238E27FC236}">
                <a16:creationId xmlns:a16="http://schemas.microsoft.com/office/drawing/2014/main" id="{579F9B5F-A16D-4EE5-AB28-8BB8A6E4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53100"/>
            <a:ext cx="845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5" name="A useful agent should feel capable, not unstoppable.">
            <a:extLst xmlns:a="http://schemas.openxmlformats.org/drawingml/2006/main">
              <a:ext uri="{FF2B5EF4-FFF2-40B4-BE49-F238E27FC236}">
                <a16:creationId xmlns:a16="http://schemas.microsoft.com/office/drawing/2014/main" id="{A21ABAB1-5B67-4347-9DEC-730D1E9D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470" y="5857875"/>
            <a:ext cx="7719060" cy="269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 useful agent should feel capable, not unstoppable.</a:t>
            </a:r>
          </a:p>
        </p:txBody>
      </p:sp>
      <p:sp>
        <p:nvSpPr>
          <p:cNvPr id="496" name="Stock photos: Unsplash.">
            <a:extLst xmlns:a="http://schemas.openxmlformats.org/drawingml/2006/main">
              <a:ext uri="{FF2B5EF4-FFF2-40B4-BE49-F238E27FC236}">
                <a16:creationId xmlns:a16="http://schemas.microsoft.com/office/drawing/2014/main" id="{AE737CAC-A152-49EE-983E-BF07DF34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057900"/>
            <a:ext cx="3337561" cy="193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Stock photos: Unsplash.</a:t>
            </a:r>
          </a:p>
        </p:txBody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D8B00C51-6615-480F-9E51-6FEDEF2B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51DDFE82-3D15-4D2D-B805-A8EF921D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0D0D0D"/>
                </a:solidFill>
              </a:defRPr>
            </a:pPr>
            <a:r>
              <a:rPr sz="3300" b="0">
                <a:solidFill>
                  <a:srgbClr val="0D0D0D"/>
                </a:solidFill>
              </a:rPr>
              <a:t>Use agents safely</a:t>
            </a:r>
          </a:p>
        </p:txBody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D6575F4A-BBC3-429C-AA89-05C97A9D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192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more an agent can do, the more important the guardrails become.</a:t>
            </a:r>
          </a:p>
        </p:txBody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903BE31F-BD32-4832-AE62-78F794C5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Using AI Agents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6F3063EC-427A-47C6-BE69-7153CBFC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15</a:t>
            </a:r>
          </a:p>
        </p:txBody>
      </p:sp>
      <p:pic>
        <p:nvPicPr>
          <p:cNvPr id="5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781a5843e4a1f"/>
          <a:srcRect xmlns:a="http://schemas.openxmlformats.org/drawingml/2006/main" l="0" t="29805" r="0" b="29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478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C939A47E-2189-41D1-94DB-8F4F55C0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1FFA95B8-371C-4690-A992-44346AEE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67D8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D5C87982-67B5-4BE4-875F-23D3F15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69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967D8"/>
                </a:solidFill>
              </a:defRPr>
            </a:pPr>
            <a:r>
              <a:rPr sz="1125" b="1">
                <a:solidFill>
                  <a:srgbClr val="4967D8"/>
                </a:solidFill>
              </a:rPr>
              <a:t>✓</a:t>
            </a:r>
          </a:p>
        </p:txBody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79E6D491-6BC2-4E41-BAEC-39F6D8F5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No auto-approve</a:t>
            </a:r>
          </a:p>
        </p:txBody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E7939A62-8278-4C02-9302-44B9BF68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Review before actions ship.</a:t>
            </a: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A00D8E3F-14C0-4367-BF30-7CDD8A7B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6769b28f24262"/>
          <a:srcRect xmlns:a="http://schemas.openxmlformats.org/drawingml/2006/main" l="0" t="27326" r="0" b="273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8478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62B1A612-DEFC-4497-9216-9B687BF9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9BAE31C5-09F1-4379-8F4F-4EC9C5F1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140C33F3-96AE-4964-A999-CF8FE1C3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369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!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3CB3FF8F-B636-43AA-9ED1-AC4FCE1E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Ask first</a:t>
            </a: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AB6681BC-520B-4C80-A0E7-676D1403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Money, email, publish, delete.</a:t>
            </a:r>
          </a:p>
        </p:txBody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6D31E555-B706-42BA-B65F-1FF54204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13d914c4c4b93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9052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D0182B6E-CDCF-4A99-952F-772C53FB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C3D386E0-F29B-4700-9C77-30824208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A5B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2587718F-E57D-43D8-945C-D38F83F5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43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A5B"/>
                </a:solidFill>
              </a:defRPr>
            </a:pPr>
            <a:r>
              <a:rPr sz="1125" b="1">
                <a:solidFill>
                  <a:srgbClr val="167A5B"/>
                </a:solidFill>
              </a:rPr>
              <a:t>◼</a:t>
            </a:r>
          </a:p>
        </p:txBody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934334DA-23B9-46A3-A473-B3CDD753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Limit access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03A5D85B-31FB-4AB2-889E-21BB6A3D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863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Give the smallest set of apps.</a:t>
            </a:r>
          </a:p>
        </p:txBody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A1DB6498-15BD-42E8-B734-F5308D2C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7e4f3b0134de1"/>
          <a:srcRect xmlns:a="http://schemas.openxmlformats.org/drawingml/2006/main" l="0" t="27292" r="0" b="27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3905250"/>
            <a:ext cx="5219700" cy="1581150"/>
          </a:xfrm>
          <a:prstGeom xmlns:a="http://schemas.openxmlformats.org/drawingml/2006/main" prst="rect">
            <a:avLst/>
          </a:prstGeom>
        </p:spPr>
      </p:pic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ECC82B5F-009C-4D9A-B3C5-63F8DC45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885085CB-FF1D-473B-96F3-902F678C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56CF"/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88DD58B7-9B2B-400F-8F04-D57AF7E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94351"/>
            <a:ext cx="3429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E56CF"/>
                </a:solidFill>
              </a:defRPr>
            </a:pPr>
            <a:r>
              <a:rPr sz="1125" b="1">
                <a:solidFill>
                  <a:srgbClr val="6E56CF"/>
                </a:solidFill>
              </a:rPr>
              <a:t>↻</a:t>
            </a:r>
          </a:p>
        </p:txBody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ECC2207F-C778-4BC5-86E9-31288B33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Keep the trace</a:t>
            </a: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9536909E-E101-483C-88EE-5163F496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863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8E8"/>
                </a:solidFill>
              </a:defRPr>
            </a:pPr>
            <a:r>
              <a:rPr sz="1050" b="0">
                <a:solidFill>
                  <a:srgbClr val="E8E8E8"/>
                </a:solidFill>
              </a:rPr>
              <a:t>You should see what happened.</a:t>
            </a:r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2BD67299-9C0B-49C7-996A-DA002409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40D01B8-AA36-474F-BF3F-26455DF2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53100"/>
            <a:ext cx="845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D16A39C-09B9-4B01-A563-D4249046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57875"/>
            <a:ext cx="781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 useful agent should feel capable, not unstoppable.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A4F33FB-F335-4525-9659-D5B48E22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Stock photos: Unsplash.</a:t>
            </a:r>
          </a:p>
        </p:txBody>
      </p:sp>
    </p:spTree>
    <p:extLst>
      <p:ext uri="{BB962C8B-B14F-4D97-AF65-F5344CB8AC3E}">
        <p14:creationId xmlns:p14="http://schemas.microsoft.com/office/powerpoint/2010/main" val="667146494"/>
      </p:ext>
    </p:extLst>
  </p:cSld>
</p:sld>
</file>

<file path=ppt/slides/slide1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8" name="Safety: hallucinations still happen">
            <a:extLst xmlns:a="http://schemas.openxmlformats.org/drawingml/2006/main">
              <a:ext uri="{FF2B5EF4-FFF2-40B4-BE49-F238E27FC236}">
                <a16:creationId xmlns:a16="http://schemas.microsoft.com/office/drawing/2014/main" id="{0FA7757C-E32A-4C38-A3FD-36ECC832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Safety: hallucinations still happen</a:t>
            </a:r>
          </a:p>
        </p:txBody>
      </p:sp>
      <p:sp>
        <p:nvSpPr>
          <p:cNvPr id="499" name="Even top models can sound confident and still be wrong.">
            <a:extLst xmlns:a="http://schemas.openxmlformats.org/drawingml/2006/main">
              <a:ext uri="{FF2B5EF4-FFF2-40B4-BE49-F238E27FC236}">
                <a16:creationId xmlns:a16="http://schemas.microsoft.com/office/drawing/2014/main" id="{E8585065-5C40-4C5B-BA12-2D3AB547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Even top models can sound confident and still be wrong.</a:t>
            </a:r>
          </a:p>
        </p:txBody>
      </p:sp>
      <p:sp>
        <p:nvSpPr>
          <p:cNvPr id="500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563F8088-63F2-4117-8173-44F5C22D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501" name="16">
            <a:extLst xmlns:a="http://schemas.openxmlformats.org/drawingml/2006/main">
              <a:ext uri="{FF2B5EF4-FFF2-40B4-BE49-F238E27FC236}">
                <a16:creationId xmlns:a16="http://schemas.microsoft.com/office/drawing/2014/main" id="{F2B87A2E-93A7-4F8D-874A-C7C997CC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16</a:t>
            </a:r>
          </a:p>
        </p:txBody>
      </p:sp>
      <p:sp>
        <p:nvSpPr>
          <p:cNvPr id="502" name="Rectangle">
            <a:extLst xmlns:a="http://schemas.openxmlformats.org/drawingml/2006/main">
              <a:ext uri="{FF2B5EF4-FFF2-40B4-BE49-F238E27FC236}">
                <a16:creationId xmlns:a16="http://schemas.microsoft.com/office/drawing/2014/main" id="{B4AE9EED-4F26-4FA4-A5A2-B431E2BD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3143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FFD7C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3" name="22-94%">
            <a:extLst xmlns:a="http://schemas.openxmlformats.org/drawingml/2006/main">
              <a:ext uri="{FF2B5EF4-FFF2-40B4-BE49-F238E27FC236}">
                <a16:creationId xmlns:a16="http://schemas.microsoft.com/office/drawing/2014/main" id="{6CA85576-284D-420C-9DDB-8C114236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9" y="2171700"/>
            <a:ext cx="2385062" cy="5613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3100"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22-94%</a:t>
            </a:r>
          </a:p>
        </p:txBody>
      </p:sp>
      <p:sp>
        <p:nvSpPr>
          <p:cNvPr id="504" name="wrong-answer range across 26 top models in one Stanford test">
            <a:extLst xmlns:a="http://schemas.openxmlformats.org/drawingml/2006/main">
              <a:ext uri="{FF2B5EF4-FFF2-40B4-BE49-F238E27FC236}">
                <a16:creationId xmlns:a16="http://schemas.microsoft.com/office/drawing/2014/main" id="{2BC221A4-9247-416A-A402-BDBA9019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2781300"/>
            <a:ext cx="2289812" cy="447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wrong-answer range across 26 top models in one Stanford test</a:t>
            </a:r>
          </a:p>
        </p:txBody>
      </p:sp>
      <p:sp>
        <p:nvSpPr>
          <p:cNvPr id="505" name="Rectangle">
            <a:extLst xmlns:a="http://schemas.openxmlformats.org/drawingml/2006/main">
              <a:ext uri="{FF2B5EF4-FFF2-40B4-BE49-F238E27FC236}">
                <a16:creationId xmlns:a16="http://schemas.microsoft.com/office/drawing/2014/main" id="{91DA0F8B-9731-476A-B963-82FC3897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3143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CDD8F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6" name="~10%">
            <a:extLst xmlns:a="http://schemas.openxmlformats.org/drawingml/2006/main">
              <a:ext uri="{FF2B5EF4-FFF2-40B4-BE49-F238E27FC236}">
                <a16:creationId xmlns:a16="http://schemas.microsoft.com/office/drawing/2014/main" id="{35155788-C72C-48CA-A4A2-76B458F0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9" y="3981451"/>
            <a:ext cx="2385062" cy="5613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31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~10%</a:t>
            </a:r>
          </a:p>
        </p:txBody>
      </p:sp>
      <p:sp>
        <p:nvSpPr>
          <p:cNvPr id="507" name="mistakes still appear in checked summaries for many strong models">
            <a:extLst xmlns:a="http://schemas.openxmlformats.org/drawingml/2006/main">
              <a:ext uri="{FF2B5EF4-FFF2-40B4-BE49-F238E27FC236}">
                <a16:creationId xmlns:a16="http://schemas.microsoft.com/office/drawing/2014/main" id="{011E5AEB-B4A3-410F-B3CD-17EB983C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4591051"/>
            <a:ext cx="2289812" cy="624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mistakes still appear in checked summaries for many strong models</a:t>
            </a:r>
          </a:p>
        </p:txBody>
      </p:sp>
      <p:sp>
        <p:nvSpPr>
          <p:cNvPr id="508" name="Rectangle">
            <a:extLst xmlns:a="http://schemas.openxmlformats.org/drawingml/2006/main">
              <a:ext uri="{FF2B5EF4-FFF2-40B4-BE49-F238E27FC236}">
                <a16:creationId xmlns:a16="http://schemas.microsoft.com/office/drawing/2014/main" id="{28F9D5C7-A65A-4149-9749-DE63C3D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4310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9" name="Agent">
            <a:extLst xmlns:a="http://schemas.openxmlformats.org/drawingml/2006/main">
              <a:ext uri="{FF2B5EF4-FFF2-40B4-BE49-F238E27FC236}">
                <a16:creationId xmlns:a16="http://schemas.microsoft.com/office/drawing/2014/main" id="{65D7CA69-11B1-4E42-8645-A8160C1C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568" y="2114550"/>
            <a:ext cx="956317" cy="332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</a:t>
            </a:r>
          </a:p>
        </p:txBody>
      </p:sp>
      <p:sp>
        <p:nvSpPr>
          <p:cNvPr id="510" name="Changing of the Guard is daily at 11.">
            <a:extLst xmlns:a="http://schemas.openxmlformats.org/drawingml/2006/main">
              <a:ext uri="{FF2B5EF4-FFF2-40B4-BE49-F238E27FC236}">
                <a16:creationId xmlns:a16="http://schemas.microsoft.com/office/drawing/2014/main" id="{A8023C03-DB66-4139-886E-9E631305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968" y="2114550"/>
            <a:ext cx="3623317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Changing of the Guard is daily at 11.</a:t>
            </a:r>
          </a:p>
        </p:txBody>
      </p:sp>
      <p:sp>
        <p:nvSpPr>
          <p:cNvPr id="511" name="Rectangle">
            <a:extLst xmlns:a="http://schemas.openxmlformats.org/drawingml/2006/main">
              <a:ext uri="{FF2B5EF4-FFF2-40B4-BE49-F238E27FC236}">
                <a16:creationId xmlns:a16="http://schemas.microsoft.com/office/drawing/2014/main" id="{528E2739-5361-4177-AC01-EB340A38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2" name="You">
            <a:extLst xmlns:a="http://schemas.openxmlformats.org/drawingml/2006/main">
              <a:ext uri="{FF2B5EF4-FFF2-40B4-BE49-F238E27FC236}">
                <a16:creationId xmlns:a16="http://schemas.microsoft.com/office/drawing/2014/main" id="{B5D2BCCE-C286-4194-B009-C79D4E1D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568" y="3200400"/>
            <a:ext cx="956317" cy="332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You</a:t>
            </a:r>
          </a:p>
        </p:txBody>
      </p:sp>
      <p:sp>
        <p:nvSpPr>
          <p:cNvPr id="513" name="Check the web to be sure.">
            <a:extLst xmlns:a="http://schemas.openxmlformats.org/drawingml/2006/main">
              <a:ext uri="{FF2B5EF4-FFF2-40B4-BE49-F238E27FC236}">
                <a16:creationId xmlns:a16="http://schemas.microsoft.com/office/drawing/2014/main" id="{77957AA7-EF53-4724-89C4-1FCD2ADF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968" y="3200400"/>
            <a:ext cx="3623317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Check the web to be sure.</a:t>
            </a:r>
          </a:p>
        </p:txBody>
      </p:sp>
      <p:sp>
        <p:nvSpPr>
          <p:cNvPr id="514" name="Rectangle">
            <a:extLst xmlns:a="http://schemas.openxmlformats.org/drawingml/2006/main">
              <a:ext uri="{FF2B5EF4-FFF2-40B4-BE49-F238E27FC236}">
                <a16:creationId xmlns:a16="http://schemas.microsoft.com/office/drawing/2014/main" id="{BE730715-CD22-42DE-BB34-FBE1B67D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1480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5" name="Agent">
            <a:extLst xmlns:a="http://schemas.openxmlformats.org/drawingml/2006/main">
              <a:ext uri="{FF2B5EF4-FFF2-40B4-BE49-F238E27FC236}">
                <a16:creationId xmlns:a16="http://schemas.microsoft.com/office/drawing/2014/main" id="{4B869BD7-6477-4282-9514-F9D77F9A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568" y="4286251"/>
            <a:ext cx="956317" cy="3327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6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</a:t>
            </a:r>
          </a:p>
        </p:txBody>
      </p:sp>
      <p:sp>
        <p:nvSpPr>
          <p:cNvPr id="516" name="I checked. I was wrong: the schedule varies.">
            <a:extLst xmlns:a="http://schemas.openxmlformats.org/drawingml/2006/main">
              <a:ext uri="{FF2B5EF4-FFF2-40B4-BE49-F238E27FC236}">
                <a16:creationId xmlns:a16="http://schemas.microsoft.com/office/drawing/2014/main" id="{1C6CFA84-F27D-4E51-84A3-88DD42BF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968" y="4286251"/>
            <a:ext cx="3623317" cy="548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 checked. I was wrong: the schedule varies.</a:t>
            </a:r>
          </a:p>
        </p:txBody>
      </p:sp>
      <p:sp>
        <p:nvSpPr>
          <p:cNvPr id="517" name="Personal London anecdote: Claude Sonnet 4.8 got Buckingham Palace Changing of the Guard details wrong in March.">
            <a:extLst xmlns:a="http://schemas.openxmlformats.org/drawingml/2006/main">
              <a:ext uri="{FF2B5EF4-FFF2-40B4-BE49-F238E27FC236}">
                <a16:creationId xmlns:a16="http://schemas.microsoft.com/office/drawing/2014/main" id="{B058CBBE-8256-407C-A7AA-024A1F1C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868" y="5334001"/>
            <a:ext cx="5814068" cy="447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Personal London anecdote: Claude Sonnet 4.8 got Buckingham Palace Changing of the Guard details wrong in March.</a:t>
            </a:r>
          </a:p>
        </p:txBody>
      </p:sp>
      <p:sp>
        <p:nvSpPr>
          <p:cNvPr id="518" name="Sources: Stanford 2026 AI Index; Vectara hallucination leaderboard; OpenAI hallucinations article.">
            <a:extLst xmlns:a="http://schemas.openxmlformats.org/drawingml/2006/main">
              <a:ext uri="{FF2B5EF4-FFF2-40B4-BE49-F238E27FC236}">
                <a16:creationId xmlns:a16="http://schemas.microsoft.com/office/drawing/2014/main" id="{164F6E1A-FCF0-4860-8958-DE9DAF08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Sources: Stanford 2026 AI Index; Vectara hallucination leaderboard; OpenAI hallucinations article.</a:t>
            </a:r>
          </a:p>
        </p:txBody>
      </p:sp>
    </p:spTree>
    <p:extLst>
      <p:ext uri="{BB962C8B-B14F-4D97-AF65-F5344CB8AC3E}">
        <p14:creationId xmlns:p14="http://schemas.microsoft.com/office/powerpoint/2010/main" val="486442479"/>
      </p:ext>
    </p:extLst>
  </p:cSld>
</p:sld>
</file>

<file path=ppt/slides/slide1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0" name="Example: Fabricate">
            <a:extLst xmlns:a="http://schemas.openxmlformats.org/drawingml/2006/main">
              <a:ext uri="{FF2B5EF4-FFF2-40B4-BE49-F238E27FC236}">
                <a16:creationId xmlns:a16="http://schemas.microsoft.com/office/drawing/2014/main" id="{F54665A1-2075-4CF9-9EA2-D28A4A2C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Example: Fabricate</a:t>
            </a:r>
          </a:p>
        </p:txBody>
      </p:sp>
      <p:sp>
        <p:nvSpPr>
          <p:cNvPr id="521" name="Turn a product idea into sourcing steps, supplier options, and review.">
            <a:extLst xmlns:a="http://schemas.openxmlformats.org/drawingml/2006/main">
              <a:ext uri="{FF2B5EF4-FFF2-40B4-BE49-F238E27FC236}">
                <a16:creationId xmlns:a16="http://schemas.microsoft.com/office/drawing/2014/main" id="{E9E6700D-473A-46B8-B422-BA48DB87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Turn a product idea into sourcing steps, supplier options, and review.</a:t>
            </a:r>
          </a:p>
        </p:txBody>
      </p:sp>
      <p:sp>
        <p:nvSpPr>
          <p:cNvPr id="522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B5D8EF18-49B2-4FED-96D8-627AA182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523" name="17">
            <a:extLst xmlns:a="http://schemas.openxmlformats.org/drawingml/2006/main">
              <a:ext uri="{FF2B5EF4-FFF2-40B4-BE49-F238E27FC236}">
                <a16:creationId xmlns:a16="http://schemas.microsoft.com/office/drawing/2014/main" id="{4ACD24A3-6AB9-4AD6-9B9D-B24520DF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17</a:t>
            </a:r>
          </a:p>
        </p:txBody>
      </p:sp>
      <p:pic>
        <p:nvPicPr>
          <p:cNvPr id="550" name="image6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1ef03da114948"/>
          <a:srcRect xmlns:a="http://schemas.openxmlformats.org/drawingml/2006/main" l="0" t="8756" r="0" b="87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866898"/>
            <a:ext cx="6267450" cy="373380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25" name="01">
            <a:extLst xmlns:a="http://schemas.openxmlformats.org/drawingml/2006/main">
              <a:ext uri="{FF2B5EF4-FFF2-40B4-BE49-F238E27FC236}">
                <a16:creationId xmlns:a16="http://schemas.microsoft.com/office/drawing/2014/main" id="{E252F8A6-3E40-423F-A62C-97F0B9B0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68" y="1790700"/>
            <a:ext cx="4229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526" name="Describe">
            <a:extLst xmlns:a="http://schemas.openxmlformats.org/drawingml/2006/main">
              <a:ext uri="{FF2B5EF4-FFF2-40B4-BE49-F238E27FC236}">
                <a16:creationId xmlns:a16="http://schemas.microsoft.com/office/drawing/2014/main" id="{B3995FCE-F8A3-4F46-AA8B-2AF1BCFA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1790700"/>
            <a:ext cx="276606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Describe</a:t>
            </a:r>
          </a:p>
        </p:txBody>
      </p:sp>
      <p:sp>
        <p:nvSpPr>
          <p:cNvPr id="527" name="What are we trying to make?">
            <a:extLst xmlns:a="http://schemas.openxmlformats.org/drawingml/2006/main">
              <a:ext uri="{FF2B5EF4-FFF2-40B4-BE49-F238E27FC236}">
                <a16:creationId xmlns:a16="http://schemas.microsoft.com/office/drawing/2014/main" id="{2EF8E23F-7BBE-4304-B7DA-809A5F49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2190750"/>
            <a:ext cx="3432817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are we trying to make?</a:t>
            </a:r>
          </a:p>
        </p:txBody>
      </p:sp>
      <p:sp>
        <p:nvSpPr>
          <p:cNvPr id="528" name="02">
            <a:extLst xmlns:a="http://schemas.openxmlformats.org/drawingml/2006/main">
              <a:ext uri="{FF2B5EF4-FFF2-40B4-BE49-F238E27FC236}">
                <a16:creationId xmlns:a16="http://schemas.microsoft.com/office/drawing/2014/main" id="{503667E9-4C07-4568-BD40-68E2CADA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68" y="2762250"/>
            <a:ext cx="4229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529" name="Clarify">
            <a:extLst xmlns:a="http://schemas.openxmlformats.org/drawingml/2006/main">
              <a:ext uri="{FF2B5EF4-FFF2-40B4-BE49-F238E27FC236}">
                <a16:creationId xmlns:a16="http://schemas.microsoft.com/office/drawing/2014/main" id="{3103CC90-5A26-4CC5-8279-E8409A2B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2762250"/>
            <a:ext cx="276606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Clarify</a:t>
            </a:r>
          </a:p>
        </p:txBody>
      </p:sp>
      <p:sp>
        <p:nvSpPr>
          <p:cNvPr id="530" name="What details are missing?">
            <a:extLst xmlns:a="http://schemas.openxmlformats.org/drawingml/2006/main">
              <a:ext uri="{FF2B5EF4-FFF2-40B4-BE49-F238E27FC236}">
                <a16:creationId xmlns:a16="http://schemas.microsoft.com/office/drawing/2014/main" id="{834FC386-AFF4-4ECA-A868-CFE57324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3162300"/>
            <a:ext cx="3432817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details are missing?</a:t>
            </a:r>
          </a:p>
        </p:txBody>
      </p:sp>
      <p:sp>
        <p:nvSpPr>
          <p:cNvPr id="531" name="03">
            <a:extLst xmlns:a="http://schemas.openxmlformats.org/drawingml/2006/main">
              <a:ext uri="{FF2B5EF4-FFF2-40B4-BE49-F238E27FC236}">
                <a16:creationId xmlns:a16="http://schemas.microsoft.com/office/drawing/2014/main" id="{85045B9F-5680-4C38-AD4C-384F2980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68" y="3733801"/>
            <a:ext cx="4229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532" name="Source">
            <a:extLst xmlns:a="http://schemas.openxmlformats.org/drawingml/2006/main">
              <a:ext uri="{FF2B5EF4-FFF2-40B4-BE49-F238E27FC236}">
                <a16:creationId xmlns:a16="http://schemas.microsoft.com/office/drawing/2014/main" id="{D0C36DE9-F8E6-449F-8115-BD3A6FF9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3733801"/>
            <a:ext cx="276606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Source</a:t>
            </a:r>
          </a:p>
        </p:txBody>
      </p:sp>
      <p:sp>
        <p:nvSpPr>
          <p:cNvPr id="533" name="Who can make it?">
            <a:extLst xmlns:a="http://schemas.openxmlformats.org/drawingml/2006/main">
              <a:ext uri="{FF2B5EF4-FFF2-40B4-BE49-F238E27FC236}">
                <a16:creationId xmlns:a16="http://schemas.microsoft.com/office/drawing/2014/main" id="{F5EB3687-2197-49B1-9912-505E53E2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4133851"/>
            <a:ext cx="3432817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Who can make it?</a:t>
            </a:r>
          </a:p>
        </p:txBody>
      </p:sp>
      <p:sp>
        <p:nvSpPr>
          <p:cNvPr id="534" name="04">
            <a:extLst xmlns:a="http://schemas.openxmlformats.org/drawingml/2006/main">
              <a:ext uri="{FF2B5EF4-FFF2-40B4-BE49-F238E27FC236}">
                <a16:creationId xmlns:a16="http://schemas.microsoft.com/office/drawing/2014/main" id="{9B78FDCD-5606-49F9-B2E0-468033FC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68" y="4705351"/>
            <a:ext cx="42291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6E56C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535" name="Review">
            <a:extLst xmlns:a="http://schemas.openxmlformats.org/drawingml/2006/main">
              <a:ext uri="{FF2B5EF4-FFF2-40B4-BE49-F238E27FC236}">
                <a16:creationId xmlns:a16="http://schemas.microsoft.com/office/drawing/2014/main" id="{DC6C7A32-BE78-4898-9C87-1DAD807B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4705351"/>
            <a:ext cx="2766067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Review</a:t>
            </a:r>
          </a:p>
        </p:txBody>
      </p:sp>
      <p:sp>
        <p:nvSpPr>
          <p:cNvPr id="536" name="What needs approval?">
            <a:extLst xmlns:a="http://schemas.openxmlformats.org/drawingml/2006/main">
              <a:ext uri="{FF2B5EF4-FFF2-40B4-BE49-F238E27FC236}">
                <a16:creationId xmlns:a16="http://schemas.microsoft.com/office/drawing/2014/main" id="{305C4FF9-FF84-478B-89C5-AEB5B425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68" y="5105401"/>
            <a:ext cx="3432817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needs approval?</a:t>
            </a:r>
          </a:p>
        </p:txBody>
      </p:sp>
      <p:sp>
        <p:nvSpPr>
          <p:cNvPr id="537" name="Screenshot: fabricate.to/sku/meeting-recorder.">
            <a:extLst xmlns:a="http://schemas.openxmlformats.org/drawingml/2006/main">
              <a:ext uri="{FF2B5EF4-FFF2-40B4-BE49-F238E27FC236}">
                <a16:creationId xmlns:a16="http://schemas.microsoft.com/office/drawing/2014/main" id="{C8CD64D0-2F86-49DE-8CAB-B8EB7ACA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Screenshot: fabricate.to/sku/meeting-recorder.</a:t>
            </a:r>
          </a:p>
        </p:txBody>
      </p:sp>
      <p:sp>
        <p:nvSpPr>
          <p:cNvPr id="538" name="Rectangle">
            <a:extLst xmlns:a="http://schemas.openxmlformats.org/drawingml/2006/main">
              <a:ext uri="{FF2B5EF4-FFF2-40B4-BE49-F238E27FC236}">
                <a16:creationId xmlns:a16="http://schemas.microsoft.com/office/drawing/2014/main" id="{D5396C95-4FF7-4A91-88DF-96A2958A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5" name="image14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35a95f6a04fa4"/>
          <a:srcRect xmlns:a="http://schemas.openxmlformats.org/drawingml/2006/main" l="143" t="0" r="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47" y="1809750"/>
            <a:ext cx="6572254" cy="37909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40" name="Rectangle">
            <a:extLst xmlns:a="http://schemas.openxmlformats.org/drawingml/2006/main">
              <a:ext uri="{FF2B5EF4-FFF2-40B4-BE49-F238E27FC236}">
                <a16:creationId xmlns:a16="http://schemas.microsoft.com/office/drawing/2014/main" id="{2705EAE6-CE05-4DC5-9E78-41FE0049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1" name="Fabricate agent: prompt -&gt; sourced parts -&gt; physical product design.">
            <a:extLst xmlns:a="http://schemas.openxmlformats.org/drawingml/2006/main">
              <a:ext uri="{FF2B5EF4-FFF2-40B4-BE49-F238E27FC236}">
                <a16:creationId xmlns:a16="http://schemas.microsoft.com/office/drawing/2014/main" id="{84C08679-21F3-407E-A317-E030663A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18" y="5829301"/>
            <a:ext cx="5985514" cy="231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9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Fabricate agent: prompt -&gt; sourced parts -&gt; physical product design.</a:t>
            </a:r>
          </a:p>
        </p:txBody>
      </p:sp>
      <p:sp>
        <p:nvSpPr>
          <p:cNvPr id="542" name="Rectangle">
            <a:extLst xmlns:a="http://schemas.openxmlformats.org/drawingml/2006/main">
              <a:ext uri="{FF2B5EF4-FFF2-40B4-BE49-F238E27FC236}">
                <a16:creationId xmlns:a16="http://schemas.microsoft.com/office/drawing/2014/main" id="{B2A18FB2-FEDD-4938-99D3-0ADFFA0E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019800"/>
            <a:ext cx="415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3" name="Screenshot: attached Fabricate SKU agent example.">
            <a:extLst xmlns:a="http://schemas.openxmlformats.org/drawingml/2006/main">
              <a:ext uri="{FF2B5EF4-FFF2-40B4-BE49-F238E27FC236}">
                <a16:creationId xmlns:a16="http://schemas.microsoft.com/office/drawing/2014/main" id="{4793F43C-14E2-45A5-84FB-177FE8C3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18" y="6076951"/>
            <a:ext cx="3432813" cy="1803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6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Screenshot: attached Fabricate SKU agent example.</a:t>
            </a:r>
          </a:p>
        </p:txBody>
      </p:sp>
    </p:spTree>
    <p:extLst>
      <p:ext uri="{BB962C8B-B14F-4D97-AF65-F5344CB8AC3E}">
        <p14:creationId xmlns:p14="http://schemas.microsoft.com/office/powerpoint/2010/main" val="469699168"/>
      </p:ext>
    </p:extLst>
  </p:cSld>
</p:sld>
</file>

<file path=ppt/slides/slide1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5" name="Example: coding agents">
            <a:extLst xmlns:a="http://schemas.openxmlformats.org/drawingml/2006/main">
              <a:ext uri="{FF2B5EF4-FFF2-40B4-BE49-F238E27FC236}">
                <a16:creationId xmlns:a16="http://schemas.microsoft.com/office/drawing/2014/main" id="{73CB9356-3708-48CE-ADE7-08FB47C9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Example: coding agents</a:t>
            </a:r>
          </a:p>
        </p:txBody>
      </p:sp>
      <p:sp>
        <p:nvSpPr>
          <p:cNvPr id="546" name="They can read a task, edit files, and show the work for review.">
            <a:extLst xmlns:a="http://schemas.openxmlformats.org/drawingml/2006/main">
              <a:ext uri="{FF2B5EF4-FFF2-40B4-BE49-F238E27FC236}">
                <a16:creationId xmlns:a16="http://schemas.microsoft.com/office/drawing/2014/main" id="{B9CEDEC3-45A9-4AB7-B170-E5A9898B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They can read a task, edit files, and show the work for review.</a:t>
            </a:r>
          </a:p>
        </p:txBody>
      </p:sp>
      <p:sp>
        <p:nvSpPr>
          <p:cNvPr id="547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C068E8F7-2DDD-42B1-9747-2531970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548" name="18">
            <a:extLst xmlns:a="http://schemas.openxmlformats.org/drawingml/2006/main">
              <a:ext uri="{FF2B5EF4-FFF2-40B4-BE49-F238E27FC236}">
                <a16:creationId xmlns:a16="http://schemas.microsoft.com/office/drawing/2014/main" id="{019BDED3-6FFC-4F7D-A981-8183DE8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18</a:t>
            </a:r>
          </a:p>
        </p:txBody>
      </p:sp>
      <p:pic>
        <p:nvPicPr>
          <p:cNvPr id="562" name="image12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d264fd0224284"/>
          <a:srcRect xmlns:a="http://schemas.openxmlformats.org/drawingml/2006/main" l="0" t="289" r="0" b="2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809747"/>
            <a:ext cx="5353050" cy="304800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563" name="imag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89599a447455c"/>
          <a:srcRect xmlns:a="http://schemas.openxmlformats.org/drawingml/2006/main" l="3897" t="0" r="38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898" y="1809750"/>
            <a:ext cx="5353056" cy="304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51" name="Rectangle">
            <a:extLst xmlns:a="http://schemas.openxmlformats.org/drawingml/2006/main">
              <a:ext uri="{FF2B5EF4-FFF2-40B4-BE49-F238E27FC236}">
                <a16:creationId xmlns:a16="http://schemas.microsoft.com/office/drawing/2014/main" id="{12DFD336-CCC7-41D1-8BB2-AEB09107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535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2" name="Rectangle">
            <a:extLst xmlns:a="http://schemas.openxmlformats.org/drawingml/2006/main">
              <a:ext uri="{FF2B5EF4-FFF2-40B4-BE49-F238E27FC236}">
                <a16:creationId xmlns:a16="http://schemas.microsoft.com/office/drawing/2014/main" id="{EA5011FD-45BE-4CE2-8BD9-2DDF3A45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67300"/>
            <a:ext cx="535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3" name="Claude Code: ask for a change, then review what it did.">
            <a:extLst xmlns:a="http://schemas.openxmlformats.org/drawingml/2006/main">
              <a:ext uri="{FF2B5EF4-FFF2-40B4-BE49-F238E27FC236}">
                <a16:creationId xmlns:a16="http://schemas.microsoft.com/office/drawing/2014/main" id="{A758BF86-2404-4980-BBD4-E85E7F52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66" y="5257801"/>
            <a:ext cx="4671068" cy="294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300"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Claude Code: ask for a change, then review what it did.</a:t>
            </a:r>
          </a:p>
        </p:txBody>
      </p:sp>
      <p:sp>
        <p:nvSpPr>
          <p:cNvPr id="554" name="Codex: delegate coding work and inspect the result.">
            <a:extLst xmlns:a="http://schemas.openxmlformats.org/drawingml/2006/main">
              <a:ext uri="{FF2B5EF4-FFF2-40B4-BE49-F238E27FC236}">
                <a16:creationId xmlns:a16="http://schemas.microsoft.com/office/drawing/2014/main" id="{CC821D4C-AA85-4E02-9CBE-D205C594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18" y="5257801"/>
            <a:ext cx="4671067" cy="294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3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Codex: delegate coding work and inspect the result.</a:t>
            </a:r>
          </a:p>
        </p:txBody>
      </p:sp>
      <p:sp>
        <p:nvSpPr>
          <p:cNvPr id="555" name="Screenshots: anthropic.com/product/claude-code and developers.openai.com/codex.">
            <a:extLst xmlns:a="http://schemas.openxmlformats.org/drawingml/2006/main">
              <a:ext uri="{FF2B5EF4-FFF2-40B4-BE49-F238E27FC236}">
                <a16:creationId xmlns:a16="http://schemas.microsoft.com/office/drawing/2014/main" id="{C0815512-CD90-4CDB-B365-F3771C94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Screenshots: anthropic.com/product/claude-code and developers.openai.com/codex.</a:t>
            </a:r>
          </a:p>
        </p:txBody>
      </p:sp>
    </p:spTree>
    <p:extLst>
      <p:ext uri="{BB962C8B-B14F-4D97-AF65-F5344CB8AC3E}">
        <p14:creationId xmlns:p14="http://schemas.microsoft.com/office/powerpoint/2010/main" val="1566671028"/>
      </p:ext>
    </p:extLst>
  </p:cSld>
</p:sld>
</file>

<file path=ppt/slides/slide1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7" name="Agent evaluations">
            <a:extLst xmlns:a="http://schemas.openxmlformats.org/drawingml/2006/main">
              <a:ext uri="{FF2B5EF4-FFF2-40B4-BE49-F238E27FC236}">
                <a16:creationId xmlns:a16="http://schemas.microsoft.com/office/drawing/2014/main" id="{AEA837B0-0F96-4E5E-AD28-5E82B04D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 evaluations</a:t>
            </a:r>
          </a:p>
        </p:txBody>
      </p:sp>
      <p:sp>
        <p:nvSpPr>
          <p:cNvPr id="558" name="Benchmarks are obstacle courses for agents: same task, same rules, measurable result.">
            <a:extLst xmlns:a="http://schemas.openxmlformats.org/drawingml/2006/main">
              <a:ext uri="{FF2B5EF4-FFF2-40B4-BE49-F238E27FC236}">
                <a16:creationId xmlns:a16="http://schemas.microsoft.com/office/drawing/2014/main" id="{8D2AE9FD-A537-4CFD-859B-6720097A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Benchmarks are obstacle courses for agents: same task, same rules, measurable result.</a:t>
            </a:r>
          </a:p>
        </p:txBody>
      </p:sp>
      <p:sp>
        <p:nvSpPr>
          <p:cNvPr id="559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EC75EC32-7A00-4FE9-9252-2E266DBC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560" name="19">
            <a:extLst xmlns:a="http://schemas.openxmlformats.org/drawingml/2006/main">
              <a:ext uri="{FF2B5EF4-FFF2-40B4-BE49-F238E27FC236}">
                <a16:creationId xmlns:a16="http://schemas.microsoft.com/office/drawing/2014/main" id="{D2BC6132-175B-4C3D-BB86-D3EE20CC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19</a:t>
            </a:r>
          </a:p>
        </p:txBody>
      </p:sp>
      <p:pic>
        <p:nvPicPr>
          <p:cNvPr id="579" name="image14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495c7f331422a"/>
          <a:srcRect xmlns:a="http://schemas.openxmlformats.org/drawingml/2006/main" l="245" t="0" r="2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847850"/>
            <a:ext cx="5353050" cy="34099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62" name="Rectangle">
            <a:extLst xmlns:a="http://schemas.openxmlformats.org/drawingml/2006/main">
              <a:ext uri="{FF2B5EF4-FFF2-40B4-BE49-F238E27FC236}">
                <a16:creationId xmlns:a16="http://schemas.microsoft.com/office/drawing/2014/main" id="{1F693633-4471-4D1C-8148-32320CA0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5105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3" name="SWE-bench">
            <a:extLst xmlns:a="http://schemas.openxmlformats.org/drawingml/2006/main">
              <a:ext uri="{FF2B5EF4-FFF2-40B4-BE49-F238E27FC236}">
                <a16:creationId xmlns:a16="http://schemas.microsoft.com/office/drawing/2014/main" id="{A6391BC2-E7ED-47B9-9C50-A0043CC7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9" y="2114550"/>
            <a:ext cx="276606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SWE-bench</a:t>
            </a:r>
          </a:p>
        </p:txBody>
      </p:sp>
      <p:sp>
        <p:nvSpPr>
          <p:cNvPr id="564" name="Can an agent fix real GitHub issues?">
            <a:extLst xmlns:a="http://schemas.openxmlformats.org/drawingml/2006/main">
              <a:ext uri="{FF2B5EF4-FFF2-40B4-BE49-F238E27FC236}">
                <a16:creationId xmlns:a16="http://schemas.microsoft.com/office/drawing/2014/main" id="{06624FBB-2E9B-412D-84C7-CB696B85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6" y="2457450"/>
            <a:ext cx="4194818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Can an agent fix real GitHub issues?</a:t>
            </a:r>
          </a:p>
        </p:txBody>
      </p:sp>
      <p:sp>
        <p:nvSpPr>
          <p:cNvPr id="565" name="Rectangle">
            <a:extLst xmlns:a="http://schemas.openxmlformats.org/drawingml/2006/main">
              <a:ext uri="{FF2B5EF4-FFF2-40B4-BE49-F238E27FC236}">
                <a16:creationId xmlns:a16="http://schemas.microsoft.com/office/drawing/2014/main" id="{CE275C8E-425E-4CC1-ACC6-ECD48D4D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5105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6" name="RefactorBench-JS">
            <a:extLst xmlns:a="http://schemas.openxmlformats.org/drawingml/2006/main">
              <a:ext uri="{FF2B5EF4-FFF2-40B4-BE49-F238E27FC236}">
                <a16:creationId xmlns:a16="http://schemas.microsoft.com/office/drawing/2014/main" id="{844193B5-91B6-4B70-A7E4-C5652A15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9" y="3276601"/>
            <a:ext cx="276606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RefactorBench-JS</a:t>
            </a:r>
          </a:p>
        </p:txBody>
      </p:sp>
      <p:sp>
        <p:nvSpPr>
          <p:cNvPr id="567" name="Can an agent refactor code without breaking it?">
            <a:extLst xmlns:a="http://schemas.openxmlformats.org/drawingml/2006/main">
              <a:ext uri="{FF2B5EF4-FFF2-40B4-BE49-F238E27FC236}">
                <a16:creationId xmlns:a16="http://schemas.microsoft.com/office/drawing/2014/main" id="{DDAA9183-33CE-4D71-B921-3731227B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6" y="3619501"/>
            <a:ext cx="4194818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Can an agent refactor code without breaking it?</a:t>
            </a:r>
          </a:p>
        </p:txBody>
      </p:sp>
      <p:sp>
        <p:nvSpPr>
          <p:cNvPr id="568" name="Rectangle">
            <a:extLst xmlns:a="http://schemas.openxmlformats.org/drawingml/2006/main">
              <a:ext uri="{FF2B5EF4-FFF2-40B4-BE49-F238E27FC236}">
                <a16:creationId xmlns:a16="http://schemas.microsoft.com/office/drawing/2014/main" id="{3FFCE579-929F-49AF-AF7D-EF5F4B38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5105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9" name="Why it matters">
            <a:extLst xmlns:a="http://schemas.openxmlformats.org/drawingml/2006/main">
              <a:ext uri="{FF2B5EF4-FFF2-40B4-BE49-F238E27FC236}">
                <a16:creationId xmlns:a16="http://schemas.microsoft.com/office/drawing/2014/main" id="{19562CB6-6421-4840-92BA-C92C30DE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9" y="4438651"/>
            <a:ext cx="276606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Why it matters</a:t>
            </a:r>
          </a:p>
        </p:txBody>
      </p:sp>
      <p:sp>
        <p:nvSpPr>
          <p:cNvPr id="570" name="Demos can be cherry-picked. Benchmarks are repeatable.">
            <a:extLst xmlns:a="http://schemas.openxmlformats.org/drawingml/2006/main">
              <a:ext uri="{FF2B5EF4-FFF2-40B4-BE49-F238E27FC236}">
                <a16:creationId xmlns:a16="http://schemas.microsoft.com/office/drawing/2014/main" id="{32C70987-AA31-4F1A-923A-6CBE55B3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6" y="4781551"/>
            <a:ext cx="4194818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Demos can be cherry-picked. Benchmarks are repeatable.</a:t>
            </a:r>
          </a:p>
        </p:txBody>
      </p:sp>
      <p:sp>
        <p:nvSpPr>
          <p:cNvPr id="571" name="Rectangle">
            <a:extLst xmlns:a="http://schemas.openxmlformats.org/drawingml/2006/main">
              <a:ext uri="{FF2B5EF4-FFF2-40B4-BE49-F238E27FC236}">
                <a16:creationId xmlns:a16="http://schemas.microsoft.com/office/drawing/2014/main" id="{CF9CC503-58D9-4B74-96A3-5C10F4B3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10200"/>
            <a:ext cx="535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2" name="RefactorBench-JS: Daniel's research on measuring coding agents.">
            <a:extLst xmlns:a="http://schemas.openxmlformats.org/drawingml/2006/main">
              <a:ext uri="{FF2B5EF4-FFF2-40B4-BE49-F238E27FC236}">
                <a16:creationId xmlns:a16="http://schemas.microsoft.com/office/drawing/2014/main" id="{C2511866-217F-4BBD-8338-EDC08629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318" y="5514976"/>
            <a:ext cx="4728217" cy="2565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RefactorBench-JS: Daniel's research on measuring coding agents.</a:t>
            </a:r>
          </a:p>
        </p:txBody>
      </p:sp>
      <p:sp>
        <p:nvSpPr>
          <p:cNvPr id="573" name="Sources: SWE-bench official benchmark; attached RefactorBench-JS paper screenshot.">
            <a:extLst xmlns:a="http://schemas.openxmlformats.org/drawingml/2006/main">
              <a:ext uri="{FF2B5EF4-FFF2-40B4-BE49-F238E27FC236}">
                <a16:creationId xmlns:a16="http://schemas.microsoft.com/office/drawing/2014/main" id="{706B1D7F-88AB-4B5F-9DAE-82006801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Sources: SWE-bench official benchmark; attached RefactorBench-JS paper screenshot.</a:t>
            </a:r>
          </a:p>
        </p:txBody>
      </p:sp>
    </p:spTree>
    <p:extLst>
      <p:ext uri="{BB962C8B-B14F-4D97-AF65-F5344CB8AC3E}">
        <p14:creationId xmlns:p14="http://schemas.microsoft.com/office/powerpoint/2010/main" val="1192041474"/>
      </p:ext>
    </p:extLst>
  </p:cSld>
</p:sld>
</file>

<file path=ppt/slides/slide2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5" name="AI labs build with agents too">
            <a:extLst xmlns:a="http://schemas.openxmlformats.org/drawingml/2006/main">
              <a:ext uri="{FF2B5EF4-FFF2-40B4-BE49-F238E27FC236}">
                <a16:creationId xmlns:a16="http://schemas.microsoft.com/office/drawing/2014/main" id="{92D9F3B9-67C9-41CF-BFDC-2268B81A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AI labs build with agents too</a:t>
            </a:r>
          </a:p>
        </p:txBody>
      </p:sp>
      <p:sp>
        <p:nvSpPr>
          <p:cNvPr id="576" name="OpenAI and Anthropic publicly describe heavy internal use of coding agents.">
            <a:extLst xmlns:a="http://schemas.openxmlformats.org/drawingml/2006/main">
              <a:ext uri="{FF2B5EF4-FFF2-40B4-BE49-F238E27FC236}">
                <a16:creationId xmlns:a16="http://schemas.microsoft.com/office/drawing/2014/main" id="{1F5E30D2-D0D2-4CD2-B74D-7D250E32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OpenAI and Anthropic publicly describe heavy internal use of coding agents.</a:t>
            </a:r>
          </a:p>
        </p:txBody>
      </p:sp>
      <p:sp>
        <p:nvSpPr>
          <p:cNvPr id="577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A00A4A45-1525-44B2-9815-FBB01D9B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578" name="20">
            <a:extLst xmlns:a="http://schemas.openxmlformats.org/drawingml/2006/main">
              <a:ext uri="{FF2B5EF4-FFF2-40B4-BE49-F238E27FC236}">
                <a16:creationId xmlns:a16="http://schemas.microsoft.com/office/drawing/2014/main" id="{BBEB3697-D7C3-4079-8C3E-714DDDAA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20</a:t>
            </a:r>
          </a:p>
        </p:txBody>
      </p:sp>
      <p:pic>
        <p:nvPicPr>
          <p:cNvPr id="596" name="imag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b98731b6b4428"/>
          <a:srcRect xmlns:a="http://schemas.openxmlformats.org/drawingml/2006/main" l="10730" t="0" r="107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924050"/>
            <a:ext cx="3562350" cy="23812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597" name="image12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18111e8654e50"/>
          <a:srcRect xmlns:a="http://schemas.openxmlformats.org/drawingml/2006/main" l="7162" t="0" r="71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4349" y="1924050"/>
            <a:ext cx="3562352" cy="23812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81" name="Rectangle">
            <a:extLst xmlns:a="http://schemas.openxmlformats.org/drawingml/2006/main">
              <a:ext uri="{FF2B5EF4-FFF2-40B4-BE49-F238E27FC236}">
                <a16:creationId xmlns:a16="http://schemas.microsoft.com/office/drawing/2014/main" id="{50AEFB26-FBC4-4137-B37C-E121CEDB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2" name="OpenAI">
            <a:extLst xmlns:a="http://schemas.openxmlformats.org/drawingml/2006/main">
              <a:ext uri="{FF2B5EF4-FFF2-40B4-BE49-F238E27FC236}">
                <a16:creationId xmlns:a16="http://schemas.microsoft.com/office/drawing/2014/main" id="{E41F56B2-7EB9-4FF5-90D6-A9047488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868" y="2152650"/>
            <a:ext cx="1432567" cy="396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0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OpenAI</a:t>
            </a:r>
          </a:p>
        </p:txBody>
      </p:sp>
      <p:sp>
        <p:nvSpPr>
          <p:cNvPr id="583" name="Codex-written product: humans steer, agents execute.">
            <a:extLst xmlns:a="http://schemas.openxmlformats.org/drawingml/2006/main">
              <a:ext uri="{FF2B5EF4-FFF2-40B4-BE49-F238E27FC236}">
                <a16:creationId xmlns:a16="http://schemas.microsoft.com/office/drawing/2014/main" id="{24DDBC94-7C45-45FB-898C-AD90590B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868" y="2533650"/>
            <a:ext cx="2575564" cy="447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Codex-written product: humans steer, agents execute.</a:t>
            </a:r>
          </a:p>
        </p:txBody>
      </p:sp>
      <p:sp>
        <p:nvSpPr>
          <p:cNvPr id="584" name="Rectangle">
            <a:extLst xmlns:a="http://schemas.openxmlformats.org/drawingml/2006/main">
              <a:ext uri="{FF2B5EF4-FFF2-40B4-BE49-F238E27FC236}">
                <a16:creationId xmlns:a16="http://schemas.microsoft.com/office/drawing/2014/main" id="{0632D594-C0BE-4DEE-B7CE-E4332641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5" name="Anthropic">
            <a:extLst xmlns:a="http://schemas.openxmlformats.org/drawingml/2006/main">
              <a:ext uri="{FF2B5EF4-FFF2-40B4-BE49-F238E27FC236}">
                <a16:creationId xmlns:a16="http://schemas.microsoft.com/office/drawing/2014/main" id="{2E347CF2-1062-4575-A9FF-5C815E2E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868" y="3524251"/>
            <a:ext cx="1718314" cy="396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000"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Anthropic</a:t>
            </a:r>
          </a:p>
        </p:txBody>
      </p:sp>
      <p:sp>
        <p:nvSpPr>
          <p:cNvPr id="586" name="Claude Tag is one main way their teams get work done.">
            <a:extLst xmlns:a="http://schemas.openxmlformats.org/drawingml/2006/main">
              <a:ext uri="{FF2B5EF4-FFF2-40B4-BE49-F238E27FC236}">
                <a16:creationId xmlns:a16="http://schemas.microsoft.com/office/drawing/2014/main" id="{B3B330FD-E73D-4813-B4AA-271AA8C5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868" y="3905251"/>
            <a:ext cx="2575564" cy="447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Claude Tag is one main way their teams get work done.</a:t>
            </a:r>
          </a:p>
        </p:txBody>
      </p:sp>
      <p:sp>
        <p:nvSpPr>
          <p:cNvPr id="587" name="Rectangle">
            <a:extLst xmlns:a="http://schemas.openxmlformats.org/drawingml/2006/main">
              <a:ext uri="{FF2B5EF4-FFF2-40B4-BE49-F238E27FC236}">
                <a16:creationId xmlns:a16="http://schemas.microsoft.com/office/drawing/2014/main" id="{650937AF-51F2-477E-8BDB-8A90481E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8" name="The pattern repeats: agents help build the tools that create more agents.">
            <a:extLst xmlns:a="http://schemas.openxmlformats.org/drawingml/2006/main">
              <a:ext uri="{FF2B5EF4-FFF2-40B4-BE49-F238E27FC236}">
                <a16:creationId xmlns:a16="http://schemas.microsoft.com/office/drawing/2014/main" id="{CE1D53C8-7D1D-47AC-A15E-461EB8C8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66" y="5353051"/>
            <a:ext cx="8328663" cy="3073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4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pattern repeats: agents help build the tools that create more agents.</a:t>
            </a:r>
          </a:p>
        </p:txBody>
      </p:sp>
      <p:sp>
        <p:nvSpPr>
          <p:cNvPr id="589" name="Sources: OpenAI Codex posts; Anthropic Claude Code and Claude Tag posts.">
            <a:extLst xmlns:a="http://schemas.openxmlformats.org/drawingml/2006/main">
              <a:ext uri="{FF2B5EF4-FFF2-40B4-BE49-F238E27FC236}">
                <a16:creationId xmlns:a16="http://schemas.microsoft.com/office/drawing/2014/main" id="{DA3FF4F6-1AD5-4296-B3FB-4478BD49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Sources: OpenAI Codex posts; Anthropic Claude Code and Claude Tag posts.</a:t>
            </a:r>
          </a:p>
        </p:txBody>
      </p:sp>
    </p:spTree>
    <p:extLst>
      <p:ext uri="{BB962C8B-B14F-4D97-AF65-F5344CB8AC3E}">
        <p14:creationId xmlns:p14="http://schemas.microsoft.com/office/powerpoint/2010/main" val="111554361"/>
      </p:ext>
    </p:extLst>
  </p:cSld>
</p:sld>
</file>

<file path=ppt/slides/slide2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1" name="When to use an agent">
            <a:extLst xmlns:a="http://schemas.openxmlformats.org/drawingml/2006/main">
              <a:ext uri="{FF2B5EF4-FFF2-40B4-BE49-F238E27FC236}">
                <a16:creationId xmlns:a16="http://schemas.microsoft.com/office/drawing/2014/main" id="{5AD54FC2-28EA-4911-8521-8F9B70B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When to use an agent</a:t>
            </a:r>
          </a:p>
        </p:txBody>
      </p:sp>
      <p:sp>
        <p:nvSpPr>
          <p:cNvPr id="592" name="The sweet spot is work with clear steps and a checkable result.">
            <a:extLst xmlns:a="http://schemas.openxmlformats.org/drawingml/2006/main">
              <a:ext uri="{FF2B5EF4-FFF2-40B4-BE49-F238E27FC236}">
                <a16:creationId xmlns:a16="http://schemas.microsoft.com/office/drawing/2014/main" id="{98E095CF-CC8A-4E0D-B913-7FC4E625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sweet spot is work with clear steps and a checkable result.</a:t>
            </a:r>
          </a:p>
        </p:txBody>
      </p:sp>
      <p:sp>
        <p:nvSpPr>
          <p:cNvPr id="593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6B7B15DD-23A4-442C-9745-492D8526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594" name="21">
            <a:extLst xmlns:a="http://schemas.openxmlformats.org/drawingml/2006/main">
              <a:ext uri="{FF2B5EF4-FFF2-40B4-BE49-F238E27FC236}">
                <a16:creationId xmlns:a16="http://schemas.microsoft.com/office/drawing/2014/main" id="{E61C6267-B8AC-4160-9CB3-3A28B505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21</a:t>
            </a:r>
          </a:p>
        </p:txBody>
      </p:sp>
      <p:sp>
        <p:nvSpPr>
          <p:cNvPr id="595" name="Rectangle">
            <a:extLst xmlns:a="http://schemas.openxmlformats.org/drawingml/2006/main">
              <a:ext uri="{FF2B5EF4-FFF2-40B4-BE49-F238E27FC236}">
                <a16:creationId xmlns:a16="http://schemas.microsoft.com/office/drawing/2014/main" id="{7F8DB059-5E65-4B43-9E90-E89BA605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13919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6" name="Good fit">
            <a:extLst xmlns:a="http://schemas.openxmlformats.org/drawingml/2006/main">
              <a:ext uri="{FF2B5EF4-FFF2-40B4-BE49-F238E27FC236}">
                <a16:creationId xmlns:a16="http://schemas.microsoft.com/office/drawing/2014/main" id="{F5E9901C-7649-4C77-A076-2938AB45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2152650"/>
            <a:ext cx="219456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Good fit</a:t>
            </a:r>
          </a:p>
        </p:txBody>
      </p:sp>
      <p:sp>
        <p:nvSpPr>
          <p:cNvPr id="597" name="repeatable, multi-step, easy to review">
            <a:extLst xmlns:a="http://schemas.openxmlformats.org/drawingml/2006/main">
              <a:ext uri="{FF2B5EF4-FFF2-40B4-BE49-F238E27FC236}">
                <a16:creationId xmlns:a16="http://schemas.microsoft.com/office/drawing/2014/main" id="{99C44BF3-7B2D-4A40-A30F-69CED5EF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518" y="2152650"/>
            <a:ext cx="7242814" cy="3454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7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repeatable, multi-step, easy to review</a:t>
            </a:r>
          </a:p>
        </p:txBody>
      </p:sp>
      <p:sp>
        <p:nvSpPr>
          <p:cNvPr id="598" name="Rectangle">
            <a:extLst xmlns:a="http://schemas.openxmlformats.org/drawingml/2006/main">
              <a:ext uri="{FF2B5EF4-FFF2-40B4-BE49-F238E27FC236}">
                <a16:creationId xmlns:a16="http://schemas.microsoft.com/office/drawing/2014/main" id="{36720F81-5748-4F44-8F00-2DFF7C82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7800"/>
            <a:ext cx="11391900" cy="127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9" name="Good fit">
            <a:extLst xmlns:a="http://schemas.openxmlformats.org/drawingml/2006/main">
              <a:ext uri="{FF2B5EF4-FFF2-40B4-BE49-F238E27FC236}">
                <a16:creationId xmlns:a16="http://schemas.microsoft.com/office/drawing/2014/main" id="{459F64CC-98ED-4EA0-83F8-FC0AFA25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2928939"/>
            <a:ext cx="219456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Good fit</a:t>
            </a:r>
          </a:p>
        </p:txBody>
      </p:sp>
      <p:sp>
        <p:nvSpPr>
          <p:cNvPr id="600" name="uses information across apps">
            <a:extLst xmlns:a="http://schemas.openxmlformats.org/drawingml/2006/main">
              <a:ext uri="{FF2B5EF4-FFF2-40B4-BE49-F238E27FC236}">
                <a16:creationId xmlns:a16="http://schemas.microsoft.com/office/drawing/2014/main" id="{981C047E-9F6A-4694-AC6F-4AAE7729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518" y="2928939"/>
            <a:ext cx="7242814" cy="3454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7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uses information across apps</a:t>
            </a:r>
          </a:p>
        </p:txBody>
      </p:sp>
      <p:sp>
        <p:nvSpPr>
          <p:cNvPr id="601" name="Rectangle">
            <a:extLst xmlns:a="http://schemas.openxmlformats.org/drawingml/2006/main">
              <a:ext uri="{FF2B5EF4-FFF2-40B4-BE49-F238E27FC236}">
                <a16:creationId xmlns:a16="http://schemas.microsoft.com/office/drawing/2014/main" id="{095B0663-949E-4EB9-9F0B-54E20951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4087"/>
            <a:ext cx="11391900" cy="12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2" name="Bad fit">
            <a:extLst xmlns:a="http://schemas.openxmlformats.org/drawingml/2006/main">
              <a:ext uri="{FF2B5EF4-FFF2-40B4-BE49-F238E27FC236}">
                <a16:creationId xmlns:a16="http://schemas.microsoft.com/office/drawing/2014/main" id="{42ED8A54-9E81-4A0D-A13F-67C4A7C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3705226"/>
            <a:ext cx="219456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Bad fit</a:t>
            </a:r>
          </a:p>
        </p:txBody>
      </p:sp>
      <p:sp>
        <p:nvSpPr>
          <p:cNvPr id="603" name="high-stakes decisions with no review">
            <a:extLst xmlns:a="http://schemas.openxmlformats.org/drawingml/2006/main">
              <a:ext uri="{FF2B5EF4-FFF2-40B4-BE49-F238E27FC236}">
                <a16:creationId xmlns:a16="http://schemas.microsoft.com/office/drawing/2014/main" id="{57BEC16E-9179-4A87-973B-C9813AE7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518" y="3705226"/>
            <a:ext cx="7242814" cy="3454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7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high-stakes decisions with no review</a:t>
            </a:r>
          </a:p>
        </p:txBody>
      </p:sp>
      <p:sp>
        <p:nvSpPr>
          <p:cNvPr id="604" name="Rectangle">
            <a:extLst xmlns:a="http://schemas.openxmlformats.org/drawingml/2006/main">
              <a:ext uri="{FF2B5EF4-FFF2-40B4-BE49-F238E27FC236}">
                <a16:creationId xmlns:a16="http://schemas.microsoft.com/office/drawing/2014/main" id="{0EA1D880-582A-461E-8E12-8E3FBE08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0375"/>
            <a:ext cx="11391900" cy="127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5" name="Bad fit">
            <a:extLst xmlns:a="http://schemas.openxmlformats.org/drawingml/2006/main">
              <a:ext uri="{FF2B5EF4-FFF2-40B4-BE49-F238E27FC236}">
                <a16:creationId xmlns:a16="http://schemas.microsoft.com/office/drawing/2014/main" id="{8B872D8B-848D-4253-9AB2-AB3104B1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4481512"/>
            <a:ext cx="2194562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6E56C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Bad fit</a:t>
            </a:r>
          </a:p>
        </p:txBody>
      </p:sp>
      <p:sp>
        <p:nvSpPr>
          <p:cNvPr id="606" name="unclear goals or hidden context">
            <a:extLst xmlns:a="http://schemas.openxmlformats.org/drawingml/2006/main">
              <a:ext uri="{FF2B5EF4-FFF2-40B4-BE49-F238E27FC236}">
                <a16:creationId xmlns:a16="http://schemas.microsoft.com/office/drawing/2014/main" id="{5F97B8EA-8CC4-4587-BAB5-FD2BE5FD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518" y="4481512"/>
            <a:ext cx="7242814" cy="3454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7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unclear goals or hidden context</a:t>
            </a:r>
          </a:p>
        </p:txBody>
      </p:sp>
      <p:sp>
        <p:nvSpPr>
          <p:cNvPr id="607" name="Simple rule: let agents help with drafts, searches, and workflows before letting them make final decisions.">
            <a:extLst xmlns:a="http://schemas.openxmlformats.org/drawingml/2006/main">
              <a:ext uri="{FF2B5EF4-FFF2-40B4-BE49-F238E27FC236}">
                <a16:creationId xmlns:a16="http://schemas.microsoft.com/office/drawing/2014/main" id="{73EBE9BE-D33C-40B7-82A6-37A66AC1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65" y="5391151"/>
            <a:ext cx="9852670" cy="5994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7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Simple rule: let agents help with drafts, searches, and workflows before letting them make final decisions.</a:t>
            </a:r>
          </a:p>
        </p:txBody>
      </p:sp>
    </p:spTree>
    <p:extLst>
      <p:ext uri="{BB962C8B-B14F-4D97-AF65-F5344CB8AC3E}">
        <p14:creationId xmlns:p14="http://schemas.microsoft.com/office/powerpoint/2010/main" val="72107659"/>
      </p:ext>
    </p:extLst>
  </p:cSld>
</p:sld>
</file>

<file path=ppt/slides/slide2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9" name="Agents in daily life">
            <a:extLst xmlns:a="http://schemas.openxmlformats.org/drawingml/2006/main">
              <a:ext uri="{FF2B5EF4-FFF2-40B4-BE49-F238E27FC236}">
                <a16:creationId xmlns:a16="http://schemas.microsoft.com/office/drawing/2014/main" id="{9BB865D1-938F-4CC0-965D-1BEA9BCE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Agents in daily life</a:t>
            </a:r>
          </a:p>
        </p:txBody>
      </p:sp>
      <p:sp>
        <p:nvSpPr>
          <p:cNvPr id="610" name="Look for the same pattern in the tools people already keep open all day.">
            <a:extLst xmlns:a="http://schemas.openxmlformats.org/drawingml/2006/main">
              <a:ext uri="{FF2B5EF4-FFF2-40B4-BE49-F238E27FC236}">
                <a16:creationId xmlns:a16="http://schemas.microsoft.com/office/drawing/2014/main" id="{9F9841F7-B11E-41BC-8F57-38A5B859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Look for the same pattern in the tools people already keep open all day.</a:t>
            </a:r>
          </a:p>
        </p:txBody>
      </p:sp>
      <p:sp>
        <p:nvSpPr>
          <p:cNvPr id="611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F7E06931-4101-4C2E-90D3-AC083D42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612" name="22">
            <a:extLst xmlns:a="http://schemas.openxmlformats.org/drawingml/2006/main">
              <a:ext uri="{FF2B5EF4-FFF2-40B4-BE49-F238E27FC236}">
                <a16:creationId xmlns:a16="http://schemas.microsoft.com/office/drawing/2014/main" id="{41D182DC-694F-43C8-A08A-B90013DA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22</a:t>
            </a:r>
          </a:p>
        </p:txBody>
      </p:sp>
      <p:sp>
        <p:nvSpPr>
          <p:cNvPr id="613" name="Rectangle">
            <a:extLst xmlns:a="http://schemas.openxmlformats.org/drawingml/2006/main">
              <a:ext uri="{FF2B5EF4-FFF2-40B4-BE49-F238E27FC236}">
                <a16:creationId xmlns:a16="http://schemas.microsoft.com/office/drawing/2014/main" id="{0F32A4AB-842D-41F0-ABCC-D2CC8BE2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5124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645" name="image17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3658edce3493c"/>
          <a:srcRect xmlns:a="http://schemas.openxmlformats.org/drawingml/2006/main" l="116" t="0" r="1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798" y="1847850"/>
            <a:ext cx="2343153" cy="13906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15" name="Rectangle">
            <a:extLst xmlns:a="http://schemas.openxmlformats.org/drawingml/2006/main">
              <a:ext uri="{FF2B5EF4-FFF2-40B4-BE49-F238E27FC236}">
                <a16:creationId xmlns:a16="http://schemas.microsoft.com/office/drawing/2014/main" id="{119A3C13-B281-4993-B942-1334A627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47850"/>
            <a:ext cx="2400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6" name="Claude in Slack">
            <a:extLst xmlns:a="http://schemas.openxmlformats.org/drawingml/2006/main">
              <a:ext uri="{FF2B5EF4-FFF2-40B4-BE49-F238E27FC236}">
                <a16:creationId xmlns:a16="http://schemas.microsoft.com/office/drawing/2014/main" id="{8C2D7525-3598-4DCB-B463-9B4CD4D0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68" y="2152650"/>
            <a:ext cx="1889764" cy="3073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Claude in Slack</a:t>
            </a:r>
          </a:p>
        </p:txBody>
      </p:sp>
      <p:sp>
        <p:nvSpPr>
          <p:cNvPr id="617" name="AI teammate inside team chat">
            <a:extLst xmlns:a="http://schemas.openxmlformats.org/drawingml/2006/main">
              <a:ext uri="{FF2B5EF4-FFF2-40B4-BE49-F238E27FC236}">
                <a16:creationId xmlns:a16="http://schemas.microsoft.com/office/drawing/2014/main" id="{9AEC6CA7-A0A6-413F-A5A4-69304DD2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68" y="2533650"/>
            <a:ext cx="1794514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1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AI teammate inside team chat</a:t>
            </a:r>
          </a:p>
        </p:txBody>
      </p:sp>
      <p:sp>
        <p:nvSpPr>
          <p:cNvPr id="618" name="Rectangle">
            <a:extLst xmlns:a="http://schemas.openxmlformats.org/drawingml/2006/main">
              <a:ext uri="{FF2B5EF4-FFF2-40B4-BE49-F238E27FC236}">
                <a16:creationId xmlns:a16="http://schemas.microsoft.com/office/drawing/2014/main" id="{0357E025-4C28-4F2E-8C3F-541FCDED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5124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650" name="image18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b3621a525455f"/>
          <a:srcRect xmlns:a="http://schemas.openxmlformats.org/drawingml/2006/main" l="116" t="0" r="1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847850"/>
            <a:ext cx="2343155" cy="13906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20" name="Rectangle">
            <a:extLst xmlns:a="http://schemas.openxmlformats.org/drawingml/2006/main">
              <a:ext uri="{FF2B5EF4-FFF2-40B4-BE49-F238E27FC236}">
                <a16:creationId xmlns:a16="http://schemas.microsoft.com/office/drawing/2014/main" id="{2AE5B22F-4F97-45DA-8107-9337C0CC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47850"/>
            <a:ext cx="2400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1" name="ChatGPT in Slack">
            <a:extLst xmlns:a="http://schemas.openxmlformats.org/drawingml/2006/main">
              <a:ext uri="{FF2B5EF4-FFF2-40B4-BE49-F238E27FC236}">
                <a16:creationId xmlns:a16="http://schemas.microsoft.com/office/drawing/2014/main" id="{B37E5CBF-C202-4F64-B867-46FF937E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468" y="2152650"/>
            <a:ext cx="1889764" cy="3073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ChatGPT in Slack</a:t>
            </a:r>
          </a:p>
        </p:txBody>
      </p:sp>
      <p:sp>
        <p:nvSpPr>
          <p:cNvPr id="622" name="Assistant surfaced in a chat workspace">
            <a:extLst xmlns:a="http://schemas.openxmlformats.org/drawingml/2006/main">
              <a:ext uri="{FF2B5EF4-FFF2-40B4-BE49-F238E27FC236}">
                <a16:creationId xmlns:a16="http://schemas.microsoft.com/office/drawing/2014/main" id="{1332603D-414A-4D36-A32F-22EDEEA0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468" y="2533650"/>
            <a:ext cx="1794514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1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Assistant surfaced in a chat workspace</a:t>
            </a:r>
          </a:p>
        </p:txBody>
      </p:sp>
      <p:sp>
        <p:nvSpPr>
          <p:cNvPr id="623" name="Rectangle">
            <a:extLst xmlns:a="http://schemas.openxmlformats.org/drawingml/2006/main">
              <a:ext uri="{FF2B5EF4-FFF2-40B4-BE49-F238E27FC236}">
                <a16:creationId xmlns:a16="http://schemas.microsoft.com/office/drawing/2014/main" id="{59EE306E-05E6-4A01-AD21-C6F3657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5124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655" name="image19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76ebd7e034212"/>
          <a:srcRect xmlns:a="http://schemas.openxmlformats.org/drawingml/2006/main" l="0" t="2382" r="0" b="2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57598"/>
            <a:ext cx="2343150" cy="1390657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25" name="Rectangle">
            <a:extLst xmlns:a="http://schemas.openxmlformats.org/drawingml/2006/main">
              <a:ext uri="{FF2B5EF4-FFF2-40B4-BE49-F238E27FC236}">
                <a16:creationId xmlns:a16="http://schemas.microsoft.com/office/drawing/2014/main" id="{9A162C3E-97D8-48C5-8A23-2A4A0BE7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57600"/>
            <a:ext cx="2400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6" name="Microsoft 365 agents">
            <a:extLst xmlns:a="http://schemas.openxmlformats.org/drawingml/2006/main">
              <a:ext uri="{FF2B5EF4-FFF2-40B4-BE49-F238E27FC236}">
                <a16:creationId xmlns:a16="http://schemas.microsoft.com/office/drawing/2014/main" id="{4CEA91EA-66C6-49ED-9D1B-080E29FE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68" y="3962401"/>
            <a:ext cx="1889764" cy="3073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Microsoft 365 agents</a:t>
            </a:r>
          </a:p>
        </p:txBody>
      </p:sp>
      <p:sp>
        <p:nvSpPr>
          <p:cNvPr id="627" name="Role-specific agents in office work">
            <a:extLst xmlns:a="http://schemas.openxmlformats.org/drawingml/2006/main">
              <a:ext uri="{FF2B5EF4-FFF2-40B4-BE49-F238E27FC236}">
                <a16:creationId xmlns:a16="http://schemas.microsoft.com/office/drawing/2014/main" id="{AC59D5B1-0EDC-45F7-A259-FA31B118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68" y="4343401"/>
            <a:ext cx="1794514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1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Role-specific agents in office work</a:t>
            </a:r>
          </a:p>
        </p:txBody>
      </p:sp>
      <p:sp>
        <p:nvSpPr>
          <p:cNvPr id="628" name="Rectangle">
            <a:extLst xmlns:a="http://schemas.openxmlformats.org/drawingml/2006/main">
              <a:ext uri="{FF2B5EF4-FFF2-40B4-BE49-F238E27FC236}">
                <a16:creationId xmlns:a16="http://schemas.microsoft.com/office/drawing/2014/main" id="{E5175B0F-D511-43FC-A985-BA1681AA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5124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8BCC4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660" name="image20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458ff38c8450e"/>
          <a:srcRect xmlns:a="http://schemas.openxmlformats.org/drawingml/2006/main" l="4635" t="0" r="46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696" y="3657600"/>
            <a:ext cx="2343158" cy="13906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30" name="Rectangle">
            <a:extLst xmlns:a="http://schemas.openxmlformats.org/drawingml/2006/main">
              <a:ext uri="{FF2B5EF4-FFF2-40B4-BE49-F238E27FC236}">
                <a16:creationId xmlns:a16="http://schemas.microsoft.com/office/drawing/2014/main" id="{4515F6BB-B623-41E7-B30E-3AAED36F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57600"/>
            <a:ext cx="2400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1" name="Intercom Fin">
            <a:extLst xmlns:a="http://schemas.openxmlformats.org/drawingml/2006/main">
              <a:ext uri="{FF2B5EF4-FFF2-40B4-BE49-F238E27FC236}">
                <a16:creationId xmlns:a16="http://schemas.microsoft.com/office/drawing/2014/main" id="{77A72DB6-D683-4C9E-96E0-668491BA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468" y="3962401"/>
            <a:ext cx="1889764" cy="3073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Intercom Fin</a:t>
            </a:r>
          </a:p>
        </p:txBody>
      </p:sp>
      <p:sp>
        <p:nvSpPr>
          <p:cNvPr id="632" name="Support agent resolving a customer issue">
            <a:extLst xmlns:a="http://schemas.openxmlformats.org/drawingml/2006/main">
              <a:ext uri="{FF2B5EF4-FFF2-40B4-BE49-F238E27FC236}">
                <a16:creationId xmlns:a16="http://schemas.microsoft.com/office/drawing/2014/main" id="{93D4306E-AF1D-4A7C-997F-2DF64A18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468" y="4343401"/>
            <a:ext cx="1794514" cy="421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1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Support agent resolving a customer issue</a:t>
            </a:r>
          </a:p>
        </p:txBody>
      </p:sp>
      <p:sp>
        <p:nvSpPr>
          <p:cNvPr id="633" name="Rectangle">
            <a:extLst xmlns:a="http://schemas.openxmlformats.org/drawingml/2006/main">
              <a:ext uri="{FF2B5EF4-FFF2-40B4-BE49-F238E27FC236}">
                <a16:creationId xmlns:a16="http://schemas.microsoft.com/office/drawing/2014/main" id="{2626972E-B6FF-4D9A-A151-DBA0F6BF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67350"/>
            <a:ext cx="994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4" name="The wrapper disappears into familiar surfaces: chat, office work, support, and utilities.">
            <a:extLst xmlns:a="http://schemas.openxmlformats.org/drawingml/2006/main">
              <a:ext uri="{FF2B5EF4-FFF2-40B4-BE49-F238E27FC236}">
                <a16:creationId xmlns:a16="http://schemas.microsoft.com/office/drawing/2014/main" id="{4B870EFE-B190-47C0-8CF3-3CF7CFA5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65" y="5562601"/>
            <a:ext cx="92430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wrapper disappears into familiar surfaces: chat, office work, support, and utilities.</a:t>
            </a:r>
          </a:p>
        </p:txBody>
      </p:sp>
      <p:sp>
        <p:nvSpPr>
          <p:cNvPr id="635" name="Screenshots: Slack Marketplace, Microsoft 365 Copilot agents, Intercom Fin Vision.">
            <a:extLst xmlns:a="http://schemas.openxmlformats.org/drawingml/2006/main">
              <a:ext uri="{FF2B5EF4-FFF2-40B4-BE49-F238E27FC236}">
                <a16:creationId xmlns:a16="http://schemas.microsoft.com/office/drawing/2014/main" id="{6362DCBE-FA64-487E-AF0D-AD9ED654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" y="6057901"/>
            <a:ext cx="8957320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Screenshots: Slack Marketplace, Microsoft 365 Copilot agents, Intercom Fin Vision.</a:t>
            </a:r>
          </a:p>
        </p:txBody>
      </p:sp>
    </p:spTree>
    <p:extLst>
      <p:ext uri="{BB962C8B-B14F-4D97-AF65-F5344CB8AC3E}">
        <p14:creationId xmlns:p14="http://schemas.microsoft.com/office/powerpoint/2010/main" val="548330052"/>
      </p:ext>
    </p:extLst>
  </p:cSld>
</p:sld>
</file>

<file path=ppt/slides/slide2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7" name="How to start">
            <a:extLst xmlns:a="http://schemas.openxmlformats.org/drawingml/2006/main">
              <a:ext uri="{FF2B5EF4-FFF2-40B4-BE49-F238E27FC236}">
                <a16:creationId xmlns:a16="http://schemas.microsoft.com/office/drawing/2014/main" id="{E0209718-2AE4-40B4-BCBB-A4F9471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How to start</a:t>
            </a:r>
          </a:p>
        </p:txBody>
      </p:sp>
      <p:sp>
        <p:nvSpPr>
          <p:cNvPr id="638" name="Start small, keep approvals, and grow from real wins.">
            <a:extLst xmlns:a="http://schemas.openxmlformats.org/drawingml/2006/main">
              <a:ext uri="{FF2B5EF4-FFF2-40B4-BE49-F238E27FC236}">
                <a16:creationId xmlns:a16="http://schemas.microsoft.com/office/drawing/2014/main" id="{A1146D91-067A-463D-A203-0B65BA98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Start small, keep approvals, and grow from real wins.</a:t>
            </a:r>
          </a:p>
        </p:txBody>
      </p:sp>
      <p:sp>
        <p:nvSpPr>
          <p:cNvPr id="639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F9593E6A-55EE-45C1-8D3E-216BAA79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640" name="23">
            <a:extLst xmlns:a="http://schemas.openxmlformats.org/drawingml/2006/main">
              <a:ext uri="{FF2B5EF4-FFF2-40B4-BE49-F238E27FC236}">
                <a16:creationId xmlns:a16="http://schemas.microsoft.com/office/drawing/2014/main" id="{56BDCDED-E39B-4363-B46A-8845319C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23</a:t>
            </a:r>
          </a:p>
        </p:txBody>
      </p:sp>
      <p:sp>
        <p:nvSpPr>
          <p:cNvPr id="641" name="Rectangle">
            <a:extLst xmlns:a="http://schemas.openxmlformats.org/drawingml/2006/main">
              <a:ext uri="{FF2B5EF4-FFF2-40B4-BE49-F238E27FC236}">
                <a16:creationId xmlns:a16="http://schemas.microsoft.com/office/drawing/2014/main" id="{7410DB72-A929-46A4-AAFD-88680B24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247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2" name="1">
            <a:extLst xmlns:a="http://schemas.openxmlformats.org/drawingml/2006/main">
              <a:ext uri="{FF2B5EF4-FFF2-40B4-BE49-F238E27FC236}">
                <a16:creationId xmlns:a16="http://schemas.microsoft.com/office/drawing/2014/main" id="{5848509E-4D3F-470D-9A6C-DC4CD682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9" y="2476500"/>
            <a:ext cx="1775462" cy="294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300" b="1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  <p:sp>
        <p:nvSpPr>
          <p:cNvPr id="643" name="Pick one task">
            <a:extLst xmlns:a="http://schemas.openxmlformats.org/drawingml/2006/main">
              <a:ext uri="{FF2B5EF4-FFF2-40B4-BE49-F238E27FC236}">
                <a16:creationId xmlns:a16="http://schemas.microsoft.com/office/drawing/2014/main" id="{2CC4B999-42B7-4B2C-A517-2695E593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9" y="3028950"/>
            <a:ext cx="1775462" cy="7264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Pick one task</a:t>
            </a:r>
          </a:p>
        </p:txBody>
      </p:sp>
      <p:sp>
        <p:nvSpPr>
          <p:cNvPr id="644" name="A repeated task people already understand.">
            <a:extLst xmlns:a="http://schemas.openxmlformats.org/drawingml/2006/main">
              <a:ext uri="{FF2B5EF4-FFF2-40B4-BE49-F238E27FC236}">
                <a16:creationId xmlns:a16="http://schemas.microsoft.com/office/drawing/2014/main" id="{0E56A8EB-EB68-4659-9F71-C2534502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19" y="3981451"/>
            <a:ext cx="1775462" cy="447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 repeated task people already understand.</a:t>
            </a:r>
          </a:p>
        </p:txBody>
      </p:sp>
      <p:sp>
        <p:nvSpPr>
          <p:cNvPr id="645" name="Rectangle">
            <a:extLst xmlns:a="http://schemas.openxmlformats.org/drawingml/2006/main">
              <a:ext uri="{FF2B5EF4-FFF2-40B4-BE49-F238E27FC236}">
                <a16:creationId xmlns:a16="http://schemas.microsoft.com/office/drawing/2014/main" id="{814C8F15-91B6-414A-B592-91D676F2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247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6" name="2">
            <a:extLst xmlns:a="http://schemas.openxmlformats.org/drawingml/2006/main">
              <a:ext uri="{FF2B5EF4-FFF2-40B4-BE49-F238E27FC236}">
                <a16:creationId xmlns:a16="http://schemas.microsoft.com/office/drawing/2014/main" id="{13D0C63F-BB05-48A2-840D-F83814A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18" y="2476500"/>
            <a:ext cx="1775464" cy="294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300" b="1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647" name="Give examples">
            <a:extLst xmlns:a="http://schemas.openxmlformats.org/drawingml/2006/main">
              <a:ext uri="{FF2B5EF4-FFF2-40B4-BE49-F238E27FC236}">
                <a16:creationId xmlns:a16="http://schemas.microsoft.com/office/drawing/2014/main" id="{FA88DEB4-4E34-42CF-A57A-1E6FC734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18" y="3028950"/>
            <a:ext cx="1775464" cy="7264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Give examples</a:t>
            </a:r>
          </a:p>
        </p:txBody>
      </p:sp>
      <p:sp>
        <p:nvSpPr>
          <p:cNvPr id="648" name="Show what good output looks like.">
            <a:extLst xmlns:a="http://schemas.openxmlformats.org/drawingml/2006/main">
              <a:ext uri="{FF2B5EF4-FFF2-40B4-BE49-F238E27FC236}">
                <a16:creationId xmlns:a16="http://schemas.microsoft.com/office/drawing/2014/main" id="{B633D334-BA51-43F4-987A-CAAC44D1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18" y="3981451"/>
            <a:ext cx="1775464" cy="447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Show what good output looks like.</a:t>
            </a:r>
          </a:p>
        </p:txBody>
      </p:sp>
      <p:sp>
        <p:nvSpPr>
          <p:cNvPr id="649" name="Rectangle">
            <a:extLst xmlns:a="http://schemas.openxmlformats.org/drawingml/2006/main">
              <a:ext uri="{FF2B5EF4-FFF2-40B4-BE49-F238E27FC236}">
                <a16:creationId xmlns:a16="http://schemas.microsoft.com/office/drawing/2014/main" id="{01C12212-FC4B-475E-BD47-C82F7AB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247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0" name="3">
            <a:extLst xmlns:a="http://schemas.openxmlformats.org/drawingml/2006/main">
              <a:ext uri="{FF2B5EF4-FFF2-40B4-BE49-F238E27FC236}">
                <a16:creationId xmlns:a16="http://schemas.microsoft.com/office/drawing/2014/main" id="{27C9CF7E-385D-4362-8345-998E4969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618" y="2476500"/>
            <a:ext cx="1775464" cy="294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300" b="1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3</a:t>
            </a:r>
          </a:p>
        </p:txBody>
      </p:sp>
      <p:sp>
        <p:nvSpPr>
          <p:cNvPr id="651" name="Require review">
            <a:extLst xmlns:a="http://schemas.openxmlformats.org/drawingml/2006/main">
              <a:ext uri="{FF2B5EF4-FFF2-40B4-BE49-F238E27FC236}">
                <a16:creationId xmlns:a16="http://schemas.microsoft.com/office/drawing/2014/main" id="{3C690849-569C-4843-A96F-5337937E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618" y="3028950"/>
            <a:ext cx="1775464" cy="7264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Require review</a:t>
            </a:r>
          </a:p>
        </p:txBody>
      </p:sp>
      <p:sp>
        <p:nvSpPr>
          <p:cNvPr id="652" name="Keep humans in charge.">
            <a:extLst xmlns:a="http://schemas.openxmlformats.org/drawingml/2006/main">
              <a:ext uri="{FF2B5EF4-FFF2-40B4-BE49-F238E27FC236}">
                <a16:creationId xmlns:a16="http://schemas.microsoft.com/office/drawing/2014/main" id="{94170F7B-2D5A-4AAC-962E-2D098CE3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618" y="3981451"/>
            <a:ext cx="1775464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Keep humans in charge.</a:t>
            </a:r>
          </a:p>
        </p:txBody>
      </p:sp>
      <p:sp>
        <p:nvSpPr>
          <p:cNvPr id="653" name="Rectangle">
            <a:extLst xmlns:a="http://schemas.openxmlformats.org/drawingml/2006/main">
              <a:ext uri="{FF2B5EF4-FFF2-40B4-BE49-F238E27FC236}">
                <a16:creationId xmlns:a16="http://schemas.microsoft.com/office/drawing/2014/main" id="{9A23651B-948D-4330-9901-BE19F647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247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4" name="4">
            <a:extLst xmlns:a="http://schemas.openxmlformats.org/drawingml/2006/main">
              <a:ext uri="{FF2B5EF4-FFF2-40B4-BE49-F238E27FC236}">
                <a16:creationId xmlns:a16="http://schemas.microsoft.com/office/drawing/2014/main" id="{80B4D77D-6CCC-4720-B673-BA2CDECA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918" y="2476500"/>
            <a:ext cx="1775464" cy="294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300" b="1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4</a:t>
            </a:r>
          </a:p>
        </p:txBody>
      </p:sp>
      <p:sp>
        <p:nvSpPr>
          <p:cNvPr id="655" name="Expand carefully">
            <a:extLst xmlns:a="http://schemas.openxmlformats.org/drawingml/2006/main">
              <a:ext uri="{FF2B5EF4-FFF2-40B4-BE49-F238E27FC236}">
                <a16:creationId xmlns:a16="http://schemas.microsoft.com/office/drawing/2014/main" id="{DA6431FC-3580-4AF8-B756-E345CA06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918" y="3028950"/>
            <a:ext cx="1775464" cy="7264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Expand carefully</a:t>
            </a:r>
          </a:p>
        </p:txBody>
      </p:sp>
      <p:sp>
        <p:nvSpPr>
          <p:cNvPr id="656" name="Add more access only after it works.">
            <a:extLst xmlns:a="http://schemas.openxmlformats.org/drawingml/2006/main">
              <a:ext uri="{FF2B5EF4-FFF2-40B4-BE49-F238E27FC236}">
                <a16:creationId xmlns:a16="http://schemas.microsoft.com/office/drawing/2014/main" id="{2657B0AC-B75C-4FFA-9A12-C41FC435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918" y="3981451"/>
            <a:ext cx="1775464" cy="447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Add more access only after it works.</a:t>
            </a:r>
          </a:p>
        </p:txBody>
      </p:sp>
    </p:spTree>
    <p:extLst>
      <p:ext uri="{BB962C8B-B14F-4D97-AF65-F5344CB8AC3E}">
        <p14:creationId xmlns:p14="http://schemas.microsoft.com/office/powerpoint/2010/main" val="1829724051"/>
      </p:ext>
    </p:extLst>
  </p:cSld>
</p:sld>
</file>

<file path=ppt/slides/slide2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8" name="Rectangle">
            <a:extLst xmlns:a="http://schemas.openxmlformats.org/drawingml/2006/main">
              <a:ext uri="{FF2B5EF4-FFF2-40B4-BE49-F238E27FC236}">
                <a16:creationId xmlns:a16="http://schemas.microsoft.com/office/drawing/2014/main" id="{97C83C55-2E00-4573-8A7D-31B1609B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9" name="Takeaway">
            <a:extLst xmlns:a="http://schemas.openxmlformats.org/drawingml/2006/main">
              <a:ext uri="{FF2B5EF4-FFF2-40B4-BE49-F238E27FC236}">
                <a16:creationId xmlns:a16="http://schemas.microsoft.com/office/drawing/2014/main" id="{EDEFA936-E0E3-441E-99A2-C4A44554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1333500"/>
            <a:ext cx="4861568" cy="751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43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Takeaway</a:t>
            </a:r>
          </a:p>
        </p:txBody>
      </p:sp>
      <p:sp>
        <p:nvSpPr>
          <p:cNvPr id="660" name="An AI agent is an intelligent, living-like entity that acts on the world from your prompt.">
            <a:extLst xmlns:a="http://schemas.openxmlformats.org/drawingml/2006/main">
              <a:ext uri="{FF2B5EF4-FFF2-40B4-BE49-F238E27FC236}">
                <a16:creationId xmlns:a16="http://schemas.microsoft.com/office/drawing/2014/main" id="{9D59B4AA-7538-46AD-A078-629326C9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2381250"/>
            <a:ext cx="6957063" cy="828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An AI agent is an intelligent, living-like entity that acts on the world from your prompt.</a:t>
            </a:r>
          </a:p>
        </p:txBody>
      </p:sp>
      <p:sp>
        <p:nvSpPr>
          <p:cNvPr id="661" name="The value is practical: save time, move work across apps, and keep people in control of the final call.">
            <a:extLst xmlns:a="http://schemas.openxmlformats.org/drawingml/2006/main">
              <a:ext uri="{FF2B5EF4-FFF2-40B4-BE49-F238E27FC236}">
                <a16:creationId xmlns:a16="http://schemas.microsoft.com/office/drawing/2014/main" id="{FFEE6D4F-F481-4BED-B446-F2FBE642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181350"/>
            <a:ext cx="7147563" cy="6756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9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The value is practical: save time, move work across apps, and keep people in control of the final call.</a:t>
            </a:r>
          </a:p>
        </p:txBody>
      </p:sp>
      <p:sp>
        <p:nvSpPr>
          <p:cNvPr id="662" name="Rectangle">
            <a:extLst xmlns:a="http://schemas.openxmlformats.org/drawingml/2006/main">
              <a:ext uri="{FF2B5EF4-FFF2-40B4-BE49-F238E27FC236}">
                <a16:creationId xmlns:a16="http://schemas.microsoft.com/office/drawing/2014/main" id="{AF4A560D-4F9E-4109-9C72-3B6C0428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81100"/>
            <a:ext cx="3143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3" name="Use agents where the work is clear, repeated, and reviewable.">
            <a:extLst xmlns:a="http://schemas.openxmlformats.org/drawingml/2006/main">
              <a:ext uri="{FF2B5EF4-FFF2-40B4-BE49-F238E27FC236}">
                <a16:creationId xmlns:a16="http://schemas.microsoft.com/office/drawing/2014/main" id="{9FDA83CF-626E-4773-858B-B350EE74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68" y="1619250"/>
            <a:ext cx="2366014" cy="17424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22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Use agents where the work is clear, repeated, and reviewable.</a:t>
            </a:r>
          </a:p>
        </p:txBody>
      </p:sp>
      <p:sp>
        <p:nvSpPr>
          <p:cNvPr id="664" name="Daniel Chen…">
            <a:extLst xmlns:a="http://schemas.openxmlformats.org/drawingml/2006/main">
              <a:ext uri="{FF2B5EF4-FFF2-40B4-BE49-F238E27FC236}">
                <a16:creationId xmlns:a16="http://schemas.microsoft.com/office/drawing/2014/main" id="{F584E27A-6B80-4C6C-8E37-3CDE92A9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68" y="3943351"/>
            <a:ext cx="2366014" cy="497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>
                <a:solidFill>
                  <a:srgbClr val="DADADA"/>
                </a:solidFill>
              </a:defRPr>
            </a:pPr>
            <a:r>
              <a:t>Daniel Chen</a:t>
            </a:r>
          </a:p>
          <a:p xmlns:a="http://schemas.openxmlformats.org/drawingml/2006/main">
            <a:pPr>
              <a:buNone/>
              <a:defRPr sz="1300">
                <a:solidFill>
                  <a:srgbClr val="DADADA"/>
                </a:solidFill>
              </a:defRPr>
            </a:pPr>
            <a:r>
              <a:t>Chief Scientist, Fabricate</a:t>
            </a:r>
          </a:p>
        </p:txBody>
      </p:sp>
      <p:sp>
        <p:nvSpPr>
          <p:cNvPr id="665" name="24">
            <a:extLst xmlns:a="http://schemas.openxmlformats.org/drawingml/2006/main">
              <a:ext uri="{FF2B5EF4-FFF2-40B4-BE49-F238E27FC236}">
                <a16:creationId xmlns:a16="http://schemas.microsoft.com/office/drawing/2014/main" id="{929D3CB9-0D19-4D90-ADD8-5D36AE8D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02980216"/>
      </p:ext>
    </p:extLst>
  </p:cSld>
</p:sld>
</file>

<file path=ppt/slides/slide2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Rectangle">
            <a:extLst xmlns:a="http://schemas.openxmlformats.org/drawingml/2006/main">
              <a:ext uri="{FF2B5EF4-FFF2-40B4-BE49-F238E27FC236}">
                <a16:creationId xmlns:a16="http://schemas.microsoft.com/office/drawing/2014/main" id="{36F34C18-FD98-492E-AF75-70268C79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8" name="Infographic: what agents add">
            <a:extLst xmlns:a="http://schemas.openxmlformats.org/drawingml/2006/main">
              <a:ext uri="{FF2B5EF4-FFF2-40B4-BE49-F238E27FC236}">
                <a16:creationId xmlns:a16="http://schemas.microsoft.com/office/drawing/2014/main" id="{B2106392-AB84-485F-B85A-DD00537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342900"/>
            <a:ext cx="8290560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Infographic: what agents add</a:t>
            </a:r>
          </a:p>
        </p:txBody>
      </p:sp>
      <p:sp>
        <p:nvSpPr>
          <p:cNvPr id="669" name="A simple way to explain the jump from answering to acting.">
            <a:extLst xmlns:a="http://schemas.openxmlformats.org/drawingml/2006/main">
              <a:ext uri="{FF2B5EF4-FFF2-40B4-BE49-F238E27FC236}">
                <a16:creationId xmlns:a16="http://schemas.microsoft.com/office/drawing/2014/main" id="{C17CF818-CF7F-435D-9420-CA527BF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1171575"/>
            <a:ext cx="8671561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 simple way to explain the jump from answering to acting.</a:t>
            </a:r>
          </a:p>
        </p:txBody>
      </p:sp>
      <p:sp>
        <p:nvSpPr>
          <p:cNvPr id="670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153BAC0C-67C6-4CB6-9B75-C4D2B441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671" name="25">
            <a:extLst xmlns:a="http://schemas.openxmlformats.org/drawingml/2006/main">
              <a:ext uri="{FF2B5EF4-FFF2-40B4-BE49-F238E27FC236}">
                <a16:creationId xmlns:a16="http://schemas.microsoft.com/office/drawing/2014/main" id="{B8F9A6E9-D26E-477C-BE69-861C769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5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25</a:t>
            </a:r>
          </a:p>
        </p:txBody>
      </p:sp>
      <p:pic>
        <p:nvPicPr>
          <p:cNvPr id="691" name="image17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9257ccdf44f2c"/>
          <a:srcRect xmlns:a="http://schemas.openxmlformats.org/drawingml/2006/main" l="0" t="7412" r="0" b="74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847846"/>
            <a:ext cx="6572250" cy="356235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73" name="Rectangle">
            <a:extLst xmlns:a="http://schemas.openxmlformats.org/drawingml/2006/main">
              <a:ext uri="{FF2B5EF4-FFF2-40B4-BE49-F238E27FC236}">
                <a16:creationId xmlns:a16="http://schemas.microsoft.com/office/drawing/2014/main" id="{584CD5CD-CEFA-419A-9195-FA2763CF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4" name="Plan">
            <a:extLst xmlns:a="http://schemas.openxmlformats.org/drawingml/2006/main">
              <a:ext uri="{FF2B5EF4-FFF2-40B4-BE49-F238E27FC236}">
                <a16:creationId xmlns:a16="http://schemas.microsoft.com/office/drawing/2014/main" id="{3AAF5035-76A5-41D0-ABBA-48D01E24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2228850"/>
            <a:ext cx="2194565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Plan</a:t>
            </a:r>
          </a:p>
        </p:txBody>
      </p:sp>
      <p:sp>
        <p:nvSpPr>
          <p:cNvPr id="675" name="Breaks the request into steps.">
            <a:extLst xmlns:a="http://schemas.openxmlformats.org/drawingml/2006/main">
              <a:ext uri="{FF2B5EF4-FFF2-40B4-BE49-F238E27FC236}">
                <a16:creationId xmlns:a16="http://schemas.microsoft.com/office/drawing/2014/main" id="{994BB2D7-4810-439D-9FEE-4994219C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2552700"/>
            <a:ext cx="2289815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Breaks the request into steps.</a:t>
            </a:r>
          </a:p>
        </p:txBody>
      </p:sp>
      <p:sp>
        <p:nvSpPr>
          <p:cNvPr id="676" name="Rectangle">
            <a:extLst xmlns:a="http://schemas.openxmlformats.org/drawingml/2006/main">
              <a:ext uri="{FF2B5EF4-FFF2-40B4-BE49-F238E27FC236}">
                <a16:creationId xmlns:a16="http://schemas.microsoft.com/office/drawing/2014/main" id="{C338568F-2EA2-4B7A-8464-5DF13320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242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7" name="Act">
            <a:extLst xmlns:a="http://schemas.openxmlformats.org/drawingml/2006/main">
              <a:ext uri="{FF2B5EF4-FFF2-40B4-BE49-F238E27FC236}">
                <a16:creationId xmlns:a16="http://schemas.microsoft.com/office/drawing/2014/main" id="{0E69D04C-D126-4C9D-A4A8-A1F53930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3295651"/>
            <a:ext cx="2194565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Act</a:t>
            </a:r>
          </a:p>
        </p:txBody>
      </p:sp>
      <p:sp>
        <p:nvSpPr>
          <p:cNvPr id="678" name="Uses apps or services.">
            <a:extLst xmlns:a="http://schemas.openxmlformats.org/drawingml/2006/main">
              <a:ext uri="{FF2B5EF4-FFF2-40B4-BE49-F238E27FC236}">
                <a16:creationId xmlns:a16="http://schemas.microsoft.com/office/drawing/2014/main" id="{F103E036-822F-4117-BB68-5F5FFA31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3619501"/>
            <a:ext cx="2289815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Uses apps or services.</a:t>
            </a:r>
          </a:p>
        </p:txBody>
      </p:sp>
      <p:sp>
        <p:nvSpPr>
          <p:cNvPr id="679" name="Rectangle">
            <a:extLst xmlns:a="http://schemas.openxmlformats.org/drawingml/2006/main">
              <a:ext uri="{FF2B5EF4-FFF2-40B4-BE49-F238E27FC236}">
                <a16:creationId xmlns:a16="http://schemas.microsoft.com/office/drawing/2014/main" id="{EF7436BD-620E-4003-930F-9357EE7E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10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0" name="Report">
            <a:extLst xmlns:a="http://schemas.openxmlformats.org/drawingml/2006/main">
              <a:ext uri="{FF2B5EF4-FFF2-40B4-BE49-F238E27FC236}">
                <a16:creationId xmlns:a16="http://schemas.microsoft.com/office/drawing/2014/main" id="{4284A6F2-1B92-4F5E-8C26-4415750C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4362451"/>
            <a:ext cx="2194565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Report</a:t>
            </a:r>
          </a:p>
        </p:txBody>
      </p:sp>
      <p:sp>
        <p:nvSpPr>
          <p:cNvPr id="681" name="Returns what changed.">
            <a:extLst xmlns:a="http://schemas.openxmlformats.org/drawingml/2006/main">
              <a:ext uri="{FF2B5EF4-FFF2-40B4-BE49-F238E27FC236}">
                <a16:creationId xmlns:a16="http://schemas.microsoft.com/office/drawing/2014/main" id="{16EEC553-9ADA-4076-A294-3D7C92A0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4686301"/>
            <a:ext cx="2289815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Returns what changed.</a:t>
            </a:r>
          </a:p>
        </p:txBody>
      </p:sp>
      <p:sp>
        <p:nvSpPr>
          <p:cNvPr id="682" name="Rectangle">
            <a:extLst xmlns:a="http://schemas.openxmlformats.org/drawingml/2006/main">
              <a:ext uri="{FF2B5EF4-FFF2-40B4-BE49-F238E27FC236}">
                <a16:creationId xmlns:a16="http://schemas.microsoft.com/office/drawing/2014/main" id="{328D3645-9CE9-4AA7-A016-0694C810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53050"/>
            <a:ext cx="3638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3" name="Agents turn intent into visible progress.">
            <a:extLst xmlns:a="http://schemas.openxmlformats.org/drawingml/2006/main">
              <a:ext uri="{FF2B5EF4-FFF2-40B4-BE49-F238E27FC236}">
                <a16:creationId xmlns:a16="http://schemas.microsoft.com/office/drawing/2014/main" id="{65C18909-4E8B-49A7-9B0A-9ACF678A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68" y="5467351"/>
            <a:ext cx="3089915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Agents turn intent into visible progress.</a:t>
            </a:r>
          </a:p>
        </p:txBody>
      </p:sp>
      <p:sp>
        <p:nvSpPr>
          <p:cNvPr id="684" name="Source: AWS Builder Center, Agentic AI Series Part 1.">
            <a:extLst xmlns:a="http://schemas.openxmlformats.org/drawingml/2006/main">
              <a:ext uri="{FF2B5EF4-FFF2-40B4-BE49-F238E27FC236}">
                <a16:creationId xmlns:a16="http://schemas.microsoft.com/office/drawing/2014/main" id="{170E5020-8451-47F5-A68F-14528922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057901"/>
            <a:ext cx="8481061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Source: AWS Builder Center, Agentic AI Series Part 1.</a:t>
            </a:r>
          </a:p>
        </p:txBody>
      </p:sp>
    </p:spTree>
    <p:extLst>
      <p:ext uri="{BB962C8B-B14F-4D97-AF65-F5344CB8AC3E}">
        <p14:creationId xmlns:p14="http://schemas.microsoft.com/office/powerpoint/2010/main" val="2094954432"/>
      </p:ext>
    </p:extLst>
  </p:cSld>
</p:sld>
</file>

<file path=ppt/slides/slide2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6" name="Rectangle">
            <a:extLst xmlns:a="http://schemas.openxmlformats.org/drawingml/2006/main">
              <a:ext uri="{FF2B5EF4-FFF2-40B4-BE49-F238E27FC236}">
                <a16:creationId xmlns:a16="http://schemas.microsoft.com/office/drawing/2014/main" id="{DE659EED-53BD-4EA3-AB9D-68D61FAE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7" name="Infographic: the agent loop">
            <a:extLst xmlns:a="http://schemas.openxmlformats.org/drawingml/2006/main">
              <a:ext uri="{FF2B5EF4-FFF2-40B4-BE49-F238E27FC236}">
                <a16:creationId xmlns:a16="http://schemas.microsoft.com/office/drawing/2014/main" id="{5C28891F-0370-4099-BB46-3D9CA16B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342900"/>
            <a:ext cx="8290560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Infographic: the agent loop</a:t>
            </a:r>
          </a:p>
        </p:txBody>
      </p:sp>
      <p:sp>
        <p:nvSpPr>
          <p:cNvPr id="688" name="Agents keep working through a cycle until the task is done or needs review.">
            <a:extLst xmlns:a="http://schemas.openxmlformats.org/drawingml/2006/main">
              <a:ext uri="{FF2B5EF4-FFF2-40B4-BE49-F238E27FC236}">
                <a16:creationId xmlns:a16="http://schemas.microsoft.com/office/drawing/2014/main" id="{FE60C022-3A9D-431F-B46E-6B17F50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1171575"/>
            <a:ext cx="8671561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Agents keep working through a cycle until the task is done or needs review.</a:t>
            </a:r>
          </a:p>
        </p:txBody>
      </p:sp>
      <p:sp>
        <p:nvSpPr>
          <p:cNvPr id="689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2648A639-DA19-4B9D-B00A-159AA227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690" name="26">
            <a:extLst xmlns:a="http://schemas.openxmlformats.org/drawingml/2006/main">
              <a:ext uri="{FF2B5EF4-FFF2-40B4-BE49-F238E27FC236}">
                <a16:creationId xmlns:a16="http://schemas.microsoft.com/office/drawing/2014/main" id="{048BC59A-0CC0-4C54-818A-FF95AE4E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5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26</a:t>
            </a:r>
          </a:p>
        </p:txBody>
      </p:sp>
      <p:pic>
        <p:nvPicPr>
          <p:cNvPr id="708" name="image18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92d2c9dcc40b5"/>
          <a:srcRect xmlns:a="http://schemas.openxmlformats.org/drawingml/2006/main" l="5769" t="0" r="57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90700"/>
            <a:ext cx="6572250" cy="37147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92" name="Rectangle">
            <a:extLst xmlns:a="http://schemas.openxmlformats.org/drawingml/2006/main">
              <a:ext uri="{FF2B5EF4-FFF2-40B4-BE49-F238E27FC236}">
                <a16:creationId xmlns:a16="http://schemas.microsoft.com/office/drawing/2014/main" id="{32972AC7-6540-4A15-817F-96CEE121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3" name="Goal">
            <a:extLst xmlns:a="http://schemas.openxmlformats.org/drawingml/2006/main">
              <a:ext uri="{FF2B5EF4-FFF2-40B4-BE49-F238E27FC236}">
                <a16:creationId xmlns:a16="http://schemas.microsoft.com/office/drawing/2014/main" id="{B6C4814B-DAD5-47E5-837E-0B7BD203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2247900"/>
            <a:ext cx="2194565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4967D8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Goal</a:t>
            </a:r>
          </a:p>
        </p:txBody>
      </p:sp>
      <p:sp>
        <p:nvSpPr>
          <p:cNvPr id="694" name="What should happen?">
            <a:extLst xmlns:a="http://schemas.openxmlformats.org/drawingml/2006/main">
              <a:ext uri="{FF2B5EF4-FFF2-40B4-BE49-F238E27FC236}">
                <a16:creationId xmlns:a16="http://schemas.microsoft.com/office/drawing/2014/main" id="{A326D830-083B-4AFB-8778-A3FFC3A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2590800"/>
            <a:ext cx="2289815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should happen?</a:t>
            </a:r>
          </a:p>
        </p:txBody>
      </p:sp>
      <p:sp>
        <p:nvSpPr>
          <p:cNvPr id="695" name="Rectangle">
            <a:extLst xmlns:a="http://schemas.openxmlformats.org/drawingml/2006/main">
              <a:ext uri="{FF2B5EF4-FFF2-40B4-BE49-F238E27FC236}">
                <a16:creationId xmlns:a16="http://schemas.microsoft.com/office/drawing/2014/main" id="{37A71C16-8C95-418F-86CE-A7DE7CCE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6" name="Action">
            <a:extLst xmlns:a="http://schemas.openxmlformats.org/drawingml/2006/main">
              <a:ext uri="{FF2B5EF4-FFF2-40B4-BE49-F238E27FC236}">
                <a16:creationId xmlns:a16="http://schemas.microsoft.com/office/drawing/2014/main" id="{666C0073-B54B-4176-86D7-543A1072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3448051"/>
            <a:ext cx="2194565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167A5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Action</a:t>
            </a:r>
          </a:p>
        </p:txBody>
      </p:sp>
      <p:sp>
        <p:nvSpPr>
          <p:cNvPr id="697" name="Use a tool or app.">
            <a:extLst xmlns:a="http://schemas.openxmlformats.org/drawingml/2006/main">
              <a:ext uri="{FF2B5EF4-FFF2-40B4-BE49-F238E27FC236}">
                <a16:creationId xmlns:a16="http://schemas.microsoft.com/office/drawing/2014/main" id="{CA5B22CE-D060-424A-BB0C-698A35B9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3790951"/>
            <a:ext cx="2289815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Use a tool or app.</a:t>
            </a:r>
          </a:p>
        </p:txBody>
      </p:sp>
      <p:sp>
        <p:nvSpPr>
          <p:cNvPr id="698" name="Rectangle">
            <a:extLst xmlns:a="http://schemas.openxmlformats.org/drawingml/2006/main">
              <a:ext uri="{FF2B5EF4-FFF2-40B4-BE49-F238E27FC236}">
                <a16:creationId xmlns:a16="http://schemas.microsoft.com/office/drawing/2014/main" id="{8B6EBCE2-9EEE-486D-B2AB-7E7FF655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386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>
            <a:solidFill>
              <a:srgbClr val="D8D8D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9" name="Review">
            <a:extLst xmlns:a="http://schemas.openxmlformats.org/drawingml/2006/main">
              <a:ext uri="{FF2B5EF4-FFF2-40B4-BE49-F238E27FC236}">
                <a16:creationId xmlns:a16="http://schemas.microsoft.com/office/drawing/2014/main" id="{C2820C87-0EEC-46E1-80B6-A39EEA82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4648201"/>
            <a:ext cx="2194565" cy="370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FF6B3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Review</a:t>
            </a:r>
          </a:p>
        </p:txBody>
      </p:sp>
      <p:sp>
        <p:nvSpPr>
          <p:cNvPr id="700" name="Check the result.">
            <a:extLst xmlns:a="http://schemas.openxmlformats.org/drawingml/2006/main">
              <a:ext uri="{FF2B5EF4-FFF2-40B4-BE49-F238E27FC236}">
                <a16:creationId xmlns:a16="http://schemas.microsoft.com/office/drawing/2014/main" id="{8FBDEE65-BC30-4797-8F25-215A83AA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68" y="4991101"/>
            <a:ext cx="2289815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Check the result.</a:t>
            </a:r>
          </a:p>
        </p:txBody>
      </p:sp>
      <p:sp>
        <p:nvSpPr>
          <p:cNvPr id="701" name="Source: Arc XP, Exploring AI Agents.">
            <a:extLst xmlns:a="http://schemas.openxmlformats.org/drawingml/2006/main">
              <a:ext uri="{FF2B5EF4-FFF2-40B4-BE49-F238E27FC236}">
                <a16:creationId xmlns:a16="http://schemas.microsoft.com/office/drawing/2014/main" id="{C297252C-5507-45FD-80BD-9541BEFF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9" y="6057901"/>
            <a:ext cx="8481061" cy="193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700">
                <a:solidFill>
                  <a:srgbClr val="77777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Source: Arc XP, Exploring AI Agents.</a:t>
            </a:r>
          </a:p>
        </p:txBody>
      </p:sp>
    </p:spTree>
    <p:extLst>
      <p:ext uri="{BB962C8B-B14F-4D97-AF65-F5344CB8AC3E}">
        <p14:creationId xmlns:p14="http://schemas.microsoft.com/office/powerpoint/2010/main" val="807307642"/>
      </p:ext>
    </p:extLst>
  </p:cSld>
</p:sld>
</file>

<file path=ppt/slides/slide2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Sources">
            <a:extLst xmlns:a="http://schemas.openxmlformats.org/drawingml/2006/main">
              <a:ext uri="{FF2B5EF4-FFF2-40B4-BE49-F238E27FC236}">
                <a16:creationId xmlns:a16="http://schemas.microsoft.com/office/drawing/2014/main" id="{A5D50DE9-2786-4C23-916B-43FCA42C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342900"/>
            <a:ext cx="7909563" cy="6121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3400" b="1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Sources</a:t>
            </a:r>
          </a:p>
        </p:txBody>
      </p:sp>
      <p:sp>
        <p:nvSpPr>
          <p:cNvPr id="704" name="Public screenshots and references used for this deck.">
            <a:extLst xmlns:a="http://schemas.openxmlformats.org/drawingml/2006/main">
              <a:ext uri="{FF2B5EF4-FFF2-40B4-BE49-F238E27FC236}">
                <a16:creationId xmlns:a16="http://schemas.microsoft.com/office/drawing/2014/main" id="{4D6BA76D-FC4A-4C8D-884B-927C13FD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8" y="1171575"/>
            <a:ext cx="7814313" cy="3200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5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Public screenshots and references used for this deck.</a:t>
            </a:r>
          </a:p>
        </p:txBody>
      </p:sp>
      <p:sp>
        <p:nvSpPr>
          <p:cNvPr id="705" name="Using AI Agents">
            <a:extLst xmlns:a="http://schemas.openxmlformats.org/drawingml/2006/main">
              <a:ext uri="{FF2B5EF4-FFF2-40B4-BE49-F238E27FC236}">
                <a16:creationId xmlns:a16="http://schemas.microsoft.com/office/drawing/2014/main" id="{957128A5-4FB0-44AE-8995-B62A9D70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6" y="6343651"/>
            <a:ext cx="3909068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Using AI Agents</a:t>
            </a:r>
          </a:p>
        </p:txBody>
      </p:sp>
      <p:sp>
        <p:nvSpPr>
          <p:cNvPr id="706" name="25">
            <a:extLst xmlns:a="http://schemas.openxmlformats.org/drawingml/2006/main">
              <a:ext uri="{FF2B5EF4-FFF2-40B4-BE49-F238E27FC236}">
                <a16:creationId xmlns:a16="http://schemas.microsoft.com/office/drawing/2014/main" id="{A35A9A06-3280-4749-83DE-E3D5CE6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7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25</a:t>
            </a:r>
          </a:p>
        </p:txBody>
      </p:sp>
      <p:sp>
        <p:nvSpPr>
          <p:cNvPr id="707" name="Square">
            <a:extLst xmlns:a="http://schemas.openxmlformats.org/drawingml/2006/main">
              <a:ext uri="{FF2B5EF4-FFF2-40B4-BE49-F238E27FC236}">
                <a16:creationId xmlns:a16="http://schemas.microsoft.com/office/drawing/2014/main" id="{45DE06DF-1670-430C-AC6C-53031A17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8" name="danielchen0.github.io; chinesearena.com; anything.com/app; fabricate.to/sku/meeting-recorder">
            <a:extLst xmlns:a="http://schemas.openxmlformats.org/drawingml/2006/main">
              <a:ext uri="{FF2B5EF4-FFF2-40B4-BE49-F238E27FC236}">
                <a16:creationId xmlns:a16="http://schemas.microsoft.com/office/drawing/2014/main" id="{6F358FFB-C75A-43A4-9309-58AFD0BC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" y="1924050"/>
            <a:ext cx="95859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danielchen0.github.io; chinesearena.com; anything.com/app; fabricate.to/sku/meeting-recorder</a:t>
            </a:r>
          </a:p>
        </p:txBody>
      </p:sp>
      <p:sp>
        <p:nvSpPr>
          <p:cNvPr id="709" name="Square">
            <a:extLst xmlns:a="http://schemas.openxmlformats.org/drawingml/2006/main">
              <a:ext uri="{FF2B5EF4-FFF2-40B4-BE49-F238E27FC236}">
                <a16:creationId xmlns:a16="http://schemas.microsoft.com/office/drawing/2014/main" id="{0E4595D0-9D3F-4A1E-8792-39531514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Anthropic Claude Code product page and Claude Code docs">
            <a:extLst xmlns:a="http://schemas.openxmlformats.org/drawingml/2006/main">
              <a:ext uri="{FF2B5EF4-FFF2-40B4-BE49-F238E27FC236}">
                <a16:creationId xmlns:a16="http://schemas.microsoft.com/office/drawing/2014/main" id="{CD74718E-A0F9-45DC-80BC-140CE1C2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" y="2305050"/>
            <a:ext cx="95859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Anthropic Claude Code product page and Claude Code docs</a:t>
            </a:r>
          </a:p>
        </p:txBody>
      </p:sp>
      <p:sp>
        <p:nvSpPr>
          <p:cNvPr id="711" name="Square">
            <a:extLst xmlns:a="http://schemas.openxmlformats.org/drawingml/2006/main">
              <a:ext uri="{FF2B5EF4-FFF2-40B4-BE49-F238E27FC236}">
                <a16:creationId xmlns:a16="http://schemas.microsoft.com/office/drawing/2014/main" id="{F3EEEBC9-25B7-4A7D-9369-1FBDFF21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2" name="OpenAI Codex product pages and developer site">
            <a:extLst xmlns:a="http://schemas.openxmlformats.org/drawingml/2006/main">
              <a:ext uri="{FF2B5EF4-FFF2-40B4-BE49-F238E27FC236}">
                <a16:creationId xmlns:a16="http://schemas.microsoft.com/office/drawing/2014/main" id="{ABA666FA-C121-4EC3-B6C5-1441BD3A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" y="2686050"/>
            <a:ext cx="95859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OpenAI Codex product pages and developer site</a:t>
            </a:r>
          </a:p>
        </p:txBody>
      </p:sp>
      <p:sp>
        <p:nvSpPr>
          <p:cNvPr id="713" name="Square">
            <a:extLst xmlns:a="http://schemas.openxmlformats.org/drawingml/2006/main">
              <a:ext uri="{FF2B5EF4-FFF2-40B4-BE49-F238E27FC236}">
                <a16:creationId xmlns:a16="http://schemas.microsoft.com/office/drawing/2014/main" id="{FA2AF44D-44DB-49FB-9BA6-1C026868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OpenAI: Codex-built product and Codex workflow posts">
            <a:extLst xmlns:a="http://schemas.openxmlformats.org/drawingml/2006/main">
              <a:ext uri="{FF2B5EF4-FFF2-40B4-BE49-F238E27FC236}">
                <a16:creationId xmlns:a16="http://schemas.microsoft.com/office/drawing/2014/main" id="{432FE6F0-CDD9-47D1-B7B7-D8851F5E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" y="3067050"/>
            <a:ext cx="95859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OpenAI: Codex-built product and Codex workflow posts</a:t>
            </a:r>
          </a:p>
        </p:txBody>
      </p:sp>
      <p:sp>
        <p:nvSpPr>
          <p:cNvPr id="715" name="Square">
            <a:extLst xmlns:a="http://schemas.openxmlformats.org/drawingml/2006/main">
              <a:ext uri="{FF2B5EF4-FFF2-40B4-BE49-F238E27FC236}">
                <a16:creationId xmlns:a16="http://schemas.microsoft.com/office/drawing/2014/main" id="{D6BF36FC-71D8-4151-AAA6-C0FEA2AF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6" name="Anthropic: Claude Tag; How Anthropic teams use Claude Code">
            <a:extLst xmlns:a="http://schemas.openxmlformats.org/drawingml/2006/main">
              <a:ext uri="{FF2B5EF4-FFF2-40B4-BE49-F238E27FC236}">
                <a16:creationId xmlns:a16="http://schemas.microsoft.com/office/drawing/2014/main" id="{C7041AA2-D409-40F3-B222-DE83D59F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" y="3448051"/>
            <a:ext cx="95859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Anthropic: Claude Tag; How Anthropic teams use Claude Code</a:t>
            </a:r>
          </a:p>
        </p:txBody>
      </p:sp>
      <p:sp>
        <p:nvSpPr>
          <p:cNvPr id="717" name="Square">
            <a:extLst xmlns:a="http://schemas.openxmlformats.org/drawingml/2006/main">
              <a:ext uri="{FF2B5EF4-FFF2-40B4-BE49-F238E27FC236}">
                <a16:creationId xmlns:a16="http://schemas.microsoft.com/office/drawing/2014/main" id="{4A3B98E8-E996-4F0F-85B0-8F792552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SWE-bench official benchmark; attached RefactorBench-JS paper screenshot">
            <a:extLst xmlns:a="http://schemas.openxmlformats.org/drawingml/2006/main">
              <a:ext uri="{FF2B5EF4-FFF2-40B4-BE49-F238E27FC236}">
                <a16:creationId xmlns:a16="http://schemas.microsoft.com/office/drawing/2014/main" id="{01A6DAFE-AC1B-49E5-86D7-C92A6994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" y="3829051"/>
            <a:ext cx="95859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SWE-bench official benchmark; attached RefactorBench-JS paper screenshot</a:t>
            </a:r>
          </a:p>
        </p:txBody>
      </p:sp>
      <p:sp>
        <p:nvSpPr>
          <p:cNvPr id="719" name="Square">
            <a:extLst xmlns:a="http://schemas.openxmlformats.org/drawingml/2006/main">
              <a:ext uri="{FF2B5EF4-FFF2-40B4-BE49-F238E27FC236}">
                <a16:creationId xmlns:a16="http://schemas.microsoft.com/office/drawing/2014/main" id="{04331B8D-8B6A-421C-B0A5-33D244AF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0" name="AWS Builder Center: Agentic AI Series Part 1">
            <a:extLst xmlns:a="http://schemas.openxmlformats.org/drawingml/2006/main">
              <a:ext uri="{FF2B5EF4-FFF2-40B4-BE49-F238E27FC236}">
                <a16:creationId xmlns:a16="http://schemas.microsoft.com/office/drawing/2014/main" id="{2449D94D-EF14-44F4-A302-591626C8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" y="4210051"/>
            <a:ext cx="95859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AWS Builder Center: Agentic AI Series Part 1</a:t>
            </a:r>
          </a:p>
        </p:txBody>
      </p:sp>
      <p:sp>
        <p:nvSpPr>
          <p:cNvPr id="721" name="Square">
            <a:extLst xmlns:a="http://schemas.openxmlformats.org/drawingml/2006/main">
              <a:ext uri="{FF2B5EF4-FFF2-40B4-BE49-F238E27FC236}">
                <a16:creationId xmlns:a16="http://schemas.microsoft.com/office/drawing/2014/main" id="{F0F4C449-9AF1-4932-BC42-C40A58F7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Stanford 2026 AI Index; Vectara hallucination leaderboard; OpenAI hallucinations article">
            <a:extLst xmlns:a="http://schemas.openxmlformats.org/drawingml/2006/main">
              <a:ext uri="{FF2B5EF4-FFF2-40B4-BE49-F238E27FC236}">
                <a16:creationId xmlns:a16="http://schemas.microsoft.com/office/drawing/2014/main" id="{B7DC3E0B-0F09-4C92-B6D5-6F77FA02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" y="4591051"/>
            <a:ext cx="95859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Stanford 2026 AI Index; Vectara hallucination leaderboard; OpenAI hallucinations article</a:t>
            </a:r>
          </a:p>
        </p:txBody>
      </p:sp>
      <p:sp>
        <p:nvSpPr>
          <p:cNvPr id="723" name="Square">
            <a:extLst xmlns:a="http://schemas.openxmlformats.org/drawingml/2006/main">
              <a:ext uri="{FF2B5EF4-FFF2-40B4-BE49-F238E27FC236}">
                <a16:creationId xmlns:a16="http://schemas.microsoft.com/office/drawing/2014/main" id="{25430428-7DFA-4FE7-8065-AD806188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57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4" name="Arc XP: Exploring AI Agents">
            <a:extLst xmlns:a="http://schemas.openxmlformats.org/drawingml/2006/main">
              <a:ext uri="{FF2B5EF4-FFF2-40B4-BE49-F238E27FC236}">
                <a16:creationId xmlns:a16="http://schemas.microsoft.com/office/drawing/2014/main" id="{55130B4C-92D8-4D28-9153-B89AFF0C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" y="4972051"/>
            <a:ext cx="95859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Arc XP: Exploring AI Agents</a:t>
            </a:r>
          </a:p>
        </p:txBody>
      </p:sp>
      <p:sp>
        <p:nvSpPr>
          <p:cNvPr id="725" name="Square">
            <a:extLst xmlns:a="http://schemas.openxmlformats.org/drawingml/2006/main">
              <a:ext uri="{FF2B5EF4-FFF2-40B4-BE49-F238E27FC236}">
                <a16:creationId xmlns:a16="http://schemas.microsoft.com/office/drawing/2014/main" id="{92CDD216-8023-42D2-ADC9-D28103EF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38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ClawdBot; OpenClaw">
            <a:extLst xmlns:a="http://schemas.openxmlformats.org/drawingml/2006/main">
              <a:ext uri="{FF2B5EF4-FFF2-40B4-BE49-F238E27FC236}">
                <a16:creationId xmlns:a16="http://schemas.microsoft.com/office/drawing/2014/main" id="{B27E7FE3-B844-4B5C-BD35-662499C0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" y="5353051"/>
            <a:ext cx="95859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ClawdBot; OpenClaw</a:t>
            </a:r>
          </a:p>
        </p:txBody>
      </p:sp>
      <p:sp>
        <p:nvSpPr>
          <p:cNvPr id="727" name="Square">
            <a:extLst xmlns:a="http://schemas.openxmlformats.org/drawingml/2006/main">
              <a:ext uri="{FF2B5EF4-FFF2-40B4-BE49-F238E27FC236}">
                <a16:creationId xmlns:a16="http://schemas.microsoft.com/office/drawing/2014/main" id="{00841F4E-7A5F-4C86-BFF6-40C5C1D1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9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8" name="Slack Marketplace; Microsoft 365 Copilot support; Intercom Fin">
            <a:extLst xmlns:a="http://schemas.openxmlformats.org/drawingml/2006/main">
              <a:ext uri="{FF2B5EF4-FFF2-40B4-BE49-F238E27FC236}">
                <a16:creationId xmlns:a16="http://schemas.microsoft.com/office/drawing/2014/main" id="{B00A66F8-0EE4-4E88-B653-2094CD79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" y="5734051"/>
            <a:ext cx="9585970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0D0D0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Slack Marketplace; Microsoft 365 Copilot support; Intercom Fin</a:t>
            </a:r>
          </a:p>
        </p:txBody>
      </p:sp>
      <p:sp>
        <p:nvSpPr>
          <p:cNvPr id="729" name="Rectangle">
            <a:extLst xmlns:a="http://schemas.openxmlformats.org/drawingml/2006/main">
              <a:ext uri="{FF2B5EF4-FFF2-40B4-BE49-F238E27FC236}">
                <a16:creationId xmlns:a16="http://schemas.microsoft.com/office/drawing/2014/main" id="{029F1B99-7AAD-4DA3-91CC-B94024D8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27">
            <a:extLst xmlns:a="http://schemas.openxmlformats.org/drawingml/2006/main">
              <a:ext uri="{FF2B5EF4-FFF2-40B4-BE49-F238E27FC236}">
                <a16:creationId xmlns:a16="http://schemas.microsoft.com/office/drawing/2014/main" id="{02AADE72-EE3B-4BB6-A664-6D06791A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1418" y="6343651"/>
            <a:ext cx="384815" cy="2438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rgbClr val="555555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28053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2026-07-04T02:56:27.0660000Z</dcterms:created>
  <dcterms:modified xsi:type="dcterms:W3CDTF">2026-07-04T02:56:27.0660000Z</dcterms:modified>
</coreProperties>
</file>